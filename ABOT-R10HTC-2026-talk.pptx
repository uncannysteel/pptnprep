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E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238" autoAdjust="0"/>
  </p:normalViewPr>
  <p:slideViewPr>
    <p:cSldViewPr snapToGrid="0" snapToObjects="1">
      <p:cViewPr varScale="1">
        <p:scale>
          <a:sx n="72" d="100"/>
          <a:sy n="72"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375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your co-author, Azzah Mallick, Amity University.]</a:t>
            </a:r>
          </a:p>
          <a:p>
            <a:endParaRPr lang="en-US" dirty="0"/>
          </a:p>
          <a:p>
            <a:r>
              <a:rPr lang="en-US" dirty="0"/>
              <a:t>Title: ABOT, a decentralized LoRa mesh communication framework for post-disaster environments.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one line] I'll cover why this matters, the problem we set out to answer, how we built ABOT, what we found, and what comes next.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like to begin with something that connects the place we're meeting today with where I'm coming from.</a:t>
            </a:r>
          </a:p>
          <a:p>
            <a:endParaRPr lang="en-US" dirty="0"/>
          </a:p>
          <a:p>
            <a:r>
              <a:rPr lang="en-US" dirty="0"/>
              <a:t>Just last month, Bangkok experienced severe flooding, even back in India, Kashmir saw 48 forest fires in winters, a season when forests are normally damp.</a:t>
            </a:r>
          </a:p>
          <a:p>
            <a:endParaRPr lang="en-US" dirty="0"/>
          </a:p>
          <a:p>
            <a:r>
              <a:rPr lang="en-US" dirty="0"/>
              <a:t>These are different situations, but they bring us to a common concern: the challenges that environmental extremes pose to the systems we depend on. And the scale of these challenges is significant.</a:t>
            </a:r>
          </a:p>
          <a:p>
            <a:endParaRPr lang="en-US" dirty="0"/>
          </a:p>
          <a:p>
            <a:r>
              <a:rPr lang="en-US" dirty="0"/>
              <a:t>[CLICK 1] According to the World Meteorological Organization, the number of reported weather- and climate-, related disasters increased fivefold between 1970 and 2019. [CLICK 2] Yet, over the same period, the number of deaths decreased almost threefold because of better forecasting and early warnings. We have developed increasingly sophisticated ways to predict hazards, monitor environmental conditions, issue early warnings, and prepare for disasters.</a:t>
            </a:r>
          </a:p>
          <a:p>
            <a:endParaRPr lang="en-US" dirty="0"/>
          </a:p>
          <a:p>
            <a:r>
              <a:rPr lang="en-US" dirty="0"/>
              <a:t>We have become better at anticipating hazards and preparing people for them.</a:t>
            </a:r>
          </a:p>
          <a:p>
            <a:endParaRPr lang="en-US" dirty="0"/>
          </a:p>
          <a:p>
            <a:r>
              <a:rPr lang="en-US" dirty="0"/>
              <a:t>[CLICK 3] What goes unmentioned is that the reported economic losses from these disasters increased sevenfold between the 1970s and the 2010s. And when we talk about disasters, we often focus on the natural hazard itself. But the scale of the damage also depends on what happens to the infrastructure around us. Floods and earthquakes can damage roads, power lines, and communication towers. Poor planning, inadequate maintenance, and human negligence can make infrastructure even more vulnerable to failure.</a:t>
            </a:r>
          </a:p>
          <a:p>
            <a:endParaRPr lang="en-US" dirty="0"/>
          </a:p>
          <a:p>
            <a:r>
              <a:rPr lang="en-US" dirty="0"/>
              <a:t>So, while prevention, prediction, and resilient infrastructure are essential, we cannot assume that every disaster can be avoided or that every system will survive one. [CLICK 4] In other words, the hazard is only part of the problem. What matters just as much is how well our systems withstand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a question: what happens when the disaster strikes anyway?</a:t>
            </a:r>
          </a:p>
          <a:p>
            <a:endParaRPr lang="en-US" dirty="0"/>
          </a:p>
          <a:p>
            <a:r>
              <a:rPr lang="en-US" dirty="0"/>
              <a:t>[CLICK 1] When communication towers are damaged, cellular networks become unavailable, or internet connectivity is lost, survivors may be unable to call for help, and rescue teams may struggle to coordinate.</a:t>
            </a:r>
          </a:p>
          <a:p>
            <a:endParaRPr lang="en-US" dirty="0"/>
          </a:p>
          <a:p>
            <a:r>
              <a:rPr lang="en-US" dirty="0"/>
              <a:t>[CLICK 2] Preparing for disasters is one part of the challenge. Keeping communication possible after infrastructure has failed is another.</a:t>
            </a:r>
          </a:p>
          <a:p>
            <a:endParaRPr lang="en-US" dirty="0"/>
          </a:p>
          <a:p>
            <a:r>
              <a:rPr lang="en-US" dirty="0"/>
              <a:t>That is the problem that motivated our research.</a:t>
            </a:r>
          </a:p>
          <a:p>
            <a:endParaRPr lang="en-US" dirty="0"/>
          </a:p>
          <a:p>
            <a:r>
              <a:rPr lang="en-US" dirty="0"/>
              <a:t>Researchers have already explored several ways to address parts of this challenge. So, to understand where our work fits in, let's first look at the existing approaches to post-disaster communication.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technology that has received attention in this area is LoRa, or Long Range radio communication. It enables devices to exchange small amounts of data over long distances with relatively low power consumption, making it useful in situations where conventional connectivity may not be available.</a:t>
            </a:r>
          </a:p>
          <a:p>
            <a:endParaRPr lang="en-US" dirty="0"/>
          </a:p>
          <a:p>
            <a:r>
              <a:rPr lang="en-US" dirty="0"/>
              <a:t>Several existing systems have implemented this.</a:t>
            </a:r>
          </a:p>
          <a:p>
            <a:endParaRPr lang="en-US" dirty="0"/>
          </a:p>
          <a:p>
            <a:r>
              <a:rPr lang="en-US" dirty="0"/>
              <a:t>[CLICK 1] For example, Titan disaster management system which is based on low-power wide-area networks (LPWANs) LoRa. It’s an emergency command center app that helps people report danger instantly, tracks who is safe, and keeps phones connected even when the regular network crashes.</a:t>
            </a:r>
          </a:p>
          <a:p>
            <a:endParaRPr lang="en-US" dirty="0"/>
          </a:p>
          <a:p>
            <a:r>
              <a:rPr lang="en-US" dirty="0"/>
              <a:t>[CLICK 2] There are also Consumer-Grade LoRa Platforms like Meshtastic, Disaster Radio, and Project OWL that explore communication without relying on a conventional cellular network.</a:t>
            </a:r>
          </a:p>
          <a:p>
            <a:endParaRPr lang="en-US" dirty="0"/>
          </a:p>
          <a:p>
            <a:r>
              <a:rPr lang="en-US" dirty="0"/>
              <a:t>[CLICK 3] In particular, Project OWL uses portable DuckLink devices to establish communication networks in disaster-affected areas.</a:t>
            </a:r>
          </a:p>
          <a:p>
            <a:endParaRPr lang="en-US" dirty="0"/>
          </a:p>
          <a:p>
            <a:r>
              <a:rPr lang="en-US" dirty="0"/>
              <a:t>DuckLinks are custom hardware nodes (often packaged inside rugged little boxes). You can throw these "Ducks" out into an area hit by a hurricane, flood, or earthquake. Because they use LoRa, they automatically find each other and link up into a self-healing chain (called a ClusterDuck Network). If a regular person's cell phone loses service, they can still connect via Wi-Fi or Bluetooth to a nearby DuckLink. The message hops from Duck to Duck until it reaches a main gateway node.</a:t>
            </a:r>
          </a:p>
          <a:p>
            <a:endParaRPr lang="en-US" dirty="0"/>
          </a:p>
          <a:p>
            <a:r>
              <a:rPr lang="en-US" dirty="0"/>
              <a:t>[CLICK 4] Alongside these communication systems, researchers have also explored AI-based routing and power-aware routing. AI-optimized routing can improve packet delivery ratio (PDR) reduce end-to-end delay, and cut energy consumption in disaster-response mesh networks. AI (Artificial Intelligence) was tested to figure out the absolute best routes for data to travel from phone to phone. Messages got lost less often, showed up faster, and phones saved battery life. [CLICK 5] Further study on this also added that routing needs to be "power-aware", meaning it checks how much battery the next device in line has before sending data through it.</a:t>
            </a:r>
          </a:p>
          <a:p>
            <a:endParaRPr lang="en-US" dirty="0"/>
          </a:p>
          <a:p>
            <a:r>
              <a:rPr lang="en-US" dirty="0"/>
              <a:t>Together, these approaches provide an important foundation for our 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these technologies already exist, why did we propose ABOT?</a:t>
            </a:r>
          </a:p>
          <a:p>
            <a:endParaRPr lang="en-US" dirty="0"/>
          </a:p>
          <a:p>
            <a:r>
              <a:rPr lang="en-US" dirty="0"/>
              <a:t>It isn't because the existing approaches have failed. They have established important foundations for post-disaster communication. However, the need to consider how that network behaves when conditions begin to change is. That is where three recurring gaps stood out.</a:t>
            </a:r>
          </a:p>
          <a:p>
            <a:endParaRPr lang="en-US" dirty="0"/>
          </a:p>
          <a:p>
            <a:r>
              <a:rPr lang="en-US" dirty="0"/>
              <a:t>[CLICK 1] The first was concerning routing decisions. Link-quality-aware routing exists, but approaches that rely on static information or recompute routes only after a failure may not respond continuously to deteriorating link conditions. [CLICK 2] The second was simulation. Existing LoRa simulators primarily focus on protocol analysis, rather than providing the fast, agent-compatible environment needed to train and evaluate reinforcement-learning-based routing.</a:t>
            </a:r>
          </a:p>
          <a:p>
            <a:endParaRPr lang="en-US" dirty="0"/>
          </a:p>
          <a:p>
            <a:r>
              <a:rPr lang="en-US" dirty="0"/>
              <a:t>[CLICK 3] And the third was evaluation. Adaptive routing is rarely benchmarked systematically across progressively worsening levels of infrastructure damage.</a:t>
            </a:r>
          </a:p>
          <a:p>
            <a:endParaRPr lang="en-US" dirty="0"/>
          </a:p>
          <a:p>
            <a:r>
              <a:rPr lang="en-US" dirty="0"/>
              <a:t>[CLICK 4] B.A.T.M.A.N, Babel and OLSR are existing decentralised systems that pick routes by link quality. They have real hardware validations for packet loss and delay, processor and memory use, varying traffic load and mobile nodes. [CLICK 5] ABOT extends its scope by using LoRa's radio limits, various damage levels and RL interface. ABOT is aimed towards disaster management.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the central problem addressed in our paper.</a:t>
            </a:r>
          </a:p>
          <a:p>
            <a:endParaRPr lang="en-US" dirty="0"/>
          </a:p>
          <a:p>
            <a:r>
              <a:rPr lang="en-US" dirty="0"/>
              <a:t>When common communication systems fail, either entirely (complete infrastructure collapse) or partially (patchy failure), during large-scale disasters, a communication network must continue operating. LoRa radios suit this setting, but standard LoRa networks route through central gateways, which become a single point of failure. a gateway-free mesh is more practical, however, routing decisions need to account for changing network conditions, and the approaches used to make those decisions must be evaluated under realistic patterns of progressive degradation.</a:t>
            </a:r>
          </a:p>
          <a:p>
            <a:endParaRPr lang="en-US" dirty="0"/>
          </a:p>
          <a:p>
            <a:r>
              <a:rPr lang="en-US" dirty="0"/>
              <a:t>[CLICK 1] how can routing in a gateway-free LoRa mesh use continuously updated link-state information, and how do classical and reinforcement-learning-based routing approaches compare as network damage increases?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ABOT comes in. We investigate these questions entirely in simulation.</a:t>
            </a:r>
          </a:p>
          <a:p>
            <a:endParaRPr lang="en-US" dirty="0"/>
          </a:p>
          <a:p>
            <a:r>
              <a:rPr lang="en-US" dirty="0"/>
              <a:t>We develop ABOT around three objectives: a decentralized mesh in which each node acts as both a terminal and a relay, routing that uses live link-state information, and a vectorized simulation backend for evaluating routing approaches across five damage-severity presets.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investigate these questions, we propose ABOT — a decentralized LoRa-based mesh communication framework designed for post-disaster environments where conventional communication infrastructure may be unavailable or severely disrupted.</a:t>
            </a:r>
          </a:p>
          <a:p>
            <a:endParaRPr lang="en-US" dirty="0"/>
          </a:p>
          <a:p>
            <a:r>
              <a:rPr lang="en-US" dirty="0"/>
              <a:t>So, what does that actually mean?</a:t>
            </a:r>
          </a:p>
          <a:p>
            <a:endParaRPr lang="en-US" dirty="0"/>
          </a:p>
          <a:p>
            <a:r>
              <a:rPr lang="en-US" dirty="0"/>
              <a:t>Think about how our phones normally communicate. We generally depend on cellular towers or other existing network infrastructure to get our messages where they need to go.</a:t>
            </a:r>
          </a:p>
          <a:p>
            <a:endParaRPr lang="en-US" dirty="0"/>
          </a:p>
          <a:p>
            <a:r>
              <a:rPr lang="en-US" dirty="0"/>
              <a:t>ABOT takes a different approach. Instead of depending on a central gateway, every node in the network can act as both a terminal, which sends and receives messages, and a relay, which forwards messages for other nodes.</a:t>
            </a:r>
          </a:p>
          <a:p>
            <a:endParaRPr lang="en-US" dirty="0"/>
          </a:p>
          <a:p>
            <a:r>
              <a:rPr lang="en-US" dirty="0"/>
              <a:t>In other words, a device doesn't just communicate for itself. It can also help other devices communicate.</a:t>
            </a:r>
          </a:p>
          <a:p>
            <a:endParaRPr lang="en-US" dirty="0"/>
          </a:p>
          <a:p>
            <a:r>
              <a:rPr lang="en-US" dirty="0"/>
              <a:t>How does this work?</a:t>
            </a:r>
          </a:p>
          <a:p>
            <a:endParaRPr lang="en-US" dirty="0"/>
          </a:p>
          <a:p>
            <a:r>
              <a:rPr lang="en-US" dirty="0"/>
              <a:t>[CLICK 1] When a node joins the network, it broadcasts short signals called beacons to discover neighboring nodes. These beacons help nodes identify nearby connections and monitor the quality of the links between them. Together, the nodes form a decentralized mesh.</a:t>
            </a:r>
          </a:p>
          <a:p>
            <a:endParaRPr lang="en-US" dirty="0"/>
          </a:p>
          <a:p>
            <a:r>
              <a:rPr lang="en-US" dirty="0"/>
              <a:t>[CLICK 2] Now, imagine a survivor sending an SOS message containing their GPS coordinates.</a:t>
            </a:r>
          </a:p>
          <a:p>
            <a:endParaRPr lang="en-US" dirty="0"/>
          </a:p>
          <a:p>
            <a:r>
              <a:rPr lang="en-US" dirty="0"/>
              <a:t>The message can travel from one node to another, hop by hop, through the mesh until it reaches an active rescue node. From there, it can be relayed onward to emergency responders.</a:t>
            </a:r>
          </a:p>
          <a:p>
            <a:endParaRPr lang="en-US" dirty="0"/>
          </a:p>
          <a:p>
            <a:r>
              <a:rPr lang="en-US" dirty="0"/>
              <a:t>[CLICK 3] ABOT is designed to account for changing conditions where Nodes can fail, move out of range, or experience deteriorating connections.. Each node monitors information such as packet delivery ratio, signal strength, and neighbor reachability. Routing can then use this changing link-state information to reassess which paths are preferable, rather than relying only on a route established earlier.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built a virtual disaster environment in which each radio represents a LoRa node in a decentralized mesh network, without a central tower.</a:t>
            </a:r>
          </a:p>
          <a:p>
            <a:endParaRPr lang="en-US" dirty="0"/>
          </a:p>
          <a:p>
            <a:r>
              <a:rPr lang="en-US" dirty="0"/>
              <a:t>Our primary setup uses a 10-by-10 grid, with nodes spaced 400 metres apart. We also used 15-by-15 and 30-by-30 grids for speed testing. The environment has two radios positioned at opposite corners of the grid which represent the safe zones that messages need to reach.</a:t>
            </a:r>
          </a:p>
          <a:p>
            <a:endParaRPr lang="en-US" dirty="0"/>
          </a:p>
          <a:p>
            <a:r>
              <a:rPr lang="en-US" dirty="0"/>
              <a:t>[CLICK 1] The network was tested under five damage-severity presets: intact, moderate, heavy, severe, and extreme, with heavy as the default. [CLICK 2] The simulation accounts for radio collisions, where a sufficiently stronger signal or louder signal gets priority. [CLICK 3] Radio failure scenarios include sudden failure or gradual deterioration as their batteries drain.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implemented the communication protocol.</a:t>
            </a:r>
          </a:p>
          <a:p>
            <a:endParaRPr lang="en-US" dirty="0"/>
          </a:p>
          <a:p>
            <a:r>
              <a:rPr lang="en-US" dirty="0"/>
              <a:t>The protocol says that each node announces its presence through a beacon every 30 seconds. Nodes also maintain a live link-quality score based on packet delivery ratio, or PDR — in simple terms, the proportion of packets successfully received over the last 50 packets.</a:t>
            </a:r>
          </a:p>
          <a:p>
            <a:endParaRPr lang="en-US" dirty="0"/>
          </a:p>
          <a:p>
            <a:r>
              <a:rPr lang="en-US" dirty="0"/>
              <a:t>For message forwarding, we use a Gossip3 approach. Each radio forwards an SOS message with a 75 percent probability and suppresses its own forwarding when it has already heard three duplicate copies. This helps reduce unnecessary transmissions.</a:t>
            </a:r>
          </a:p>
          <a:p>
            <a:endParaRPr lang="en-US" dirty="0"/>
          </a:p>
          <a:p>
            <a:r>
              <a:rPr lang="en-US" dirty="0"/>
              <a:t>[CLICK 1] We then defined the routing task. A message starts at a randomly selected radio and must reach a safe zone. Each simulated hop advances time by 10 seconds, and one trial, or episode, represents a complete routing attempt. We use random seeds to control the random setup, allowing experiments to be reproduced and compared under controlled conditions.</a:t>
            </a:r>
          </a:p>
          <a:p>
            <a:endParaRPr lang="en-US" dirty="0"/>
          </a:p>
          <a:p>
            <a:r>
              <a:rPr lang="en-US" dirty="0"/>
              <a:t>[CLICK 2] To support reinforcement-learning experiments, we developed two versions of the simulator: the original SimPy-based backend and a faster, time-stepped backend designed to accelerate AI training.</a:t>
            </a:r>
          </a:p>
          <a:p>
            <a:endParaRPr lang="en-US" dirty="0"/>
          </a:p>
          <a:p>
            <a:r>
              <a:rPr lang="en-US" dirty="0"/>
              <a:t>[CLICK 3] For the learning-based router, we used Proximal Policy Optimization, or PPO. The agent selects a neighboring node as its next routing action. We trained it three separate times, using 200,000 environment steps for each training run and the default training settings.</a:t>
            </a:r>
          </a:p>
          <a:p>
            <a:endParaRPr lang="en-US" dirty="0"/>
          </a:p>
          <a:p>
            <a:r>
              <a:rPr lang="en-US" dirty="0"/>
              <a:t>[CLICK 4] Finally, we benchmarked the routing approaches against classical route planners. This allowed us to compare their behavior under the same general experimental framework and across different levels of simulated damage.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design for ABOT was based on four layers, each responsible for a different part of communication.</a:t>
            </a:r>
          </a:p>
          <a:p>
            <a:endParaRPr lang="en-US" dirty="0"/>
          </a:p>
          <a:p>
            <a:r>
              <a:rPr lang="en-US" dirty="0"/>
              <a:t>[Added for this slide: walking through paper Fig. 1]</a:t>
            </a:r>
          </a:p>
          <a:p>
            <a:endParaRPr lang="en-US" dirty="0"/>
          </a:p>
          <a:p>
            <a:r>
              <a:rPr lang="en-US" dirty="0"/>
              <a:t>This is the architecture figure from our paper. Read it from the bottom up. Layer 1 is the LoRa radio itself. Layer 2 decides when a node transmits and how messages are passed on. Layer 3 turns what each node hears into link-quality measurements. Layer 4 uses those measurements to choose the route.</a:t>
            </a:r>
          </a:p>
          <a:p>
            <a:endParaRPr lang="en-US" dirty="0"/>
          </a:p>
          <a:p>
            <a:r>
              <a:rPr lang="en-US" dirty="0"/>
              <a:t>[CLICK 1] Decisions flow down the left side: the routing layer selects the next hop, and that becomes a radio transmission.</a:t>
            </a:r>
          </a:p>
          <a:p>
            <a:endParaRPr lang="en-US" dirty="0"/>
          </a:p>
          <a:p>
            <a:r>
              <a:rPr lang="en-US" dirty="0"/>
              <a:t>[CLICK 2] Measurements flow up the right side: received frames become de-duplicated beacon arrivals, and those become link metrics (packet delivery ratio, signal strength and reachability) that the routing layer reads. Between Layers 3 and 4, the learning agent receives its view as a list of 24 numbers.</a:t>
            </a:r>
          </a:p>
          <a:p>
            <a:endParaRPr lang="en-US" dirty="0"/>
          </a:p>
          <a:p>
            <a:r>
              <a:rPr lang="en-US" dirty="0"/>
              <a:t>[CLICK 3] The dashed box around everything is the simulation harness. We use it only to train and evaluate the routing methods; it isn't part of the software a real node would run.</a:t>
            </a:r>
          </a:p>
          <a:p>
            <a:endParaRPr lang="en-US" dirty="0"/>
          </a:p>
          <a:p>
            <a:r>
              <a:rPr lang="en-US" dirty="0"/>
              <a:t>Next, I'll go through the layers one at a time.</a:t>
            </a:r>
          </a:p>
          <a:p>
            <a:endParaRPr lang="en-US" dirty="0"/>
          </a:p>
          <a:p>
            <a:r>
              <a:rPr lang="en-US" dirty="0"/>
              <a:t>[If asked]</a:t>
            </a:r>
          </a:p>
          <a:p>
            <a:r>
              <a:rPr lang="en-US" dirty="0"/>
              <a:t>- "The figure says PPO may replace the solver. Does it?" The figure shows the option. In our results PPO is exploratory: it lands in the same range as the classical planners but doesn't beat the fastest ones.</a:t>
            </a:r>
          </a:p>
          <a:p>
            <a:r>
              <a:rPr lang="en-US" dirty="0"/>
              <a:t>- "How does each node know the whole network to run Dijkstra?" In the simulation the planners get a full view of the network, as a best case. Sharing link state across the mesh, and the airtime that costs, is future work.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1: Physical Communication — LoRa</a:t>
            </a:r>
          </a:p>
          <a:p>
            <a:endParaRPr lang="en-US" dirty="0"/>
          </a:p>
          <a:p>
            <a:r>
              <a:rPr lang="en-US" dirty="0"/>
              <a:t>The first layer is the physical communication layer, which defines how nodes transmit radio signals.</a:t>
            </a:r>
          </a:p>
          <a:p>
            <a:endParaRPr lang="en-US" dirty="0"/>
          </a:p>
          <a:p>
            <a:r>
              <a:rPr lang="en-US" dirty="0"/>
              <a:t>We use the 865 MHz band, with a transmission power of plus 20 dBm, a spreading factor of 12, and a bandwidth of 125 kilohertz. This is the slowest, longest-range LoRa setting in our configuration, and each transmission has an airtime of approximately 2.5 seconds.</a:t>
            </a:r>
          </a:p>
          <a:p>
            <a:endParaRPr lang="en-US" dirty="0"/>
          </a:p>
          <a:p>
            <a:r>
              <a:rPr lang="en-US" dirty="0"/>
              <a:t>The maximum application payload is 51 bytes, so the protocol has to work within a very small message budget.</a:t>
            </a:r>
          </a:p>
          <a:p>
            <a:endParaRPr lang="en-US" dirty="0"/>
          </a:p>
          <a:p>
            <a:r>
              <a:rPr lang="en-US" dirty="0"/>
              <a:t>We also model how signals weaken over distance using a log-distance path-loss formula. A random shadowing term accounts for variations caused by obstacles such as rubble and walls.</a:t>
            </a:r>
          </a:p>
          <a:p>
            <a:endParaRPr lang="en-US" dirty="0"/>
          </a:p>
          <a:p>
            <a:r>
              <a:rPr lang="en-US" dirty="0"/>
              <a:t>To represent different levels of environmental damage, we use five severity presets: intact, moderate, heavy, severe, and extreme. These presets change the path-loss exponent and shadowing parameters, allowing us to simulate progressively harsher communication conditions.</a:t>
            </a:r>
          </a:p>
          <a:p>
            <a:endParaRPr lang="en-US" dirty="0"/>
          </a:p>
          <a:p>
            <a:r>
              <a:rPr lang="en-US" dirty="0"/>
              <a:t>[CLICK 1] Layer 2: MAC and Forwarding</a:t>
            </a:r>
          </a:p>
          <a:p>
            <a:endParaRPr lang="en-US" dirty="0"/>
          </a:p>
          <a:p>
            <a:r>
              <a:rPr lang="en-US" dirty="0"/>
              <a:t>The second layer manages channel access and message forwarding.</a:t>
            </a:r>
          </a:p>
          <a:p>
            <a:endParaRPr lang="en-US" dirty="0"/>
          </a:p>
          <a:p>
            <a:r>
              <a:rPr lang="en-US" dirty="0"/>
              <a:t>For channel access, we use slotted ALOHA with a capture mechanism. Nodes transmit in time slots, and when transmissions collide, the stronger signal can survive if it exceeds the next-strongest signal by the required capture threshold of 6 dB. Otherwise, both colliding transmissions are lost.</a:t>
            </a:r>
          </a:p>
          <a:p>
            <a:endParaRPr lang="en-US" dirty="0"/>
          </a:p>
          <a:p>
            <a:r>
              <a:rPr lang="en-US" dirty="0"/>
              <a:t>For forwarding, we use a combination of Gossip3 and geo-greedy unicast. With Gossip3, a node forwards a message with a 75 percent probability. If it hears three duplicate copies before its forwarding timer fires, it suppresses its own transmission. This reduces unnecessary transmissions.</a:t>
            </a:r>
          </a:p>
          <a:p>
            <a:endParaRPr lang="en-US" dirty="0"/>
          </a:p>
          <a:p>
            <a:r>
              <a:rPr lang="en-US" dirty="0"/>
              <a:t>Geo-greedy forwarding provides another option: a message can be sent directly to a neighboring node that is closer to its destination.</a:t>
            </a:r>
          </a:p>
          <a:p>
            <a:endParaRPr lang="en-US" dirty="0"/>
          </a:p>
          <a:p>
            <a:r>
              <a:rPr lang="en-US" dirty="0"/>
              <a:t>We also have a packet structure designed for constrained communication. Each packet has a 34-byte header containing information such as message identifiers, source and destination, priority, hop count, and time-to-live.</a:t>
            </a:r>
          </a:p>
          <a:p>
            <a:endParaRPr lang="en-US" dirty="0"/>
          </a:p>
          <a:p>
            <a:r>
              <a:rPr lang="en-US" dirty="0"/>
              <a:t>The time-to-live, or TTL, is set to 16 hops and decreases at every relay. Each node also maintains a cache of the last 256 message identifiers to identify and discard duplicate messages.</a:t>
            </a:r>
          </a:p>
          <a:p>
            <a:endParaRPr lang="en-US" dirty="0"/>
          </a:p>
          <a:p>
            <a:r>
              <a:rPr lang="en-US" dirty="0"/>
              <a:t>[CLICK 2] Layer 3: Link-State Monitoring</a:t>
            </a:r>
          </a:p>
          <a:p>
            <a:endParaRPr lang="en-US" dirty="0"/>
          </a:p>
          <a:p>
            <a:r>
              <a:rPr lang="en-US" dirty="0"/>
              <a:t>The third layer continuously monitors local network conditions.</a:t>
            </a:r>
          </a:p>
          <a:p>
            <a:endParaRPr lang="en-US" dirty="0"/>
          </a:p>
          <a:p>
            <a:r>
              <a:rPr lang="en-US" dirty="0"/>
              <a:t>Every node broadcasts a beacon every 30 seconds. Using the beacons it receives, each node tracks three metrics: packet delivery ratio, received signal strength indicator, or RSSI, and neighbor reachability.</a:t>
            </a:r>
          </a:p>
          <a:p>
            <a:endParaRPr lang="en-US" dirty="0"/>
          </a:p>
          <a:p>
            <a:r>
              <a:rPr lang="en-US" dirty="0"/>
              <a:t>PDR is calculated using a sliding window of the last 50 packets, giving each node an estimate of how reliably it can communicate. RSSI indicates the strength of the received signal, while reachability indicates how many known neighbors have been heard recently.</a:t>
            </a:r>
          </a:p>
          <a:p>
            <a:endParaRPr lang="en-US" dirty="0"/>
          </a:p>
          <a:p>
            <a:r>
              <a:rPr lang="en-US" dirty="0"/>
              <a:t>The important point is that this monitoring is decentralized. Every node derives its own local view of network conditions, without relying on a central monitoring system.</a:t>
            </a:r>
          </a:p>
          <a:p>
            <a:endParaRPr lang="en-US" dirty="0"/>
          </a:p>
          <a:p>
            <a:r>
              <a:rPr lang="en-US" dirty="0"/>
              <a:t>[CLICK 3] Layer 4: Routing and Evacuation</a:t>
            </a:r>
          </a:p>
          <a:p>
            <a:endParaRPr lang="en-US" dirty="0"/>
          </a:p>
          <a:p>
            <a:r>
              <a:rPr lang="en-US" dirty="0"/>
              <a:t>Finally, the fourth layer determines how messages should travel through the network toward a safe zone.</a:t>
            </a:r>
          </a:p>
          <a:p>
            <a:endParaRPr lang="en-US" dirty="0"/>
          </a:p>
          <a:p>
            <a:r>
              <a:rPr lang="en-US" dirty="0"/>
              <a:t>We evaluate two types of routing approaches: dynamic Dijkstra, a classical shortest-path algorithm that uses live network-state information, and an exploratory reinforcement-learning agent trained using PPO.</a:t>
            </a:r>
          </a:p>
          <a:p>
            <a:endParaRPr lang="en-US" dirty="0"/>
          </a:p>
          <a:p>
            <a:r>
              <a:rPr lang="en-US" dirty="0"/>
              <a:t>The dynamic Dijkstra planner can recalculate routes as link quality changes or nodes become unavailable. The PPO agent, meanwhile, learns to select a neighboring node based on its observations of the local network.</a:t>
            </a:r>
          </a:p>
          <a:p>
            <a:endParaRPr lang="en-US" dirty="0"/>
          </a:p>
          <a:p>
            <a:r>
              <a:rPr lang="en-US" dirty="0"/>
              <a:t>Comparing these approaches allows us to investigate how classical and learning-based routing behave under changing network conditions.</a:t>
            </a:r>
          </a:p>
          <a:p>
            <a:endParaRPr lang="en-US" dirty="0"/>
          </a:p>
          <a:p>
            <a:r>
              <a:rPr lang="en-US" dirty="0"/>
              <a:t>[CLICK 4] Battery and Failure Model</a:t>
            </a:r>
          </a:p>
          <a:p>
            <a:endParaRPr lang="en-US" dirty="0"/>
          </a:p>
          <a:p>
            <a:r>
              <a:rPr lang="en-US" dirty="0"/>
              <a:t>Alongside these four layers, we model battery depletion and node failures because both can affect network reliability.</a:t>
            </a:r>
          </a:p>
          <a:p>
            <a:endParaRPr lang="en-US" dirty="0"/>
          </a:p>
          <a:p>
            <a:r>
              <a:rPr lang="en-US" dirty="0"/>
              <a:t>The battery model applies linear drain over 300 seconds. Once a node's charge falls below 20 percent, its outgoing per-link delivery probability decreases proportionally with its remaining charge.</a:t>
            </a:r>
          </a:p>
          <a:p>
            <a:endParaRPr lang="en-US" dirty="0"/>
          </a:p>
          <a:p>
            <a:r>
              <a:rPr lang="en-US" dirty="0"/>
              <a:t>We use a failure rate of one failure per node per hour, and consider four failure modes.</a:t>
            </a:r>
          </a:p>
          <a:p>
            <a:endParaRPr lang="en-US" dirty="0"/>
          </a:p>
          <a:p>
            <a:r>
              <a:rPr lang="en-US" dirty="0"/>
              <a:t>The first is sudden failure, where a node stops operating immediately. The second is graceful failure, where its battery drains over time. The third is mixed failure, combining sudden and graceful failures in equal proportions; this is our default failure mode. The fourth is burst failure, where nodes within one grid cell of a disaster epicenter can fail together, excluding gateways.</a:t>
            </a:r>
          </a:p>
          <a:p>
            <a:endParaRPr lang="en-US" dirty="0"/>
          </a:p>
          <a:p>
            <a:r>
              <a:rPr lang="en-US" dirty="0"/>
              <a:t>Together, these design choices allow us to model not just message routing, but also the radio constraints, changing link conditions, battery limitations, and node failures that influence communication in a simulated post-disaster environment.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tested simulation gave results around six areas (or gave six results).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routing approach the considered result was from running Dijkstra, the classic shortest-route method. The static version counted hops. The dynamic version also weighs each link by a live link-quality score, and re-plans if the route ahead gets worse. It was ran on the same 100 trips.</a:t>
            </a:r>
          </a:p>
          <a:p>
            <a:endParaRPr lang="en-US" dirty="0"/>
          </a:p>
          <a:p>
            <a:r>
              <a:rPr lang="en-US" dirty="0"/>
              <a:t>A link-quality score is a number from 0 to 1 that each radio keeps for how well its links have worked recently. We average it over the radios a route passes through. Read it as a relative score for comparing route-finders, not as the share of messages delivered.</a:t>
            </a:r>
          </a:p>
          <a:p>
            <a:endParaRPr lang="en-US" dirty="0"/>
          </a:p>
          <a:p>
            <a:r>
              <a:rPr lang="en-US" dirty="0"/>
              <a:t>[CLICK 1] Without live link scores, avg link quality score is 0.145, with link score its 0.267. it is about 1.8 times higher across damage levels. Dynamic versions take longer routes but they tend to score lower. [CLICK 2] If we compare only trips pdf the same length the gap widens to 1.9 to 2.6 times. (All of this is reference to link quality scores).</a:t>
            </a:r>
          </a:p>
          <a:p>
            <a:endParaRPr lang="en-US" dirty="0"/>
          </a:p>
          <a:p>
            <a:r>
              <a:rPr lang="en-US" dirty="0"/>
              <a:t>[CLICK 3] We also tested the A-star pair, a close cousin of Dijkstra, the same way. It re-planned in only 3 of 100 trips, so it shows almost no gap, 1.03 times, and tells us nothing either way.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finding was that the ai route finder is in same range as the classical methods.</a:t>
            </a:r>
          </a:p>
          <a:p>
            <a:endParaRPr lang="en-US" dirty="0"/>
          </a:p>
          <a:p>
            <a:r>
              <a:rPr lang="en-US" dirty="0"/>
              <a:t>The ai finder was trained with ppo and a trial and error method that learns from point system. The point system said that there were points for good moves and penalties for bad ones.</a:t>
            </a:r>
          </a:p>
          <a:p>
            <a:endParaRPr lang="en-US" dirty="0"/>
          </a:p>
          <a:p>
            <a:r>
              <a:rPr lang="en-US" dirty="0"/>
              <a:t>The previous classical route finders – dij, a star each static and dynamic, were compared with this method on two grid sizes and same number of trips (aka 100).</a:t>
            </a:r>
          </a:p>
          <a:p>
            <a:endParaRPr lang="en-US" dirty="0"/>
          </a:p>
          <a:p>
            <a:r>
              <a:rPr lang="en-US" dirty="0"/>
              <a:t>[CLICK 1] The results show that AI takes fewer hops than dijisktra dynamic on 10x10 grid givning 2.48average hops with dijisktra having 3.23, as well as 15x15 grid with 3.56 and 4.40 for dijikstra.</a:t>
            </a:r>
          </a:p>
          <a:p>
            <a:endParaRPr lang="en-US" dirty="0"/>
          </a:p>
          <a:p>
            <a:r>
              <a:rPr lang="en-US" dirty="0"/>
              <a:t>[CLICK 2] The p values come well below the usual 0.05 bar being slightly worse at 10x10 compared against three fastest (0.047 just under the bar),and no significant difference at 15x15 (0.255).</a:t>
            </a:r>
          </a:p>
          <a:p>
            <a:endParaRPr lang="en-US" dirty="0"/>
          </a:p>
          <a:p>
            <a:r>
              <a:rPr lang="en-US" dirty="0"/>
              <a:t>[CLICK 3] It learned a sensible way to route, but on this task it doesn’t beat simple shortest-route methods. That’s why we call the AI part exploratory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result was based on the damage preset. We made the damage worse, adjusting across the five levels. More damage makes radio signals fade faster with distance, as rubble would. Every route-finder ran 250 trips at each level, in five groups of 50.</a:t>
            </a:r>
          </a:p>
          <a:p>
            <a:endParaRPr lang="en-US" dirty="0"/>
          </a:p>
          <a:p>
            <a:r>
              <a:rPr lang="en-US" dirty="0"/>
              <a:t>[CLICK 1] At heavy, a link works half the time at about 2 kilometres, beyond our 1.5-kilometre radio range. At severe, that point moves inside the range, to about 1 kilometre. [CLICK 2] So severe is the first level where links within range fail often.</a:t>
            </a:r>
          </a:p>
          <a:p>
            <a:endParaRPr lang="en-US" dirty="0"/>
          </a:p>
          <a:p>
            <a:r>
              <a:rPr lang="en-US" dirty="0"/>
              <a:t>[CLICK 3] The AI doesn’t get worse as damage grows. It reaches a safe zone in 99.6 percent of trips at every level, which is one trip in 250.</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trip also earns a points score, called reward, and a normal trip scores just over 100. Four of the AI’s five groups average 101.4 to 102.2. [CLICK 1] The fourth averages only about 17 from intact to heavy, and about 23 at severe and extreme.</a:t>
            </a:r>
          </a:p>
          <a:p>
            <a:endParaRPr lang="en-US" dirty="0"/>
          </a:p>
          <a:p>
            <a:r>
              <a:rPr lang="en-US" dirty="0"/>
              <a:t>[CLICK 2] The AI’s one weak spot is a livelock, a stuck loop. In one test scenario, it keeps picking a neighbour that has died. Each try is rejected with a penalty, the situation looks almost the same, so it picks that neighbour again. The cause is its fixed list of eight neighbours, where dead ones stay listed. [CLICK 3] It happens at every damage level, including intact. So the weak spot is how the AI’s choices are set up, not the damage.</a:t>
            </a:r>
          </a:p>
          <a:p>
            <a:endParaRPr lang="en-US" dirty="0"/>
          </a:p>
          <a:p>
            <a:r>
              <a:rPr lang="en-US" dirty="0"/>
              <a:t>[CLICK 4] So in our setup, damage weakens the long links, but it doesn’t stop trips. Success stays near 100 percent. This sweep compares route-finders under rising stress.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Our first simulator handles each radio transmission as a separate event. That's accurate, but too slow for AI training, which needed 200,000 practice steps per run. [CLICK 1] So we built a faster one that moves all the radios forward together, one time step at a time, using the same models for radio links, failures and collisions. [CLICK 2] The newer simuklator runs upto 7.3 times faster than our own reference simulator.  A collision is when two radios send at once and garble each other.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was gossip. Gossip means radios passing information to their neighbours, who pass it on, like a rumour. Here, radios share the AI’s estimates of how good each position is. We ran the AI with gossip on and off, with three training runs and 300 trips for each setting.</a:t>
            </a:r>
          </a:p>
          <a:p>
            <a:endParaRPr lang="en-US" dirty="0"/>
          </a:p>
          <a:p>
            <a:r>
              <a:rPr lang="en-US" dirty="0"/>
              <a:t>[CLICK 1] Both settings reached a safe zone in every trip. Average hops were 2.487 with gossip and 2.497 without, with a p-value of 0.842. Average reward was 101.42 against 101.27, with a p-value of 0.826. Both are far above 0.05.</a:t>
            </a:r>
          </a:p>
          <a:p>
            <a:endParaRPr lang="en-US" dirty="0"/>
          </a:p>
          <a:p>
            <a:r>
              <a:rPr lang="en-US" dirty="0"/>
              <a:t>[CLICK 2] So gossip made no difference. Its merge step, where a radio would combine the values it receives with its own, isn’t connected yet, and both settings already solve this task. This shows the system works without gossip, not that gossip helps.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the radio model that we used. how often a single link gets a message through as distance grows. That’s called the packet delivery ratio, or PDR.</a:t>
            </a:r>
          </a:p>
          <a:p>
            <a:endParaRPr lang="en-US" dirty="0"/>
          </a:p>
          <a:p>
            <a:r>
              <a:rPr lang="en-US" dirty="0"/>
              <a:t>The distance axis is a log scale, so each labelled gridline is ten times further. The band between the dashed lines, from 400 metres to 1.5 kilometres, is where our mesh operates.</a:t>
            </a:r>
          </a:p>
          <a:p>
            <a:endParaRPr lang="en-US" dirty="0"/>
          </a:p>
          <a:p>
            <a:r>
              <a:rPr lang="en-US" dirty="0"/>
              <a:t>[CLICK 1] Each curve is one damage level, a relative stress setting, and more damage shifts the curve left. At heavy, a link works half the time at about 2 kilometres. At severe, about 1 kilometre. At extreme, about 640 metres. [CLICK 2] At 1.5 kilometres, links succeed 66 percent of the time at heavy, 29 percent at severe and 11 percent at extreme. [CLICK 3] At 400 metres, the nearest neighbours, they stay above 73 percent at every level.</a:t>
            </a:r>
          </a:p>
          <a:p>
            <a:endParaRPr lang="en-US" dirty="0"/>
          </a:p>
          <a:p>
            <a:r>
              <a:rPr lang="en-US" dirty="0"/>
              <a:t>[CLICK 4] The radio model behaves the way the standard model predicts: more distance and more damage mean more failures. That shows internal consistency, not agreement with real radios. It also explains the damage result: severe is where the halfway point moves inside our radio range.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certain drawbacks to abot.</a:t>
            </a:r>
          </a:p>
          <a:p>
            <a:endParaRPr lang="en-US" dirty="0"/>
          </a:p>
          <a:p>
            <a:r>
              <a:rPr lang="en-US" dirty="0"/>
              <a:t>[CLICK 1] First, ABOT has been evaluated entirely in simulation. We have not yet validated its performance on physical hardware, so the results should be understood as simulation-based findings rather than evidence of real-world deployment.</a:t>
            </a:r>
          </a:p>
          <a:p>
            <a:endParaRPr lang="en-US" dirty="0"/>
          </a:p>
          <a:p>
            <a:r>
              <a:rPr lang="en-US" dirty="0"/>
              <a:t>[CLICK 2] There are also practical radio constraints to address. Our current 30-second beacon interval results in approximately 4.4 percent channel occupancy at SF12, which exceeds the 1 percent duty-cycle limit specified by ETSI for the relevant band. A compliant transmission schedule would therefore need to be investigated, and it could affect the results that depend on the beacon rate.</a:t>
            </a:r>
          </a:p>
          <a:p>
            <a:endParaRPr lang="en-US" dirty="0"/>
          </a:p>
          <a:p>
            <a:r>
              <a:rPr lang="en-US" dirty="0"/>
              <a:t>[CLICK 3] Second, there are limitations in the routing and learning components. The reinforcement-learning agent has a constrained action space of eight neighbors, even though the network can have substantially more neighbors.</a:t>
            </a:r>
          </a:p>
          <a:p>
            <a:endParaRPr lang="en-US" dirty="0"/>
          </a:p>
          <a:p>
            <a:r>
              <a:rPr lang="en-US" dirty="0"/>
              <a:t>This restriction contributes to a live lock problem in which the agent can repeatedly select an invalid neighbor.</a:t>
            </a:r>
          </a:p>
          <a:p>
            <a:endParaRPr lang="en-US" dirty="0"/>
          </a:p>
          <a:p>
            <a:r>
              <a:rPr lang="en-US" dirty="0"/>
              <a:t>We also observed inconsistent value-estimation performance across the three training seeds, indicating that the reinforcement-learning component requires further investigation. At this stage, the learning-based routing approach remains exploratory; our results do not establish that it consistently outperforms classical routing methods.</a:t>
            </a:r>
          </a:p>
          <a:p>
            <a:endParaRPr lang="en-US" dirty="0"/>
          </a:p>
          <a:p>
            <a:r>
              <a:rPr lang="en-US" dirty="0"/>
              <a:t>[CLICK 4] Another important distinction is that PDR is used as a link-quality measure in our routing experiments. It should not be interpreted as a direct measurement of successful end-to-end SOS delivery. Measuring that outcome explicitly is an important next step.</a:t>
            </a:r>
          </a:p>
          <a:p>
            <a:endParaRPr lang="en-US" dirty="0"/>
          </a:p>
          <a:p>
            <a:r>
              <a:rPr lang="en-US" dirty="0"/>
              <a:t>[CLICK 5] Finally, real-world adoption presents its own challenge. A decentralized communication system depends on enough devices and relays being available to establish useful connectivity. That participation cannot simply be assumed. These limitations define what still needs to be addressed before ABOT can be considered for practical deployment.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forward, we have identified several directions for further development.</a:t>
            </a:r>
          </a:p>
          <a:p>
            <a:endParaRPr lang="en-US" dirty="0"/>
          </a:p>
          <a:p>
            <a:r>
              <a:rPr lang="en-US" dirty="0"/>
              <a:t>[CLICK 1] First, we want to measure end-to-end SOS packet delivery directly, rather than relying primarily on link-level PDR. We also need to investigate adaptive beaconing, which could help reduce channel occupancy while allowing nodes to remain aware of changing network conditions.</a:t>
            </a:r>
          </a:p>
          <a:p>
            <a:endParaRPr lang="en-US" dirty="0"/>
          </a:p>
          <a:p>
            <a:r>
              <a:rPr lang="en-US" dirty="0"/>
              <a:t>[CLICK 2] Second, the framework needs to be validated on physical LoRa hardware. This would allow us to compare simulation results with actual radio behavior and investigate the practical effects of transmission timing, interference, and other hardware-level constraints.</a:t>
            </a:r>
          </a:p>
          <a:p>
            <a:endParaRPr lang="en-US" dirty="0"/>
          </a:p>
          <a:p>
            <a:r>
              <a:rPr lang="en-US" dirty="0"/>
              <a:t>[CLICK 3] We also aim to explore integration with existing decentralized communication platforms and search-and-rescue systems. As discussed in our paper, ABOT is designed with compatibility with existing LoRa hardware in mind, and integration with search-and-rescue platforms is an important step toward practical use.</a:t>
            </a:r>
          </a:p>
          <a:p>
            <a:endParaRPr lang="en-US" dirty="0"/>
          </a:p>
          <a:p>
            <a:r>
              <a:rPr lang="en-US" dirty="0"/>
              <a:t>[CLICK 4] On the routing side, future work should address the constrained action space and improve the stability of the reinforcement-learning agent. Further experiments can establish whether learning-based routing offers benefits under larger networks and more demanding failure conditions.</a:t>
            </a:r>
          </a:p>
          <a:p>
            <a:endParaRPr lang="en-US" dirty="0"/>
          </a:p>
          <a:p>
            <a:r>
              <a:rPr lang="en-US" dirty="0"/>
              <a:t>[CLICK 5] Finally, there is the question of adoption. A practical rollout could begin with responder devices and pre-positioned relay nodes before expanding to broader public participation. Collaboration with disaster-management authorities and emergency-response organizations would be important in making such a system viable. Interdepartmental comm and real world imple.</a:t>
            </a:r>
          </a:p>
          <a:p>
            <a:endParaRPr lang="en-US" dirty="0"/>
          </a:p>
          <a:p>
            <a:r>
              <a:rPr lang="en-US" dirty="0"/>
              <a:t>[CLICK 6] Ultimately, our goal is to move from a simulation-based framework toward a system that can be validated, integrated, and evaluated under real-world disaster-response conditions.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Glass panel"/>
          <p:cNvSpPr/>
          <p:nvPr/>
        </p:nvSpPr>
        <p:spPr>
          <a:xfrm>
            <a:off x="530352" y="457200"/>
            <a:ext cx="11155680" cy="5833872"/>
          </a:xfrm>
          <a:prstGeom prst="roundRect">
            <a:avLst>
              <a:gd name="adj" fmla="val 4000"/>
            </a:avLst>
          </a:prstGeom>
          <a:solidFill>
            <a:srgbClr val="000000">
              <a:alpha val="22000"/>
            </a:srgbClr>
          </a:solidFill>
          <a:ln w="12700">
            <a:solidFill>
              <a:srgbClr val="FFFFFF">
                <a:alpha val="18000"/>
              </a:srgbClr>
            </a:solidFill>
          </a:ln>
        </p:spPr>
      </p:sp>
      <p:pic>
        <p:nvPicPr>
          <p:cNvPr id="4" name="HTC 2026 artwork" descr="IEEE R10 HTC 2026 Bangkok conference artwork"/>
          <p:cNvPicPr>
            <a:picLocks noChangeAspect="1"/>
          </p:cNvPicPr>
          <p:nvPr/>
        </p:nvPicPr>
        <p:blipFill>
          <a:blip r:embed="rId4"/>
          <a:stretch>
            <a:fillRect/>
          </a:stretch>
        </p:blipFill>
        <p:spPr>
          <a:xfrm>
            <a:off x="5715000" y="926287"/>
            <a:ext cx="5989320" cy="3953866"/>
          </a:xfrm>
          <a:prstGeom prst="rect">
            <a:avLst/>
          </a:prstGeom>
        </p:spPr>
      </p:pic>
      <p:sp>
        <p:nvSpPr>
          <p:cNvPr id="5" name="Title"/>
          <p:cNvSpPr txBox="1"/>
          <p:nvPr/>
        </p:nvSpPr>
        <p:spPr>
          <a:xfrm>
            <a:off x="713232" y="841248"/>
            <a:ext cx="5120640" cy="822960"/>
          </a:xfrm>
          <a:prstGeom prst="rect">
            <a:avLst/>
          </a:prstGeom>
          <a:noFill/>
          <a:ln>
            <a:noFill/>
          </a:ln>
        </p:spPr>
        <p:txBody>
          <a:bodyPr wrap="square" lIns="0" tIns="0" rIns="0" bIns="0" rtlCol="0" anchor="ctr">
            <a:noAutofit/>
          </a:bodyPr>
          <a:lstStyle/>
          <a:p>
            <a:pPr marL="0" indent="0" algn="l">
              <a:buNone/>
            </a:pPr>
            <a:r>
              <a:rPr lang="en-US" sz="4800" b="1" dirty="0">
                <a:solidFill>
                  <a:srgbClr val="FFFFFF"/>
                </a:solidFill>
                <a:latin typeface="Tahoma"/>
                <a:ea typeface="Tahoma"/>
                <a:cs typeface="Tahoma"/>
              </a:rPr>
              <a:t>ABOT</a:t>
            </a:r>
            <a:endParaRPr lang="en-US" sz="4800" dirty="0"/>
          </a:p>
        </p:txBody>
      </p:sp>
      <p:sp>
        <p:nvSpPr>
          <p:cNvPr id="6" name="Paper title"/>
          <p:cNvSpPr txBox="1"/>
          <p:nvPr/>
        </p:nvSpPr>
        <p:spPr>
          <a:xfrm>
            <a:off x="749808" y="1700784"/>
            <a:ext cx="4892040" cy="914400"/>
          </a:xfrm>
          <a:prstGeom prst="rect">
            <a:avLst/>
          </a:prstGeom>
          <a:noFill/>
          <a:ln>
            <a:noFill/>
          </a:ln>
        </p:spPr>
        <p:txBody>
          <a:bodyPr wrap="square" lIns="0" tIns="0" rIns="0" bIns="0" rtlCol="0" anchor="t">
            <a:noAutofit/>
          </a:bodyPr>
          <a:lstStyle/>
          <a:p>
            <a:pPr marL="0" indent="0" algn="l">
              <a:lnSpc>
                <a:spcPct val="105000"/>
              </a:lnSpc>
              <a:buNone/>
            </a:pPr>
            <a:r>
              <a:rPr lang="en-US" sz="1600" b="1" dirty="0">
                <a:solidFill>
                  <a:srgbClr val="00B7EA"/>
                </a:solidFill>
                <a:latin typeface="Tahoma"/>
                <a:ea typeface="Tahoma"/>
                <a:cs typeface="Tahoma"/>
              </a:rPr>
              <a:t>A Decentralized LoRa Mesh Communication Framework for Post-Disaster Environments</a:t>
            </a:r>
            <a:endParaRPr lang="en-US" sz="1600" dirty="0"/>
          </a:p>
        </p:txBody>
      </p:sp>
      <p:sp>
        <p:nvSpPr>
          <p:cNvPr id="7" name="Authors"/>
          <p:cNvSpPr txBox="1"/>
          <p:nvPr/>
        </p:nvSpPr>
        <p:spPr>
          <a:xfrm>
            <a:off x="749808" y="2788920"/>
            <a:ext cx="4937760" cy="365760"/>
          </a:xfrm>
          <a:prstGeom prst="rect">
            <a:avLst/>
          </a:prstGeom>
          <a:noFill/>
          <a:ln>
            <a:noFill/>
          </a:ln>
        </p:spPr>
        <p:txBody>
          <a:bodyPr wrap="square" lIns="0" tIns="0" rIns="0" bIns="0" rtlCol="0" anchor="t">
            <a:noAutofit/>
          </a:bodyPr>
          <a:lstStyle/>
          <a:p>
            <a:pPr marL="0" indent="0" algn="l">
              <a:buNone/>
            </a:pPr>
            <a:r>
              <a:rPr lang="en-US" sz="1500" b="1" dirty="0">
                <a:solidFill>
                  <a:srgbClr val="FFFFFF"/>
                </a:solidFill>
                <a:latin typeface="Tahoma"/>
                <a:ea typeface="Tahoma"/>
                <a:cs typeface="Tahoma"/>
              </a:rPr>
              <a:t>Aniraj Singh  ·  Azzah Mallick</a:t>
            </a:r>
            <a:endParaRPr lang="en-US" sz="1500" dirty="0"/>
          </a:p>
        </p:txBody>
      </p:sp>
      <p:sp>
        <p:nvSpPr>
          <p:cNvPr id="8" name="Affiliation"/>
          <p:cNvSpPr txBox="1"/>
          <p:nvPr/>
        </p:nvSpPr>
        <p:spPr>
          <a:xfrm>
            <a:off x="749808" y="3154680"/>
            <a:ext cx="4937760" cy="320040"/>
          </a:xfrm>
          <a:prstGeom prst="rect">
            <a:avLst/>
          </a:prstGeom>
          <a:noFill/>
          <a:ln>
            <a:noFill/>
          </a:ln>
        </p:spPr>
        <p:txBody>
          <a:bodyPr wrap="square" lIns="0" tIns="0" rIns="0" bIns="0" rtlCol="0" anchor="t">
            <a:noAutofit/>
          </a:bodyPr>
          <a:lstStyle/>
          <a:p>
            <a:pPr marL="0" indent="0" algn="l">
              <a:buNone/>
            </a:pPr>
            <a:r>
              <a:rPr lang="en-US" sz="1150" dirty="0">
                <a:solidFill>
                  <a:srgbClr val="FFFFFF">
                    <a:alpha val="85000"/>
                  </a:srgbClr>
                </a:solidFill>
                <a:latin typeface="Tahoma"/>
                <a:ea typeface="Tahoma"/>
                <a:cs typeface="Tahoma"/>
              </a:rPr>
              <a:t>Department of CSE, Amity University, Uttar Pradesh, India</a:t>
            </a:r>
            <a:endParaRPr lang="en-US" sz="1150" dirty="0"/>
          </a:p>
        </p:txBody>
      </p:sp>
      <p:sp>
        <p:nvSpPr>
          <p:cNvPr id="9" name="Conference"/>
          <p:cNvSpPr txBox="1"/>
          <p:nvPr/>
        </p:nvSpPr>
        <p:spPr>
          <a:xfrm>
            <a:off x="749808" y="3675888"/>
            <a:ext cx="3840480" cy="292608"/>
          </a:xfrm>
          <a:prstGeom prst="rect">
            <a:avLst/>
          </a:prstGeom>
          <a:noFill/>
          <a:ln>
            <a:noFill/>
          </a:ln>
        </p:spPr>
        <p:txBody>
          <a:bodyPr wrap="square" lIns="0" tIns="0" rIns="0" bIns="0" rtlCol="0" anchor="t">
            <a:noAutofit/>
          </a:bodyPr>
          <a:lstStyle/>
          <a:p>
            <a:pPr marL="0" indent="0" algn="l">
              <a:buNone/>
            </a:pPr>
            <a:r>
              <a:rPr lang="en-US" sz="1200" b="1" dirty="0">
                <a:solidFill>
                  <a:srgbClr val="F7B500"/>
                </a:solidFill>
                <a:latin typeface="Tahoma"/>
                <a:ea typeface="Tahoma"/>
                <a:cs typeface="Tahoma"/>
              </a:rPr>
              <a:t>IEEE R10 HTC 2026</a:t>
            </a:r>
            <a:endParaRPr lang="en-US" sz="1200" dirty="0"/>
          </a:p>
        </p:txBody>
      </p:sp>
      <p:sp>
        <p:nvSpPr>
          <p:cNvPr id="10" name="Date pill"/>
          <p:cNvSpPr/>
          <p:nvPr/>
        </p:nvSpPr>
        <p:spPr>
          <a:xfrm>
            <a:off x="749808" y="4069080"/>
            <a:ext cx="5166360" cy="411480"/>
          </a:xfrm>
          <a:prstGeom prst="roundRect">
            <a:avLst>
              <a:gd name="adj" fmla="val 18000"/>
            </a:avLst>
          </a:prstGeom>
          <a:solidFill>
            <a:srgbClr val="003E82"/>
          </a:solidFill>
          <a:ln w="1524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050" b="1" dirty="0">
                <a:solidFill>
                  <a:srgbClr val="FFFFFF"/>
                </a:solidFill>
                <a:latin typeface="Tahoma"/>
                <a:ea typeface="Tahoma"/>
                <a:cs typeface="Tahoma"/>
              </a:rPr>
              <a:t>26 – 28 October 2026  |  Bangkok, Thailand</a:t>
            </a:r>
            <a:endParaRPr lang="en-US" sz="1050" dirty="0"/>
          </a:p>
        </p:txBody>
      </p:sp>
      <p:sp>
        <p:nvSpPr>
          <p:cNvPr id="11" name="Diamond"/>
          <p:cNvSpPr/>
          <p:nvPr/>
        </p:nvSpPr>
        <p:spPr>
          <a:xfrm>
            <a:off x="795528" y="5568696"/>
            <a:ext cx="182880" cy="182880"/>
          </a:xfrm>
          <a:prstGeom prst="diamond">
            <a:avLst/>
          </a:prstGeom>
          <a:solidFill>
            <a:srgbClr val="F7B500"/>
          </a:solidFill>
          <a:ln>
            <a:noFill/>
          </a:ln>
        </p:spPr>
      </p:sp>
      <p:sp>
        <p:nvSpPr>
          <p:cNvPr id="12" name="Conference theme"/>
          <p:cNvSpPr txBox="1"/>
          <p:nvPr/>
        </p:nvSpPr>
        <p:spPr>
          <a:xfrm>
            <a:off x="1097280" y="5513832"/>
            <a:ext cx="5486400" cy="292608"/>
          </a:xfrm>
          <a:prstGeom prst="rect">
            <a:avLst/>
          </a:prstGeom>
          <a:noFill/>
          <a:ln>
            <a:noFill/>
          </a:ln>
        </p:spPr>
        <p:txBody>
          <a:bodyPr wrap="square" lIns="0" tIns="0" rIns="0" bIns="0" rtlCol="0" anchor="ctr">
            <a:noAutofit/>
          </a:bodyPr>
          <a:lstStyle/>
          <a:p>
            <a:pPr marL="0" indent="0" algn="l">
              <a:buNone/>
            </a:pPr>
            <a:r>
              <a:rPr lang="en-US" sz="900" dirty="0">
                <a:solidFill>
                  <a:srgbClr val="FFFFFF">
                    <a:alpha val="85000"/>
                  </a:srgbClr>
                </a:solidFill>
                <a:latin typeface="Tahoma"/>
                <a:ea typeface="Tahoma"/>
                <a:cs typeface="Tahoma"/>
              </a:rPr>
              <a:t>Empowering Humanity Through Emerging Technology &amp; Innovation</a:t>
            </a:r>
            <a:endParaRPr lang="en-US" sz="9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Outline">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Outline</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From the problem to what we found</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grpSp>
        <p:nvGrpSpPr>
          <p:cNvPr id="6" name="Outline row 1"/>
          <p:cNvGrpSpPr/>
          <p:nvPr/>
        </p:nvGrpSpPr>
        <p:grpSpPr>
          <a:xfrm>
            <a:off x="969264" y="1691640"/>
            <a:ext cx="10195560" cy="640080"/>
            <a:chOff x="969264" y="1691640"/>
            <a:chExt cx="10195560" cy="640080"/>
          </a:xfrm>
        </p:grpSpPr>
        <p:sp>
          <p:nvSpPr>
            <p:cNvPr id="7" name="Shape 7"/>
            <p:cNvSpPr/>
            <p:nvPr/>
          </p:nvSpPr>
          <p:spPr>
            <a:xfrm>
              <a:off x="969264" y="1691640"/>
              <a:ext cx="10195560" cy="640080"/>
            </a:xfrm>
            <a:prstGeom prst="roundRect">
              <a:avLst>
                <a:gd name="adj" fmla="val 857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8" name="Shape 8"/>
            <p:cNvSpPr/>
            <p:nvPr/>
          </p:nvSpPr>
          <p:spPr>
            <a:xfrm>
              <a:off x="1170432" y="1801368"/>
              <a:ext cx="658368" cy="420624"/>
            </a:xfrm>
            <a:prstGeom prst="roundRect">
              <a:avLst>
                <a:gd name="adj" fmla="val 16000"/>
              </a:avLst>
            </a:prstGeom>
            <a:solidFill>
              <a:srgbClr val="003E82"/>
            </a:solid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01</a:t>
              </a:r>
              <a:endParaRPr lang="en-US" sz="1300" dirty="0"/>
            </a:p>
          </p:txBody>
        </p:sp>
        <p:sp>
          <p:nvSpPr>
            <p:cNvPr id="9" name="Shape 9"/>
            <p:cNvSpPr txBox="1"/>
            <p:nvPr/>
          </p:nvSpPr>
          <p:spPr>
            <a:xfrm>
              <a:off x="2057400" y="1764792"/>
              <a:ext cx="3657600" cy="292608"/>
            </a:xfrm>
            <a:prstGeom prst="rect">
              <a:avLst/>
            </a:prstGeom>
            <a:noFill/>
            <a:ln>
              <a:noFill/>
            </a:ln>
          </p:spPr>
          <p:txBody>
            <a:bodyPr wrap="square" lIns="0" tIns="0" rIns="0" bIns="0" rtlCol="0" anchor="ctr">
              <a:noAutofit/>
            </a:bodyPr>
            <a:lstStyle/>
            <a:p>
              <a:pPr marL="0" indent="0" algn="l">
                <a:buNone/>
              </a:pPr>
              <a:r>
                <a:rPr lang="en-US" sz="1500" b="1" dirty="0">
                  <a:solidFill>
                    <a:srgbClr val="003E82"/>
                  </a:solidFill>
                  <a:latin typeface="Tahoma"/>
                  <a:ea typeface="Tahoma"/>
                  <a:cs typeface="Tahoma"/>
                </a:rPr>
                <a:t>Why it matters</a:t>
              </a:r>
              <a:endParaRPr lang="en-US" sz="1500" dirty="0"/>
            </a:p>
          </p:txBody>
        </p:sp>
        <p:sp>
          <p:nvSpPr>
            <p:cNvPr id="10" name="Shape 10"/>
            <p:cNvSpPr txBox="1"/>
            <p:nvPr/>
          </p:nvSpPr>
          <p:spPr>
            <a:xfrm>
              <a:off x="2057400" y="2039112"/>
              <a:ext cx="8686800" cy="237744"/>
            </a:xfrm>
            <a:prstGeom prst="rect">
              <a:avLst/>
            </a:prstGeom>
            <a:noFill/>
            <a:ln>
              <a:noFill/>
            </a:ln>
          </p:spPr>
          <p:txBody>
            <a:bodyPr wrap="square" lIns="0" tIns="0" rIns="0" bIns="0" rtlCol="0" anchor="ctr">
              <a:noAutofit/>
            </a:bodyPr>
            <a:lstStyle/>
            <a:p>
              <a:pPr marL="0" indent="0" algn="l">
                <a:buNone/>
              </a:pPr>
              <a:r>
                <a:rPr lang="en-US" sz="1150" dirty="0">
                  <a:solidFill>
                    <a:srgbClr val="44546A"/>
                  </a:solidFill>
                  <a:latin typeface="Tahoma"/>
                  <a:ea typeface="Tahoma"/>
                  <a:cs typeface="Tahoma"/>
                </a:rPr>
                <a:t>Motivation and existing work</a:t>
              </a:r>
              <a:endParaRPr lang="en-US" sz="1150" dirty="0"/>
            </a:p>
          </p:txBody>
        </p:sp>
      </p:grpSp>
      <p:grpSp>
        <p:nvGrpSpPr>
          <p:cNvPr id="11" name="Outline row 2"/>
          <p:cNvGrpSpPr/>
          <p:nvPr/>
        </p:nvGrpSpPr>
        <p:grpSpPr>
          <a:xfrm>
            <a:off x="969264" y="2478024"/>
            <a:ext cx="10195560" cy="640080"/>
            <a:chOff x="969264" y="2478024"/>
            <a:chExt cx="10195560" cy="640080"/>
          </a:xfrm>
        </p:grpSpPr>
        <p:sp>
          <p:nvSpPr>
            <p:cNvPr id="12" name="Shape 12"/>
            <p:cNvSpPr/>
            <p:nvPr/>
          </p:nvSpPr>
          <p:spPr>
            <a:xfrm>
              <a:off x="969264" y="2478024"/>
              <a:ext cx="10195560" cy="640080"/>
            </a:xfrm>
            <a:prstGeom prst="roundRect">
              <a:avLst>
                <a:gd name="adj" fmla="val 857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3" name="Shape 13"/>
            <p:cNvSpPr/>
            <p:nvPr/>
          </p:nvSpPr>
          <p:spPr>
            <a:xfrm>
              <a:off x="1170432" y="2587752"/>
              <a:ext cx="658368" cy="420624"/>
            </a:xfrm>
            <a:prstGeom prst="roundRect">
              <a:avLst>
                <a:gd name="adj" fmla="val 16000"/>
              </a:avLst>
            </a:prstGeom>
            <a:solidFill>
              <a:srgbClr val="003E82"/>
            </a:solid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02</a:t>
              </a:r>
              <a:endParaRPr lang="en-US" sz="1300" dirty="0"/>
            </a:p>
          </p:txBody>
        </p:sp>
        <p:sp>
          <p:nvSpPr>
            <p:cNvPr id="14" name="Shape 14"/>
            <p:cNvSpPr txBox="1"/>
            <p:nvPr/>
          </p:nvSpPr>
          <p:spPr>
            <a:xfrm>
              <a:off x="2057400" y="2551176"/>
              <a:ext cx="3657600" cy="292608"/>
            </a:xfrm>
            <a:prstGeom prst="rect">
              <a:avLst/>
            </a:prstGeom>
            <a:noFill/>
            <a:ln>
              <a:noFill/>
            </a:ln>
          </p:spPr>
          <p:txBody>
            <a:bodyPr wrap="square" lIns="0" tIns="0" rIns="0" bIns="0" rtlCol="0" anchor="ctr">
              <a:noAutofit/>
            </a:bodyPr>
            <a:lstStyle/>
            <a:p>
              <a:pPr marL="0" indent="0" algn="l">
                <a:buNone/>
              </a:pPr>
              <a:r>
                <a:rPr lang="en-US" sz="1500" b="1" dirty="0">
                  <a:solidFill>
                    <a:srgbClr val="003E82"/>
                  </a:solidFill>
                  <a:latin typeface="Tahoma"/>
                  <a:ea typeface="Tahoma"/>
                  <a:cs typeface="Tahoma"/>
                </a:rPr>
                <a:t>The problem</a:t>
              </a:r>
              <a:endParaRPr lang="en-US" sz="1500" dirty="0"/>
            </a:p>
          </p:txBody>
        </p:sp>
        <p:sp>
          <p:nvSpPr>
            <p:cNvPr id="15" name="Shape 15"/>
            <p:cNvSpPr txBox="1"/>
            <p:nvPr/>
          </p:nvSpPr>
          <p:spPr>
            <a:xfrm>
              <a:off x="2057400" y="2825496"/>
              <a:ext cx="8686800" cy="237744"/>
            </a:xfrm>
            <a:prstGeom prst="rect">
              <a:avLst/>
            </a:prstGeom>
            <a:noFill/>
            <a:ln>
              <a:noFill/>
            </a:ln>
          </p:spPr>
          <p:txBody>
            <a:bodyPr wrap="square" lIns="0" tIns="0" rIns="0" bIns="0" rtlCol="0" anchor="ctr">
              <a:noAutofit/>
            </a:bodyPr>
            <a:lstStyle/>
            <a:p>
              <a:pPr marL="0" indent="0" algn="l">
                <a:buNone/>
              </a:pPr>
              <a:r>
                <a:rPr lang="en-US" sz="1150" dirty="0">
                  <a:solidFill>
                    <a:srgbClr val="44546A"/>
                  </a:solidFill>
                  <a:latin typeface="Tahoma"/>
                  <a:ea typeface="Tahoma"/>
                  <a:cs typeface="Tahoma"/>
                </a:rPr>
                <a:t>Research gaps, our question, and ABOT's objectives</a:t>
              </a:r>
              <a:endParaRPr lang="en-US" sz="1150" dirty="0"/>
            </a:p>
          </p:txBody>
        </p:sp>
      </p:grpSp>
      <p:grpSp>
        <p:nvGrpSpPr>
          <p:cNvPr id="16" name="Outline row 3"/>
          <p:cNvGrpSpPr/>
          <p:nvPr/>
        </p:nvGrpSpPr>
        <p:grpSpPr>
          <a:xfrm>
            <a:off x="969264" y="3264408"/>
            <a:ext cx="10195560" cy="640080"/>
            <a:chOff x="969264" y="3264408"/>
            <a:chExt cx="10195560" cy="640080"/>
          </a:xfrm>
        </p:grpSpPr>
        <p:sp>
          <p:nvSpPr>
            <p:cNvPr id="17" name="Shape 17"/>
            <p:cNvSpPr/>
            <p:nvPr/>
          </p:nvSpPr>
          <p:spPr>
            <a:xfrm>
              <a:off x="969264" y="3264408"/>
              <a:ext cx="10195560" cy="640080"/>
            </a:xfrm>
            <a:prstGeom prst="roundRect">
              <a:avLst>
                <a:gd name="adj" fmla="val 857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8" name="Shape 18"/>
            <p:cNvSpPr/>
            <p:nvPr/>
          </p:nvSpPr>
          <p:spPr>
            <a:xfrm>
              <a:off x="1170432" y="3374136"/>
              <a:ext cx="658368" cy="420624"/>
            </a:xfrm>
            <a:prstGeom prst="roundRect">
              <a:avLst>
                <a:gd name="adj" fmla="val 16000"/>
              </a:avLst>
            </a:prstGeom>
            <a:solidFill>
              <a:srgbClr val="003E82"/>
            </a:solid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03</a:t>
              </a:r>
              <a:endParaRPr lang="en-US" sz="1300" dirty="0"/>
            </a:p>
          </p:txBody>
        </p:sp>
        <p:sp>
          <p:nvSpPr>
            <p:cNvPr id="19" name="Shape 19"/>
            <p:cNvSpPr txBox="1"/>
            <p:nvPr/>
          </p:nvSpPr>
          <p:spPr>
            <a:xfrm>
              <a:off x="2057400" y="3337560"/>
              <a:ext cx="3657600" cy="292608"/>
            </a:xfrm>
            <a:prstGeom prst="rect">
              <a:avLst/>
            </a:prstGeom>
            <a:noFill/>
            <a:ln>
              <a:noFill/>
            </a:ln>
          </p:spPr>
          <p:txBody>
            <a:bodyPr wrap="square" lIns="0" tIns="0" rIns="0" bIns="0" rtlCol="0" anchor="ctr">
              <a:noAutofit/>
            </a:bodyPr>
            <a:lstStyle/>
            <a:p>
              <a:pPr marL="0" indent="0" algn="l">
                <a:buNone/>
              </a:pPr>
              <a:r>
                <a:rPr lang="en-US" sz="1500" b="1" dirty="0">
                  <a:solidFill>
                    <a:srgbClr val="003E82"/>
                  </a:solidFill>
                  <a:latin typeface="Tahoma"/>
                  <a:ea typeface="Tahoma"/>
                  <a:cs typeface="Tahoma"/>
                </a:rPr>
                <a:t>How we built it</a:t>
              </a:r>
              <a:endParaRPr lang="en-US" sz="1500" dirty="0"/>
            </a:p>
          </p:txBody>
        </p:sp>
        <p:sp>
          <p:nvSpPr>
            <p:cNvPr id="20" name="Shape 20"/>
            <p:cNvSpPr txBox="1"/>
            <p:nvPr/>
          </p:nvSpPr>
          <p:spPr>
            <a:xfrm>
              <a:off x="2057400" y="3611880"/>
              <a:ext cx="8686800" cy="237744"/>
            </a:xfrm>
            <a:prstGeom prst="rect">
              <a:avLst/>
            </a:prstGeom>
            <a:noFill/>
            <a:ln>
              <a:noFill/>
            </a:ln>
          </p:spPr>
          <p:txBody>
            <a:bodyPr wrap="square" lIns="0" tIns="0" rIns="0" bIns="0" rtlCol="0" anchor="ctr">
              <a:noAutofit/>
            </a:bodyPr>
            <a:lstStyle/>
            <a:p>
              <a:pPr marL="0" indent="0" algn="l">
                <a:buNone/>
              </a:pPr>
              <a:r>
                <a:rPr lang="en-US" sz="1150" dirty="0">
                  <a:solidFill>
                    <a:srgbClr val="44546A"/>
                  </a:solidFill>
                  <a:latin typeface="Tahoma"/>
                  <a:ea typeface="Tahoma"/>
                  <a:cs typeface="Tahoma"/>
                </a:rPr>
                <a:t>Methodology and the four-layer design</a:t>
              </a:r>
              <a:endParaRPr lang="en-US" sz="1150" dirty="0"/>
            </a:p>
          </p:txBody>
        </p:sp>
      </p:grpSp>
      <p:grpSp>
        <p:nvGrpSpPr>
          <p:cNvPr id="21" name="Outline row 4"/>
          <p:cNvGrpSpPr/>
          <p:nvPr/>
        </p:nvGrpSpPr>
        <p:grpSpPr>
          <a:xfrm>
            <a:off x="969264" y="4050792"/>
            <a:ext cx="10195560" cy="640080"/>
            <a:chOff x="969264" y="4050792"/>
            <a:chExt cx="10195560" cy="640080"/>
          </a:xfrm>
        </p:grpSpPr>
        <p:sp>
          <p:nvSpPr>
            <p:cNvPr id="22" name="Shape 22"/>
            <p:cNvSpPr/>
            <p:nvPr/>
          </p:nvSpPr>
          <p:spPr>
            <a:xfrm>
              <a:off x="969264" y="4050792"/>
              <a:ext cx="10195560" cy="640080"/>
            </a:xfrm>
            <a:prstGeom prst="roundRect">
              <a:avLst>
                <a:gd name="adj" fmla="val 857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3" name="Shape 23"/>
            <p:cNvSpPr/>
            <p:nvPr/>
          </p:nvSpPr>
          <p:spPr>
            <a:xfrm>
              <a:off x="1170432" y="4160520"/>
              <a:ext cx="658368" cy="420624"/>
            </a:xfrm>
            <a:prstGeom prst="roundRect">
              <a:avLst>
                <a:gd name="adj" fmla="val 16000"/>
              </a:avLst>
            </a:prstGeom>
            <a:solidFill>
              <a:srgbClr val="003E82"/>
            </a:solid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04</a:t>
              </a:r>
              <a:endParaRPr lang="en-US" sz="1300" dirty="0"/>
            </a:p>
          </p:txBody>
        </p:sp>
        <p:sp>
          <p:nvSpPr>
            <p:cNvPr id="24" name="Shape 24"/>
            <p:cNvSpPr txBox="1"/>
            <p:nvPr/>
          </p:nvSpPr>
          <p:spPr>
            <a:xfrm>
              <a:off x="2057400" y="4123944"/>
              <a:ext cx="3657600" cy="292608"/>
            </a:xfrm>
            <a:prstGeom prst="rect">
              <a:avLst/>
            </a:prstGeom>
            <a:noFill/>
            <a:ln>
              <a:noFill/>
            </a:ln>
          </p:spPr>
          <p:txBody>
            <a:bodyPr wrap="square" lIns="0" tIns="0" rIns="0" bIns="0" rtlCol="0" anchor="ctr">
              <a:noAutofit/>
            </a:bodyPr>
            <a:lstStyle/>
            <a:p>
              <a:pPr marL="0" indent="0" algn="l">
                <a:buNone/>
              </a:pPr>
              <a:r>
                <a:rPr lang="en-US" sz="1500" b="1" dirty="0">
                  <a:solidFill>
                    <a:srgbClr val="003E82"/>
                  </a:solidFill>
                  <a:latin typeface="Tahoma"/>
                  <a:ea typeface="Tahoma"/>
                  <a:cs typeface="Tahoma"/>
                </a:rPr>
                <a:t>What we found</a:t>
              </a:r>
              <a:endParaRPr lang="en-US" sz="1500" dirty="0"/>
            </a:p>
          </p:txBody>
        </p:sp>
        <p:sp>
          <p:nvSpPr>
            <p:cNvPr id="25" name="Shape 25"/>
            <p:cNvSpPr txBox="1"/>
            <p:nvPr/>
          </p:nvSpPr>
          <p:spPr>
            <a:xfrm>
              <a:off x="2057400" y="4398264"/>
              <a:ext cx="8686800" cy="237744"/>
            </a:xfrm>
            <a:prstGeom prst="rect">
              <a:avLst/>
            </a:prstGeom>
            <a:noFill/>
            <a:ln>
              <a:noFill/>
            </a:ln>
          </p:spPr>
          <p:txBody>
            <a:bodyPr wrap="square" lIns="0" tIns="0" rIns="0" bIns="0" rtlCol="0" anchor="ctr">
              <a:noAutofit/>
            </a:bodyPr>
            <a:lstStyle/>
            <a:p>
              <a:pPr marL="0" indent="0" algn="l">
                <a:buNone/>
              </a:pPr>
              <a:r>
                <a:rPr lang="en-US" sz="1150" dirty="0">
                  <a:solidFill>
                    <a:srgbClr val="44546A"/>
                  </a:solidFill>
                  <a:latin typeface="Tahoma"/>
                  <a:ea typeface="Tahoma"/>
                  <a:cs typeface="Tahoma"/>
                </a:rPr>
                <a:t>Six results from simulation</a:t>
              </a:r>
              <a:endParaRPr lang="en-US" sz="1150" dirty="0"/>
            </a:p>
          </p:txBody>
        </p:sp>
      </p:grpSp>
      <p:grpSp>
        <p:nvGrpSpPr>
          <p:cNvPr id="26" name="Outline row 5"/>
          <p:cNvGrpSpPr/>
          <p:nvPr/>
        </p:nvGrpSpPr>
        <p:grpSpPr>
          <a:xfrm>
            <a:off x="969264" y="4837176"/>
            <a:ext cx="10195560" cy="640080"/>
            <a:chOff x="969264" y="4837176"/>
            <a:chExt cx="10195560" cy="640080"/>
          </a:xfrm>
        </p:grpSpPr>
        <p:sp>
          <p:nvSpPr>
            <p:cNvPr id="27" name="Shape 27"/>
            <p:cNvSpPr/>
            <p:nvPr/>
          </p:nvSpPr>
          <p:spPr>
            <a:xfrm>
              <a:off x="969264" y="4837176"/>
              <a:ext cx="10195560" cy="640080"/>
            </a:xfrm>
            <a:prstGeom prst="roundRect">
              <a:avLst>
                <a:gd name="adj" fmla="val 857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8" name="Shape 28"/>
            <p:cNvSpPr/>
            <p:nvPr/>
          </p:nvSpPr>
          <p:spPr>
            <a:xfrm>
              <a:off x="1170432" y="4946904"/>
              <a:ext cx="658368" cy="420624"/>
            </a:xfrm>
            <a:prstGeom prst="roundRect">
              <a:avLst>
                <a:gd name="adj" fmla="val 16000"/>
              </a:avLst>
            </a:prstGeom>
            <a:solidFill>
              <a:srgbClr val="003E82"/>
            </a:solid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05</a:t>
              </a:r>
              <a:endParaRPr lang="en-US" sz="1300" dirty="0"/>
            </a:p>
          </p:txBody>
        </p:sp>
        <p:sp>
          <p:nvSpPr>
            <p:cNvPr id="29" name="Shape 29"/>
            <p:cNvSpPr txBox="1"/>
            <p:nvPr/>
          </p:nvSpPr>
          <p:spPr>
            <a:xfrm>
              <a:off x="2057400" y="4910328"/>
              <a:ext cx="3657600" cy="292608"/>
            </a:xfrm>
            <a:prstGeom prst="rect">
              <a:avLst/>
            </a:prstGeom>
            <a:noFill/>
            <a:ln>
              <a:noFill/>
            </a:ln>
          </p:spPr>
          <p:txBody>
            <a:bodyPr wrap="square" lIns="0" tIns="0" rIns="0" bIns="0" rtlCol="0" anchor="ctr">
              <a:noAutofit/>
            </a:bodyPr>
            <a:lstStyle/>
            <a:p>
              <a:pPr marL="0" indent="0" algn="l">
                <a:buNone/>
              </a:pPr>
              <a:r>
                <a:rPr lang="en-US" sz="1500" b="1" dirty="0">
                  <a:solidFill>
                    <a:srgbClr val="003E82"/>
                  </a:solidFill>
                  <a:latin typeface="Tahoma"/>
                  <a:ea typeface="Tahoma"/>
                  <a:cs typeface="Tahoma"/>
                </a:rPr>
                <a:t>What's next</a:t>
              </a:r>
              <a:endParaRPr lang="en-US" sz="1500" dirty="0"/>
            </a:p>
          </p:txBody>
        </p:sp>
        <p:sp>
          <p:nvSpPr>
            <p:cNvPr id="30" name="Shape 30"/>
            <p:cNvSpPr txBox="1"/>
            <p:nvPr/>
          </p:nvSpPr>
          <p:spPr>
            <a:xfrm>
              <a:off x="2057400" y="5184648"/>
              <a:ext cx="8686800" cy="237744"/>
            </a:xfrm>
            <a:prstGeom prst="rect">
              <a:avLst/>
            </a:prstGeom>
            <a:noFill/>
            <a:ln>
              <a:noFill/>
            </a:ln>
          </p:spPr>
          <p:txBody>
            <a:bodyPr wrap="square" lIns="0" tIns="0" rIns="0" bIns="0" rtlCol="0" anchor="ctr">
              <a:noAutofit/>
            </a:bodyPr>
            <a:lstStyle/>
            <a:p>
              <a:pPr marL="0" indent="0" algn="l">
                <a:buNone/>
              </a:pPr>
              <a:r>
                <a:rPr lang="en-US" sz="1150" dirty="0">
                  <a:solidFill>
                    <a:srgbClr val="44546A"/>
                  </a:solidFill>
                  <a:latin typeface="Tahoma"/>
                  <a:ea typeface="Tahoma"/>
                  <a:cs typeface="Tahoma"/>
                </a:rPr>
                <a:t>Limitations and future work</a:t>
              </a:r>
              <a:endParaRPr lang="en-US" sz="1150" dirty="0"/>
            </a:p>
          </p:txBody>
        </p:sp>
      </p:grpSp>
      <p:cxnSp>
        <p:nvCxnSpPr>
          <p:cNvPr id="31" name="Footer rule"/>
          <p:cNvCxnSpPr/>
          <p:nvPr/>
        </p:nvCxnSpPr>
        <p:spPr>
          <a:xfrm>
            <a:off x="502920" y="6199632"/>
            <a:ext cx="11155680" cy="0"/>
          </a:xfrm>
          <a:prstGeom prst="line">
            <a:avLst/>
          </a:prstGeom>
          <a:ln w="12700">
            <a:solidFill>
              <a:srgbClr val="003E82">
                <a:alpha val="25000"/>
              </a:srgbClr>
            </a:solidFill>
          </a:ln>
        </p:spPr>
      </p:cxnSp>
      <p:pic>
        <p:nvPicPr>
          <p:cNvPr id="32"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33"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4"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02</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nodeType="withEffect">
                                  <p:stCondLst>
                                    <p:cond delay="12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24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par>
                                <p:cTn id="14" presetID="10" presetClass="entr" presetSubtype="0" fill="hold" nodeType="withEffect">
                                  <p:stCondLst>
                                    <p:cond delay="36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50"/>
                                        <p:tgtEl>
                                          <p:spTgt spid="21"/>
                                        </p:tgtEl>
                                      </p:cBhvr>
                                    </p:animEffect>
                                  </p:childTnLst>
                                </p:cTn>
                              </p:par>
                              <p:par>
                                <p:cTn id="17" presetID="10" presetClass="entr" presetSubtype="0" fill="hold" nodeType="withEffect">
                                  <p:stCondLst>
                                    <p:cond delay="48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Motivation">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Disasters are rising, and so are the losses</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Introduction and motivation</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grpSp>
        <p:nvGrpSpPr>
          <p:cNvPr id="6" name="Chip Bangkok · severe flooding"/>
          <p:cNvGrpSpPr/>
          <p:nvPr/>
        </p:nvGrpSpPr>
        <p:grpSpPr>
          <a:xfrm>
            <a:off x="758952" y="1691640"/>
            <a:ext cx="2743200" cy="365760"/>
            <a:chOff x="758952" y="1691640"/>
            <a:chExt cx="2743200" cy="365760"/>
          </a:xfrm>
        </p:grpSpPr>
        <p:sp>
          <p:nvSpPr>
            <p:cNvPr id="7" name="Shape 7"/>
            <p:cNvSpPr/>
            <p:nvPr/>
          </p:nvSpPr>
          <p:spPr>
            <a:xfrm>
              <a:off x="758952" y="1691640"/>
              <a:ext cx="2743200" cy="365760"/>
            </a:xfrm>
            <a:prstGeom prst="roundRect">
              <a:avLst>
                <a:gd name="adj" fmla="val 50000"/>
              </a:avLst>
            </a:prstGeom>
            <a:solidFill>
              <a:srgbClr val="FFFFFF"/>
            </a:solidFill>
            <a:ln w="12700">
              <a:solidFill>
                <a:srgbClr val="D3EAF6"/>
              </a:solidFill>
            </a:ln>
          </p:spPr>
        </p:sp>
        <p:sp>
          <p:nvSpPr>
            <p:cNvPr id="8" name="Shape 8"/>
            <p:cNvSpPr/>
            <p:nvPr/>
          </p:nvSpPr>
          <p:spPr>
            <a:xfrm>
              <a:off x="873252" y="1805940"/>
              <a:ext cx="137160" cy="137160"/>
            </a:xfrm>
            <a:prstGeom prst="ellipse">
              <a:avLst/>
            </a:prstGeom>
            <a:solidFill>
              <a:srgbClr val="2A78D6"/>
            </a:solidFill>
            <a:ln>
              <a:noFill/>
            </a:ln>
          </p:spPr>
        </p:sp>
        <p:sp>
          <p:nvSpPr>
            <p:cNvPr id="9" name="Shape 9"/>
            <p:cNvSpPr txBox="1"/>
            <p:nvPr/>
          </p:nvSpPr>
          <p:spPr>
            <a:xfrm>
              <a:off x="1078992" y="1691640"/>
              <a:ext cx="2377440" cy="365760"/>
            </a:xfrm>
            <a:prstGeom prst="rect">
              <a:avLst/>
            </a:prstGeom>
            <a:noFill/>
            <a:ln>
              <a:noFill/>
            </a:ln>
          </p:spPr>
          <p:txBody>
            <a:bodyPr wrap="square" lIns="0" tIns="0" rIns="0" bIns="0" rtlCol="0" anchor="ctr">
              <a:noAutofit/>
            </a:bodyPr>
            <a:lstStyle/>
            <a:p>
              <a:pPr marL="0" indent="0" algn="l">
                <a:buNone/>
              </a:pPr>
              <a:r>
                <a:rPr lang="en-US" sz="1200" dirty="0">
                  <a:solidFill>
                    <a:srgbClr val="08325F"/>
                  </a:solidFill>
                  <a:latin typeface="Tahoma"/>
                  <a:ea typeface="Tahoma"/>
                  <a:cs typeface="Tahoma"/>
                </a:rPr>
                <a:t>Bangkok · severe flooding</a:t>
              </a:r>
              <a:endParaRPr lang="en-US" sz="1200" dirty="0"/>
            </a:p>
          </p:txBody>
        </p:sp>
      </p:grpSp>
      <p:grpSp>
        <p:nvGrpSpPr>
          <p:cNvPr id="10" name="Chip Kashmir · forest fires in winter"/>
          <p:cNvGrpSpPr/>
          <p:nvPr/>
        </p:nvGrpSpPr>
        <p:grpSpPr>
          <a:xfrm>
            <a:off x="3657600" y="1691640"/>
            <a:ext cx="3200400" cy="365760"/>
            <a:chOff x="3657600" y="1691640"/>
            <a:chExt cx="3200400" cy="365760"/>
          </a:xfrm>
        </p:grpSpPr>
        <p:sp>
          <p:nvSpPr>
            <p:cNvPr id="11" name="Shape 11"/>
            <p:cNvSpPr/>
            <p:nvPr/>
          </p:nvSpPr>
          <p:spPr>
            <a:xfrm>
              <a:off x="3657600" y="1691640"/>
              <a:ext cx="3200400" cy="365760"/>
            </a:xfrm>
            <a:prstGeom prst="roundRect">
              <a:avLst>
                <a:gd name="adj" fmla="val 50000"/>
              </a:avLst>
            </a:prstGeom>
            <a:solidFill>
              <a:srgbClr val="FFFFFF"/>
            </a:solidFill>
            <a:ln w="12700">
              <a:solidFill>
                <a:srgbClr val="D3EAF6"/>
              </a:solidFill>
            </a:ln>
          </p:spPr>
        </p:sp>
        <p:sp>
          <p:nvSpPr>
            <p:cNvPr id="12" name="Shape 12"/>
            <p:cNvSpPr/>
            <p:nvPr/>
          </p:nvSpPr>
          <p:spPr>
            <a:xfrm>
              <a:off x="3771900" y="1805940"/>
              <a:ext cx="137160" cy="137160"/>
            </a:xfrm>
            <a:prstGeom prst="ellipse">
              <a:avLst/>
            </a:prstGeom>
            <a:solidFill>
              <a:srgbClr val="EB6834"/>
            </a:solidFill>
            <a:ln>
              <a:noFill/>
            </a:ln>
          </p:spPr>
        </p:sp>
        <p:sp>
          <p:nvSpPr>
            <p:cNvPr id="13" name="Shape 13"/>
            <p:cNvSpPr txBox="1"/>
            <p:nvPr/>
          </p:nvSpPr>
          <p:spPr>
            <a:xfrm>
              <a:off x="3977640" y="1691640"/>
              <a:ext cx="2834640" cy="365760"/>
            </a:xfrm>
            <a:prstGeom prst="rect">
              <a:avLst/>
            </a:prstGeom>
            <a:noFill/>
            <a:ln>
              <a:noFill/>
            </a:ln>
          </p:spPr>
          <p:txBody>
            <a:bodyPr wrap="square" lIns="0" tIns="0" rIns="0" bIns="0" rtlCol="0" anchor="ctr">
              <a:noAutofit/>
            </a:bodyPr>
            <a:lstStyle/>
            <a:p>
              <a:pPr marL="0" indent="0" algn="l">
                <a:buNone/>
              </a:pPr>
              <a:r>
                <a:rPr lang="en-US" sz="1200" dirty="0">
                  <a:solidFill>
                    <a:srgbClr val="08325F"/>
                  </a:solidFill>
                  <a:latin typeface="Tahoma"/>
                  <a:ea typeface="Tahoma"/>
                  <a:cs typeface="Tahoma"/>
                </a:rPr>
                <a:t>Kashmir · forest fires in winter</a:t>
              </a:r>
              <a:endParaRPr lang="en-US" sz="1200" dirty="0"/>
            </a:p>
          </p:txBody>
        </p:sp>
      </p:grpSp>
      <p:grpSp>
        <p:nvGrpSpPr>
          <p:cNvPr id="14" name="Stat 5×"/>
          <p:cNvGrpSpPr/>
          <p:nvPr/>
        </p:nvGrpSpPr>
        <p:grpSpPr>
          <a:xfrm>
            <a:off x="758952" y="2286000"/>
            <a:ext cx="3355848" cy="2697480"/>
            <a:chOff x="758952" y="2286000"/>
            <a:chExt cx="3355848" cy="2697480"/>
          </a:xfrm>
        </p:grpSpPr>
        <p:sp>
          <p:nvSpPr>
            <p:cNvPr id="15" name="Shape 15"/>
            <p:cNvSpPr/>
            <p:nvPr/>
          </p:nvSpPr>
          <p:spPr>
            <a:xfrm>
              <a:off x="758952" y="2286000"/>
              <a:ext cx="3355848" cy="2697480"/>
            </a:xfrm>
            <a:prstGeom prst="roundRect">
              <a:avLst>
                <a:gd name="adj" fmla="val 305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6" name="Shape 16"/>
            <p:cNvSpPr txBox="1"/>
            <p:nvPr/>
          </p:nvSpPr>
          <p:spPr>
            <a:xfrm>
              <a:off x="1078992" y="2450592"/>
              <a:ext cx="2743200" cy="960120"/>
            </a:xfrm>
            <a:prstGeom prst="rect">
              <a:avLst/>
            </a:prstGeom>
            <a:noFill/>
            <a:ln>
              <a:noFill/>
            </a:ln>
          </p:spPr>
          <p:txBody>
            <a:bodyPr wrap="square" lIns="0" tIns="0" rIns="0" bIns="0" rtlCol="0" anchor="ctr">
              <a:noAutofit/>
            </a:bodyPr>
            <a:lstStyle/>
            <a:p>
              <a:pPr marL="0" indent="0" algn="l">
                <a:buNone/>
              </a:pPr>
              <a:r>
                <a:rPr lang="en-US" sz="5400" b="1" dirty="0">
                  <a:solidFill>
                    <a:srgbClr val="003E82"/>
                  </a:solidFill>
                  <a:latin typeface="Tahoma"/>
                  <a:ea typeface="Tahoma"/>
                  <a:cs typeface="Tahoma"/>
                </a:rPr>
                <a:t>5×</a:t>
              </a:r>
              <a:endParaRPr lang="en-US" sz="5400" dirty="0"/>
            </a:p>
          </p:txBody>
        </p:sp>
        <p:sp>
          <p:nvSpPr>
            <p:cNvPr id="17" name="Shape 17"/>
            <p:cNvSpPr txBox="1"/>
            <p:nvPr/>
          </p:nvSpPr>
          <p:spPr>
            <a:xfrm>
              <a:off x="1078992" y="3474720"/>
              <a:ext cx="2743200" cy="868680"/>
            </a:xfrm>
            <a:prstGeom prst="rect">
              <a:avLst/>
            </a:prstGeom>
            <a:noFill/>
            <a:ln>
              <a:noFill/>
            </a:ln>
          </p:spPr>
          <p:txBody>
            <a:bodyPr wrap="square" lIns="0" tIns="0" rIns="0" bIns="0" rtlCol="0" anchor="t">
              <a:noAutofit/>
            </a:bodyPr>
            <a:lstStyle/>
            <a:p>
              <a:pPr marL="0" indent="0" algn="l">
                <a:buNone/>
              </a:pPr>
              <a:r>
                <a:rPr lang="en-US" sz="1450" b="1" dirty="0">
                  <a:solidFill>
                    <a:srgbClr val="08325F"/>
                  </a:solidFill>
                  <a:latin typeface="Tahoma"/>
                  <a:ea typeface="Tahoma"/>
                  <a:cs typeface="Tahoma"/>
                </a:rPr>
                <a:t>more reported weather- and climate-related disasters</a:t>
              </a:r>
              <a:endParaRPr lang="en-US" sz="1450" dirty="0"/>
            </a:p>
          </p:txBody>
        </p:sp>
        <p:sp>
          <p:nvSpPr>
            <p:cNvPr id="18" name="Shape 18"/>
            <p:cNvSpPr txBox="1"/>
            <p:nvPr/>
          </p:nvSpPr>
          <p:spPr>
            <a:xfrm>
              <a:off x="1078992" y="4434840"/>
              <a:ext cx="2743200" cy="320040"/>
            </a:xfrm>
            <a:prstGeom prst="rect">
              <a:avLst/>
            </a:prstGeom>
            <a:noFill/>
            <a:ln>
              <a:noFill/>
            </a:ln>
          </p:spPr>
          <p:txBody>
            <a:bodyPr wrap="square" lIns="0" tIns="0" rIns="0" bIns="0" rtlCol="0" anchor="t">
              <a:noAutofit/>
            </a:bodyPr>
            <a:lstStyle/>
            <a:p>
              <a:pPr marL="0" indent="0" algn="l">
                <a:buNone/>
              </a:pPr>
              <a:r>
                <a:rPr lang="en-US" sz="1150" dirty="0">
                  <a:solidFill>
                    <a:srgbClr val="66788A"/>
                  </a:solidFill>
                  <a:latin typeface="Tahoma"/>
                  <a:ea typeface="Tahoma"/>
                  <a:cs typeface="Tahoma"/>
                </a:rPr>
                <a:t>1970 → 2019</a:t>
              </a:r>
              <a:endParaRPr lang="en-US" sz="1150" dirty="0"/>
            </a:p>
          </p:txBody>
        </p:sp>
      </p:grpSp>
      <p:grpSp>
        <p:nvGrpSpPr>
          <p:cNvPr id="19" name="Stat ≈3×"/>
          <p:cNvGrpSpPr/>
          <p:nvPr/>
        </p:nvGrpSpPr>
        <p:grpSpPr>
          <a:xfrm>
            <a:off x="4416552" y="2286000"/>
            <a:ext cx="3355848" cy="2697480"/>
            <a:chOff x="4416552" y="2286000"/>
            <a:chExt cx="3355848" cy="2697480"/>
          </a:xfrm>
        </p:grpSpPr>
        <p:sp>
          <p:nvSpPr>
            <p:cNvPr id="20" name="Shape 20"/>
            <p:cNvSpPr/>
            <p:nvPr/>
          </p:nvSpPr>
          <p:spPr>
            <a:xfrm>
              <a:off x="4416552" y="2286000"/>
              <a:ext cx="3355848" cy="2697480"/>
            </a:xfrm>
            <a:prstGeom prst="roundRect">
              <a:avLst>
                <a:gd name="adj" fmla="val 305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1" name="Shape 21"/>
            <p:cNvSpPr txBox="1"/>
            <p:nvPr/>
          </p:nvSpPr>
          <p:spPr>
            <a:xfrm>
              <a:off x="4736592" y="2450592"/>
              <a:ext cx="2743200" cy="960120"/>
            </a:xfrm>
            <a:prstGeom prst="rect">
              <a:avLst/>
            </a:prstGeom>
            <a:noFill/>
            <a:ln>
              <a:noFill/>
            </a:ln>
          </p:spPr>
          <p:txBody>
            <a:bodyPr wrap="square" lIns="0" tIns="0" rIns="0" bIns="0" rtlCol="0" anchor="ctr">
              <a:noAutofit/>
            </a:bodyPr>
            <a:lstStyle/>
            <a:p>
              <a:pPr marL="0" indent="0" algn="l">
                <a:buNone/>
              </a:pPr>
              <a:r>
                <a:rPr lang="en-US" sz="5400" b="1" dirty="0">
                  <a:solidFill>
                    <a:srgbClr val="00A4C8"/>
                  </a:solidFill>
                  <a:latin typeface="Tahoma"/>
                  <a:ea typeface="Tahoma"/>
                  <a:cs typeface="Tahoma"/>
                </a:rPr>
                <a:t>≈3×</a:t>
              </a:r>
              <a:endParaRPr lang="en-US" sz="5400" dirty="0"/>
            </a:p>
          </p:txBody>
        </p:sp>
        <p:sp>
          <p:nvSpPr>
            <p:cNvPr id="22" name="Shape 22"/>
            <p:cNvSpPr txBox="1"/>
            <p:nvPr/>
          </p:nvSpPr>
          <p:spPr>
            <a:xfrm>
              <a:off x="4736592" y="3474720"/>
              <a:ext cx="2743200" cy="868680"/>
            </a:xfrm>
            <a:prstGeom prst="rect">
              <a:avLst/>
            </a:prstGeom>
            <a:noFill/>
            <a:ln>
              <a:noFill/>
            </a:ln>
          </p:spPr>
          <p:txBody>
            <a:bodyPr wrap="square" lIns="0" tIns="0" rIns="0" bIns="0" rtlCol="0" anchor="t">
              <a:noAutofit/>
            </a:bodyPr>
            <a:lstStyle/>
            <a:p>
              <a:pPr marL="0" indent="0" algn="l">
                <a:buNone/>
              </a:pPr>
              <a:r>
                <a:rPr lang="en-US" sz="1450" b="1" dirty="0">
                  <a:solidFill>
                    <a:srgbClr val="08325F"/>
                  </a:solidFill>
                  <a:latin typeface="Tahoma"/>
                  <a:ea typeface="Tahoma"/>
                  <a:cs typeface="Tahoma"/>
                </a:rPr>
                <a:t>fewer deaths, thanks to better forecasts and early warnings</a:t>
              </a:r>
              <a:endParaRPr lang="en-US" sz="1450" dirty="0"/>
            </a:p>
          </p:txBody>
        </p:sp>
        <p:sp>
          <p:nvSpPr>
            <p:cNvPr id="23" name="Shape 23"/>
            <p:cNvSpPr txBox="1"/>
            <p:nvPr/>
          </p:nvSpPr>
          <p:spPr>
            <a:xfrm>
              <a:off x="4736592" y="4434840"/>
              <a:ext cx="2743200" cy="320040"/>
            </a:xfrm>
            <a:prstGeom prst="rect">
              <a:avLst/>
            </a:prstGeom>
            <a:noFill/>
            <a:ln>
              <a:noFill/>
            </a:ln>
          </p:spPr>
          <p:txBody>
            <a:bodyPr wrap="square" lIns="0" tIns="0" rIns="0" bIns="0" rtlCol="0" anchor="t">
              <a:noAutofit/>
            </a:bodyPr>
            <a:lstStyle/>
            <a:p>
              <a:pPr marL="0" indent="0" algn="l">
                <a:buNone/>
              </a:pPr>
              <a:r>
                <a:rPr lang="en-US" sz="1150" dirty="0">
                  <a:solidFill>
                    <a:srgbClr val="66788A"/>
                  </a:solidFill>
                  <a:latin typeface="Tahoma"/>
                  <a:ea typeface="Tahoma"/>
                  <a:cs typeface="Tahoma"/>
                </a:rPr>
                <a:t>1970s → 2010s</a:t>
              </a:r>
              <a:endParaRPr lang="en-US" sz="1150" dirty="0"/>
            </a:p>
          </p:txBody>
        </p:sp>
      </p:grpSp>
      <p:grpSp>
        <p:nvGrpSpPr>
          <p:cNvPr id="24" name="Stat 7×"/>
          <p:cNvGrpSpPr/>
          <p:nvPr/>
        </p:nvGrpSpPr>
        <p:grpSpPr>
          <a:xfrm>
            <a:off x="8074152" y="2286000"/>
            <a:ext cx="3355848" cy="2697480"/>
            <a:chOff x="8074152" y="2286000"/>
            <a:chExt cx="3355848" cy="2697480"/>
          </a:xfrm>
        </p:grpSpPr>
        <p:sp>
          <p:nvSpPr>
            <p:cNvPr id="25" name="Shape 25"/>
            <p:cNvSpPr/>
            <p:nvPr/>
          </p:nvSpPr>
          <p:spPr>
            <a:xfrm>
              <a:off x="8074152" y="2286000"/>
              <a:ext cx="3355848" cy="2697480"/>
            </a:xfrm>
            <a:prstGeom prst="roundRect">
              <a:avLst>
                <a:gd name="adj" fmla="val 305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6" name="Shape 26"/>
            <p:cNvSpPr txBox="1"/>
            <p:nvPr/>
          </p:nvSpPr>
          <p:spPr>
            <a:xfrm>
              <a:off x="8394192" y="2450592"/>
              <a:ext cx="2743200" cy="960120"/>
            </a:xfrm>
            <a:prstGeom prst="rect">
              <a:avLst/>
            </a:prstGeom>
            <a:noFill/>
            <a:ln>
              <a:noFill/>
            </a:ln>
          </p:spPr>
          <p:txBody>
            <a:bodyPr wrap="square" lIns="0" tIns="0" rIns="0" bIns="0" rtlCol="0" anchor="ctr">
              <a:noAutofit/>
            </a:bodyPr>
            <a:lstStyle/>
            <a:p>
              <a:pPr marL="0" indent="0" algn="l">
                <a:buNone/>
              </a:pPr>
              <a:r>
                <a:rPr lang="en-US" sz="5400" b="1" dirty="0">
                  <a:solidFill>
                    <a:srgbClr val="FF9100"/>
                  </a:solidFill>
                  <a:latin typeface="Tahoma"/>
                  <a:ea typeface="Tahoma"/>
                  <a:cs typeface="Tahoma"/>
                </a:rPr>
                <a:t>7×</a:t>
              </a:r>
              <a:endParaRPr lang="en-US" sz="5400" dirty="0"/>
            </a:p>
          </p:txBody>
        </p:sp>
        <p:sp>
          <p:nvSpPr>
            <p:cNvPr id="27" name="Shape 27"/>
            <p:cNvSpPr txBox="1"/>
            <p:nvPr/>
          </p:nvSpPr>
          <p:spPr>
            <a:xfrm>
              <a:off x="8394192" y="3474720"/>
              <a:ext cx="2743200" cy="868680"/>
            </a:xfrm>
            <a:prstGeom prst="rect">
              <a:avLst/>
            </a:prstGeom>
            <a:noFill/>
            <a:ln>
              <a:noFill/>
            </a:ln>
          </p:spPr>
          <p:txBody>
            <a:bodyPr wrap="square" lIns="0" tIns="0" rIns="0" bIns="0" rtlCol="0" anchor="t">
              <a:noAutofit/>
            </a:bodyPr>
            <a:lstStyle/>
            <a:p>
              <a:pPr marL="0" indent="0" algn="l">
                <a:buNone/>
              </a:pPr>
              <a:r>
                <a:rPr lang="en-US" sz="1450" b="1" dirty="0">
                  <a:solidFill>
                    <a:srgbClr val="08325F"/>
                  </a:solidFill>
                  <a:latin typeface="Tahoma"/>
                  <a:ea typeface="Tahoma"/>
                  <a:cs typeface="Tahoma"/>
                </a:rPr>
                <a:t>higher reported economic losses</a:t>
              </a:r>
              <a:endParaRPr lang="en-US" sz="1450" dirty="0"/>
            </a:p>
          </p:txBody>
        </p:sp>
        <p:sp>
          <p:nvSpPr>
            <p:cNvPr id="28" name="Shape 28"/>
            <p:cNvSpPr txBox="1"/>
            <p:nvPr/>
          </p:nvSpPr>
          <p:spPr>
            <a:xfrm>
              <a:off x="8394192" y="4434840"/>
              <a:ext cx="2743200" cy="320040"/>
            </a:xfrm>
            <a:prstGeom prst="rect">
              <a:avLst/>
            </a:prstGeom>
            <a:noFill/>
            <a:ln>
              <a:noFill/>
            </a:ln>
          </p:spPr>
          <p:txBody>
            <a:bodyPr wrap="square" lIns="0" tIns="0" rIns="0" bIns="0" rtlCol="0" anchor="t">
              <a:noAutofit/>
            </a:bodyPr>
            <a:lstStyle/>
            <a:p>
              <a:pPr marL="0" indent="0" algn="l">
                <a:buNone/>
              </a:pPr>
              <a:r>
                <a:rPr lang="en-US" sz="1150" dirty="0">
                  <a:solidFill>
                    <a:srgbClr val="66788A"/>
                  </a:solidFill>
                  <a:latin typeface="Tahoma"/>
                  <a:ea typeface="Tahoma"/>
                  <a:cs typeface="Tahoma"/>
                </a:rPr>
                <a:t>1970s → 2010s</a:t>
              </a:r>
              <a:endParaRPr lang="en-US" sz="1150" dirty="0"/>
            </a:p>
          </p:txBody>
        </p:sp>
      </p:grpSp>
      <p:sp>
        <p:nvSpPr>
          <p:cNvPr id="29" name="Takeaway"/>
          <p:cNvSpPr/>
          <p:nvPr/>
        </p:nvSpPr>
        <p:spPr>
          <a:xfrm>
            <a:off x="758952" y="5138928"/>
            <a:ext cx="10671048" cy="548640"/>
          </a:xfrm>
          <a:prstGeom prst="roundRect">
            <a:avLst>
              <a:gd name="adj" fmla="val 13333"/>
            </a:avLst>
          </a:prstGeom>
          <a:solidFill>
            <a:srgbClr val="EAF7FF"/>
          </a:solidFill>
          <a:ln w="12700">
            <a:solidFill>
              <a:srgbClr val="C7EAFE"/>
            </a:solidFill>
          </a:ln>
        </p:spPr>
        <p:txBody>
          <a:bodyPr wrap="square" lIns="228600" tIns="0" rIns="182880" bIns="0" rtlCol="0" anchor="ctr">
            <a:noAutofit/>
          </a:bodyPr>
          <a:lstStyle/>
          <a:p>
            <a:pPr marL="0" indent="0" algn="l">
              <a:buNone/>
            </a:pPr>
            <a:r>
              <a:rPr lang="en-US" sz="1400" b="1" dirty="0">
                <a:solidFill>
                  <a:srgbClr val="003E82"/>
                </a:solidFill>
                <a:latin typeface="Tahoma"/>
                <a:ea typeface="Tahoma"/>
                <a:cs typeface="Tahoma"/>
              </a:rPr>
              <a:t>The hazard is only part of the problem: what matters just as much is how well our systems withstand it.</a:t>
            </a:r>
            <a:endParaRPr lang="en-US" sz="1400" dirty="0"/>
          </a:p>
        </p:txBody>
      </p:sp>
      <p:sp>
        <p:nvSpPr>
          <p:cNvPr id="30" name="Source"/>
          <p:cNvSpPr txBox="1"/>
          <p:nvPr/>
        </p:nvSpPr>
        <p:spPr>
          <a:xfrm>
            <a:off x="758952" y="5760720"/>
            <a:ext cx="10671048" cy="274320"/>
          </a:xfrm>
          <a:prstGeom prst="rect">
            <a:avLst/>
          </a:prstGeom>
          <a:noFill/>
          <a:ln>
            <a:noFill/>
          </a:ln>
        </p:spPr>
        <p:txBody>
          <a:bodyPr wrap="square" lIns="0" tIns="0" rIns="0" bIns="0" rtlCol="0" anchor="ctr">
            <a:noAutofit/>
          </a:bodyPr>
          <a:lstStyle/>
          <a:p>
            <a:pPr marL="0" indent="0" algn="l">
              <a:buNone/>
            </a:pPr>
            <a:r>
              <a:rPr lang="en-US" sz="900" dirty="0">
                <a:solidFill>
                  <a:srgbClr val="66788A"/>
                </a:solidFill>
                <a:latin typeface="Tahoma"/>
                <a:ea typeface="Tahoma"/>
                <a:cs typeface="Tahoma"/>
              </a:rPr>
              <a:t>Source: WMO, Atlas of Mortality and Economic Losses from Weather, Climate and Water Extremes (1970–2019), 2021</a:t>
            </a:r>
            <a:endParaRPr lang="en-US" sz="900" dirty="0"/>
          </a:p>
        </p:txBody>
      </p:sp>
      <p:cxnSp>
        <p:nvCxnSpPr>
          <p:cNvPr id="31" name="Footer rule"/>
          <p:cNvCxnSpPr/>
          <p:nvPr/>
        </p:nvCxnSpPr>
        <p:spPr>
          <a:xfrm>
            <a:off x="502920" y="6199632"/>
            <a:ext cx="11155680" cy="0"/>
          </a:xfrm>
          <a:prstGeom prst="line">
            <a:avLst/>
          </a:prstGeom>
          <a:ln w="12700">
            <a:solidFill>
              <a:srgbClr val="003E82">
                <a:alpha val="25000"/>
              </a:srgbClr>
            </a:solidFill>
          </a:ln>
        </p:spPr>
      </p:cxnSp>
      <p:pic>
        <p:nvPicPr>
          <p:cNvPr id="32"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33"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4"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03</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5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5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5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When disaster strikes">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Question"/>
          <p:cNvSpPr txBox="1"/>
          <p:nvPr/>
        </p:nvSpPr>
        <p:spPr>
          <a:xfrm>
            <a:off x="777240" y="1097280"/>
            <a:ext cx="5943600" cy="1508760"/>
          </a:xfrm>
          <a:prstGeom prst="rect">
            <a:avLst/>
          </a:prstGeom>
          <a:noFill/>
          <a:ln>
            <a:noFill/>
          </a:ln>
        </p:spPr>
        <p:txBody>
          <a:bodyPr wrap="square" lIns="0" tIns="0" rIns="0" bIns="0" rtlCol="0" anchor="ctr">
            <a:noAutofit/>
          </a:bodyPr>
          <a:lstStyle/>
          <a:p>
            <a:pPr marL="0" indent="0" algn="l">
              <a:lnSpc>
                <a:spcPct val="95000"/>
              </a:lnSpc>
              <a:buNone/>
            </a:pPr>
            <a:r>
              <a:rPr lang="en-US" sz="3400" b="1" dirty="0">
                <a:solidFill>
                  <a:srgbClr val="FFFFFF"/>
                </a:solidFill>
                <a:latin typeface="Tahoma"/>
                <a:ea typeface="Tahoma"/>
                <a:cs typeface="Tahoma"/>
              </a:rPr>
              <a:t>What happens when the disaster strikes anyway?</a:t>
            </a:r>
            <a:endParaRPr lang="en-US" sz="3400" dirty="0"/>
          </a:p>
        </p:txBody>
      </p:sp>
      <p:sp>
        <p:nvSpPr>
          <p:cNvPr id="4" name="Tower"/>
          <p:cNvSpPr/>
          <p:nvPr/>
        </p:nvSpPr>
        <p:spPr>
          <a:xfrm>
            <a:off x="6775704" y="1417320"/>
            <a:ext cx="1353312" cy="2697480"/>
          </a:xfrm>
          <a:prstGeom prst="triangle">
            <a:avLst/>
          </a:prstGeom>
          <a:noFill/>
          <a:ln w="28575">
            <a:solidFill>
              <a:srgbClr val="FFFFFF"/>
            </a:solidFill>
          </a:ln>
        </p:spPr>
      </p:sp>
      <p:cxnSp>
        <p:nvCxnSpPr>
          <p:cNvPr id="5" name="Line 5"/>
          <p:cNvCxnSpPr/>
          <p:nvPr/>
        </p:nvCxnSpPr>
        <p:spPr>
          <a:xfrm>
            <a:off x="7211516" y="2377440"/>
            <a:ext cx="481687" cy="0"/>
          </a:xfrm>
          <a:prstGeom prst="line">
            <a:avLst/>
          </a:prstGeom>
          <a:ln w="19050">
            <a:solidFill>
              <a:srgbClr val="FFFFFF"/>
            </a:solidFill>
          </a:ln>
        </p:spPr>
      </p:cxnSp>
      <p:cxnSp>
        <p:nvCxnSpPr>
          <p:cNvPr id="6" name="Line 6"/>
          <p:cNvCxnSpPr/>
          <p:nvPr/>
        </p:nvCxnSpPr>
        <p:spPr>
          <a:xfrm>
            <a:off x="7005079" y="3200400"/>
            <a:ext cx="894562" cy="0"/>
          </a:xfrm>
          <a:prstGeom prst="line">
            <a:avLst/>
          </a:prstGeom>
          <a:ln w="19050">
            <a:solidFill>
              <a:srgbClr val="FFFFFF"/>
            </a:solidFill>
          </a:ln>
        </p:spPr>
      </p:cxnSp>
      <p:cxnSp>
        <p:nvCxnSpPr>
          <p:cNvPr id="7" name="Line 7"/>
          <p:cNvCxnSpPr/>
          <p:nvPr/>
        </p:nvCxnSpPr>
        <p:spPr>
          <a:xfrm>
            <a:off x="7211516" y="2377440"/>
            <a:ext cx="688125" cy="822960"/>
          </a:xfrm>
          <a:prstGeom prst="line">
            <a:avLst/>
          </a:prstGeom>
          <a:ln w="15875">
            <a:solidFill>
              <a:srgbClr val="FFFFFF"/>
            </a:solidFill>
          </a:ln>
        </p:spPr>
      </p:cxnSp>
      <p:cxnSp>
        <p:nvCxnSpPr>
          <p:cNvPr id="8" name="Line 8"/>
          <p:cNvCxnSpPr/>
          <p:nvPr/>
        </p:nvCxnSpPr>
        <p:spPr>
          <a:xfrm flipH="1">
            <a:off x="7005079" y="2377440"/>
            <a:ext cx="688125" cy="822960"/>
          </a:xfrm>
          <a:prstGeom prst="line">
            <a:avLst/>
          </a:prstGeom>
          <a:ln w="15875">
            <a:solidFill>
              <a:srgbClr val="FFFFFF"/>
            </a:solidFill>
          </a:ln>
        </p:spPr>
      </p:cxnSp>
      <p:sp>
        <p:nvSpPr>
          <p:cNvPr id="9" name="Shape 9"/>
          <p:cNvSpPr/>
          <p:nvPr/>
        </p:nvSpPr>
        <p:spPr>
          <a:xfrm>
            <a:off x="7370064" y="1243584"/>
            <a:ext cx="164592" cy="164592"/>
          </a:xfrm>
          <a:prstGeom prst="ellipse">
            <a:avLst/>
          </a:prstGeom>
          <a:solidFill>
            <a:srgbClr val="FFFFFF"/>
          </a:solidFill>
          <a:ln>
            <a:noFill/>
          </a:ln>
        </p:spPr>
      </p:sp>
      <p:sp>
        <p:nvSpPr>
          <p:cNvPr id="10" name="Signal right"/>
          <p:cNvSpPr/>
          <p:nvPr/>
        </p:nvSpPr>
        <p:spPr>
          <a:xfrm>
            <a:off x="7040880" y="914400"/>
            <a:ext cx="822960" cy="822960"/>
          </a:xfrm>
          <a:prstGeom prst="arc">
            <a:avLst>
              <a:gd name="adj1" fmla="val 18900000"/>
              <a:gd name="adj2" fmla="val 2700000"/>
            </a:avLst>
          </a:prstGeom>
          <a:noFill/>
          <a:ln w="25400">
            <a:solidFill>
              <a:srgbClr val="00B7EA">
                <a:alpha val="80000"/>
              </a:srgbClr>
            </a:solidFill>
          </a:ln>
        </p:spPr>
      </p:sp>
      <p:sp>
        <p:nvSpPr>
          <p:cNvPr id="11" name="Signal left"/>
          <p:cNvSpPr/>
          <p:nvPr/>
        </p:nvSpPr>
        <p:spPr>
          <a:xfrm>
            <a:off x="7040880" y="914400"/>
            <a:ext cx="822960" cy="822960"/>
          </a:xfrm>
          <a:prstGeom prst="arc">
            <a:avLst>
              <a:gd name="adj1" fmla="val 8100000"/>
              <a:gd name="adj2" fmla="val 13500000"/>
            </a:avLst>
          </a:prstGeom>
          <a:noFill/>
          <a:ln w="25400">
            <a:solidFill>
              <a:srgbClr val="00B7EA">
                <a:alpha val="80000"/>
              </a:srgbClr>
            </a:solidFill>
          </a:ln>
        </p:spPr>
      </p:sp>
      <p:sp>
        <p:nvSpPr>
          <p:cNvPr id="12" name="Signal right"/>
          <p:cNvSpPr/>
          <p:nvPr/>
        </p:nvSpPr>
        <p:spPr>
          <a:xfrm>
            <a:off x="6766560" y="640080"/>
            <a:ext cx="1371600" cy="1371600"/>
          </a:xfrm>
          <a:prstGeom prst="arc">
            <a:avLst>
              <a:gd name="adj1" fmla="val 18900000"/>
              <a:gd name="adj2" fmla="val 2700000"/>
            </a:avLst>
          </a:prstGeom>
          <a:noFill/>
          <a:ln w="25400">
            <a:solidFill>
              <a:srgbClr val="00B7EA">
                <a:alpha val="80000"/>
              </a:srgbClr>
            </a:solidFill>
          </a:ln>
        </p:spPr>
      </p:sp>
      <p:sp>
        <p:nvSpPr>
          <p:cNvPr id="13" name="Signal left"/>
          <p:cNvSpPr/>
          <p:nvPr/>
        </p:nvSpPr>
        <p:spPr>
          <a:xfrm>
            <a:off x="6766560" y="640080"/>
            <a:ext cx="1371600" cy="1371600"/>
          </a:xfrm>
          <a:prstGeom prst="arc">
            <a:avLst>
              <a:gd name="adj1" fmla="val 8100000"/>
              <a:gd name="adj2" fmla="val 13500000"/>
            </a:avLst>
          </a:prstGeom>
          <a:noFill/>
          <a:ln w="25400">
            <a:solidFill>
              <a:srgbClr val="00B7EA">
                <a:alpha val="80000"/>
              </a:srgbClr>
            </a:solidFill>
          </a:ln>
        </p:spPr>
      </p:sp>
      <p:sp>
        <p:nvSpPr>
          <p:cNvPr id="14" name="Tower down"/>
          <p:cNvSpPr/>
          <p:nvPr/>
        </p:nvSpPr>
        <p:spPr>
          <a:xfrm>
            <a:off x="6885432" y="2011680"/>
            <a:ext cx="1133856" cy="1133856"/>
          </a:xfrm>
          <a:prstGeom prst="mathMultiply">
            <a:avLst/>
          </a:prstGeom>
          <a:solidFill>
            <a:srgbClr val="D64545"/>
          </a:solidFill>
          <a:ln w="25400">
            <a:solidFill>
              <a:srgbClr val="FFFFFF"/>
            </a:solidFill>
          </a:ln>
        </p:spPr>
      </p:sp>
      <p:grpSp>
        <p:nvGrpSpPr>
          <p:cNvPr id="15" name="Consequence 1"/>
          <p:cNvGrpSpPr/>
          <p:nvPr/>
        </p:nvGrpSpPr>
        <p:grpSpPr>
          <a:xfrm>
            <a:off x="832104" y="2926080"/>
            <a:ext cx="5751576" cy="457200"/>
            <a:chOff x="832104" y="2926080"/>
            <a:chExt cx="5751576" cy="457200"/>
          </a:xfrm>
        </p:grpSpPr>
        <p:sp>
          <p:nvSpPr>
            <p:cNvPr id="16" name="Shape 16"/>
            <p:cNvSpPr/>
            <p:nvPr/>
          </p:nvSpPr>
          <p:spPr>
            <a:xfrm>
              <a:off x="832104" y="3072384"/>
              <a:ext cx="164592" cy="164592"/>
            </a:xfrm>
            <a:prstGeom prst="ellipse">
              <a:avLst/>
            </a:prstGeom>
            <a:solidFill>
              <a:srgbClr val="00B7EA"/>
            </a:solidFill>
            <a:ln>
              <a:noFill/>
            </a:ln>
          </p:spPr>
        </p:sp>
        <p:sp>
          <p:nvSpPr>
            <p:cNvPr id="17" name="Shape 17"/>
            <p:cNvSpPr txBox="1"/>
            <p:nvPr/>
          </p:nvSpPr>
          <p:spPr>
            <a:xfrm>
              <a:off x="1188720" y="2926080"/>
              <a:ext cx="5394960" cy="457200"/>
            </a:xfrm>
            <a:prstGeom prst="rect">
              <a:avLst/>
            </a:prstGeom>
            <a:noFill/>
            <a:ln>
              <a:noFill/>
            </a:ln>
          </p:spPr>
          <p:txBody>
            <a:bodyPr wrap="square" lIns="0" tIns="0" rIns="0" bIns="0" rtlCol="0" anchor="ctr">
              <a:noAutofit/>
            </a:bodyPr>
            <a:lstStyle/>
            <a:p>
              <a:pPr marL="0" indent="0" algn="l">
                <a:buNone/>
              </a:pPr>
              <a:r>
                <a:rPr lang="en-US" sz="1800" dirty="0">
                  <a:solidFill>
                    <a:srgbClr val="FFFFFF"/>
                  </a:solidFill>
                  <a:latin typeface="Tahoma"/>
                  <a:ea typeface="Tahoma"/>
                  <a:cs typeface="Tahoma"/>
                </a:rPr>
                <a:t>Towers damaged: cellular and internet go down</a:t>
              </a:r>
              <a:endParaRPr lang="en-US" sz="1800" dirty="0"/>
            </a:p>
          </p:txBody>
        </p:sp>
      </p:grpSp>
      <p:grpSp>
        <p:nvGrpSpPr>
          <p:cNvPr id="18" name="Consequence 2"/>
          <p:cNvGrpSpPr/>
          <p:nvPr/>
        </p:nvGrpSpPr>
        <p:grpSpPr>
          <a:xfrm>
            <a:off x="832104" y="3529584"/>
            <a:ext cx="5751576" cy="457200"/>
            <a:chOff x="832104" y="3529584"/>
            <a:chExt cx="5751576" cy="457200"/>
          </a:xfrm>
        </p:grpSpPr>
        <p:sp>
          <p:nvSpPr>
            <p:cNvPr id="19" name="Shape 19"/>
            <p:cNvSpPr/>
            <p:nvPr/>
          </p:nvSpPr>
          <p:spPr>
            <a:xfrm>
              <a:off x="832104" y="3675888"/>
              <a:ext cx="164592" cy="164592"/>
            </a:xfrm>
            <a:prstGeom prst="ellipse">
              <a:avLst/>
            </a:prstGeom>
            <a:solidFill>
              <a:srgbClr val="00B7EA"/>
            </a:solidFill>
            <a:ln>
              <a:noFill/>
            </a:ln>
          </p:spPr>
        </p:sp>
        <p:sp>
          <p:nvSpPr>
            <p:cNvPr id="20" name="Shape 20"/>
            <p:cNvSpPr txBox="1"/>
            <p:nvPr/>
          </p:nvSpPr>
          <p:spPr>
            <a:xfrm>
              <a:off x="1188720" y="3529584"/>
              <a:ext cx="5394960" cy="457200"/>
            </a:xfrm>
            <a:prstGeom prst="rect">
              <a:avLst/>
            </a:prstGeom>
            <a:noFill/>
            <a:ln>
              <a:noFill/>
            </a:ln>
          </p:spPr>
          <p:txBody>
            <a:bodyPr wrap="square" lIns="0" tIns="0" rIns="0" bIns="0" rtlCol="0" anchor="ctr">
              <a:noAutofit/>
            </a:bodyPr>
            <a:lstStyle/>
            <a:p>
              <a:pPr marL="0" indent="0" algn="l">
                <a:buNone/>
              </a:pPr>
              <a:r>
                <a:rPr lang="en-US" sz="1800" dirty="0">
                  <a:solidFill>
                    <a:srgbClr val="FFFFFF"/>
                  </a:solidFill>
                  <a:latin typeface="Tahoma"/>
                  <a:ea typeface="Tahoma"/>
                  <a:cs typeface="Tahoma"/>
                </a:rPr>
                <a:t>Survivors can't call for help</a:t>
              </a:r>
              <a:endParaRPr lang="en-US" sz="1800" dirty="0"/>
            </a:p>
          </p:txBody>
        </p:sp>
      </p:grpSp>
      <p:grpSp>
        <p:nvGrpSpPr>
          <p:cNvPr id="21" name="Consequence 3"/>
          <p:cNvGrpSpPr/>
          <p:nvPr/>
        </p:nvGrpSpPr>
        <p:grpSpPr>
          <a:xfrm>
            <a:off x="832104" y="4133088"/>
            <a:ext cx="5751576" cy="457200"/>
            <a:chOff x="832104" y="4133088"/>
            <a:chExt cx="5751576" cy="457200"/>
          </a:xfrm>
        </p:grpSpPr>
        <p:sp>
          <p:nvSpPr>
            <p:cNvPr id="22" name="Shape 22"/>
            <p:cNvSpPr/>
            <p:nvPr/>
          </p:nvSpPr>
          <p:spPr>
            <a:xfrm>
              <a:off x="832104" y="4279392"/>
              <a:ext cx="164592" cy="164592"/>
            </a:xfrm>
            <a:prstGeom prst="ellipse">
              <a:avLst/>
            </a:prstGeom>
            <a:solidFill>
              <a:srgbClr val="00B7EA"/>
            </a:solidFill>
            <a:ln>
              <a:noFill/>
            </a:ln>
          </p:spPr>
        </p:sp>
        <p:sp>
          <p:nvSpPr>
            <p:cNvPr id="23" name="Shape 23"/>
            <p:cNvSpPr txBox="1"/>
            <p:nvPr/>
          </p:nvSpPr>
          <p:spPr>
            <a:xfrm>
              <a:off x="1188720" y="4133088"/>
              <a:ext cx="5394960" cy="457200"/>
            </a:xfrm>
            <a:prstGeom prst="rect">
              <a:avLst/>
            </a:prstGeom>
            <a:noFill/>
            <a:ln>
              <a:noFill/>
            </a:ln>
          </p:spPr>
          <p:txBody>
            <a:bodyPr wrap="square" lIns="0" tIns="0" rIns="0" bIns="0" rtlCol="0" anchor="ctr">
              <a:noAutofit/>
            </a:bodyPr>
            <a:lstStyle/>
            <a:p>
              <a:pPr marL="0" indent="0" algn="l">
                <a:buNone/>
              </a:pPr>
              <a:r>
                <a:rPr lang="en-US" sz="1800" dirty="0">
                  <a:solidFill>
                    <a:srgbClr val="FFFFFF"/>
                  </a:solidFill>
                  <a:latin typeface="Tahoma"/>
                  <a:ea typeface="Tahoma"/>
                  <a:cs typeface="Tahoma"/>
                </a:rPr>
                <a:t>Rescue teams struggle to coordinate</a:t>
              </a:r>
              <a:endParaRPr lang="en-US" sz="1800" dirty="0"/>
            </a:p>
          </p:txBody>
        </p:sp>
      </p:grpSp>
      <p:sp>
        <p:nvSpPr>
          <p:cNvPr id="24" name="Problem"/>
          <p:cNvSpPr/>
          <p:nvPr/>
        </p:nvSpPr>
        <p:spPr>
          <a:xfrm>
            <a:off x="777240" y="4983480"/>
            <a:ext cx="7315200" cy="566928"/>
          </a:xfrm>
          <a:prstGeom prst="roundRect">
            <a:avLst>
              <a:gd name="adj" fmla="val 18000"/>
            </a:avLst>
          </a:prstGeom>
          <a:solidFill>
            <a:srgbClr val="003E82"/>
          </a:solidFill>
          <a:ln w="15875">
            <a:solidFill>
              <a:srgbClr val="F7B500"/>
            </a:solidFill>
          </a:ln>
          <a:effectLst>
            <a:outerShdw blurRad="50800" dist="25400" dir="5400000" algn="t" rotWithShape="0">
              <a:srgbClr val="0A2E5C">
                <a:alpha val="24000"/>
              </a:srgbClr>
            </a:outerShdw>
          </a:effectLst>
        </p:spPr>
        <p:txBody>
          <a:bodyPr wrap="square" lIns="274320" tIns="0" rIns="182880" bIns="0" rtlCol="0" anchor="ctr">
            <a:noAutofit/>
          </a:bodyPr>
          <a:lstStyle/>
          <a:p>
            <a:pPr marL="0" indent="0" algn="l">
              <a:buNone/>
            </a:pPr>
            <a:r>
              <a:rPr lang="en-US" sz="1600" b="1" dirty="0">
                <a:solidFill>
                  <a:srgbClr val="FFFFFF"/>
                </a:solidFill>
                <a:latin typeface="Tahoma"/>
                <a:ea typeface="Tahoma"/>
                <a:cs typeface="Tahoma"/>
              </a:rPr>
              <a:t>Keeping communication possible after infrastructure fails</a:t>
            </a:r>
            <a:endParaRPr lang="en-US" sz="1600" dirty="0"/>
          </a:p>
        </p:txBody>
      </p:sp>
      <p:cxnSp>
        <p:nvCxnSpPr>
          <p:cNvPr id="25" name="Footer rule"/>
          <p:cNvCxnSpPr/>
          <p:nvPr/>
        </p:nvCxnSpPr>
        <p:spPr>
          <a:xfrm>
            <a:off x="502920" y="6199632"/>
            <a:ext cx="11155680" cy="0"/>
          </a:xfrm>
          <a:prstGeom prst="line">
            <a:avLst/>
          </a:prstGeom>
          <a:ln w="12700">
            <a:solidFill>
              <a:srgbClr val="FFFFFF">
                <a:alpha val="35000"/>
              </a:srgbClr>
            </a:solidFill>
          </a:ln>
        </p:spPr>
      </p:cxnSp>
      <p:pic>
        <p:nvPicPr>
          <p:cNvPr id="26"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27"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FFFFFF">
                    <a:alpha val="93000"/>
                  </a:srgbClr>
                </a:solidFill>
                <a:latin typeface="Tahoma"/>
                <a:ea typeface="Tahoma"/>
                <a:cs typeface="Tahoma"/>
              </a:rPr>
              <a:t>IEEE R10 HTC 2026  |  Bangkok, Thailand  |  26 – 28 October 2026</a:t>
            </a:r>
            <a:endParaRPr lang="en-US" sz="780" dirty="0"/>
          </a:p>
        </p:txBody>
      </p:sp>
      <p:sp>
        <p:nvSpPr>
          <p:cNvPr id="28"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B7EA"/>
                </a:solidFill>
                <a:latin typeface="Tahoma"/>
                <a:ea typeface="Tahoma"/>
                <a:cs typeface="Tahoma"/>
              </a:rPr>
              <a:t>04</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600"/>
                                  </p:stCondLst>
                                  <p:childTnLst>
                                    <p:set>
                                      <p:cBhvr>
                                        <p:cTn id="6" dur="1" fill="hold">
                                          <p:stCondLst>
                                            <p:cond delay="0"/>
                                          </p:stCondLst>
                                        </p:cTn>
                                        <p:tgtEl>
                                          <p:spTgt spid="14"/>
                                        </p:tgtEl>
                                        <p:attrNameLst>
                                          <p:attrName>style.visibility</p:attrName>
                                        </p:attrNameLst>
                                      </p:cBhvr>
                                      <p:to>
                                        <p:strVal val="visible"/>
                                      </p:to>
                                    </p:set>
                                    <p:anim calcmode="lin" valueType="num">
                                      <p:cBhvr>
                                        <p:cTn id="7" dur="400" fill="hold"/>
                                        <p:tgtEl>
                                          <p:spTgt spid="14"/>
                                        </p:tgtEl>
                                        <p:attrNameLst>
                                          <p:attrName>ppt_w</p:attrName>
                                        </p:attrNameLst>
                                      </p:cBhvr>
                                      <p:tavLst>
                                        <p:tav tm="0">
                                          <p:val>
                                            <p:fltVal val="0"/>
                                          </p:val>
                                        </p:tav>
                                        <p:tav tm="100000">
                                          <p:val>
                                            <p:strVal val="#ppt_w"/>
                                          </p:val>
                                        </p:tav>
                                      </p:tavLst>
                                    </p:anim>
                                    <p:anim calcmode="lin" valueType="num">
                                      <p:cBhvr>
                                        <p:cTn id="8" dur="4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childTnLst>
                                </p:cTn>
                              </p:par>
                              <p:par>
                                <p:cTn id="14" presetID="10" presetClass="entr" presetSubtype="0" fill="hold" nodeType="withEffect">
                                  <p:stCondLst>
                                    <p:cond delay="25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50"/>
                                        <p:tgtEl>
                                          <p:spTgt spid="18"/>
                                        </p:tgtEl>
                                      </p:cBhvr>
                                    </p:animEffect>
                                  </p:childTnLst>
                                </p:cTn>
                              </p:par>
                              <p:par>
                                <p:cTn id="17" presetID="10" presetClass="entr" presetSubtype="0" fill="hold" nodeType="withEffect">
                                  <p:stCondLst>
                                    <p:cond delay="5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5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Existing work">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Existing work</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Post-disaster communication: what is already out there</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LoRa (base)"/>
          <p:cNvSpPr/>
          <p:nvPr/>
        </p:nvSpPr>
        <p:spPr>
          <a:xfrm>
            <a:off x="4727448" y="1664208"/>
            <a:ext cx="2743200" cy="512064"/>
          </a:xfrm>
          <a:prstGeom prst="roundRect">
            <a:avLst>
              <a:gd name="adj" fmla="val 50000"/>
            </a:avLst>
          </a:prstGeom>
          <a:solidFill>
            <a:srgbClr val="F2F8FC"/>
          </a:solidFill>
          <a:ln w="12700">
            <a:solidFill>
              <a:srgbClr val="D3EAF6"/>
            </a:solidFill>
          </a:ln>
        </p:spPr>
        <p:txBody>
          <a:bodyPr wrap="square" lIns="0" tIns="0" rIns="0" bIns="0" rtlCol="0" anchor="ctr">
            <a:noAutofit/>
          </a:bodyPr>
          <a:lstStyle/>
          <a:p>
            <a:pPr marL="0" indent="0" algn="ctr">
              <a:buNone/>
            </a:pPr>
            <a:r>
              <a:rPr lang="en-US" sz="1600" dirty="0">
                <a:solidFill>
                  <a:srgbClr val="44546A"/>
                </a:solidFill>
                <a:latin typeface="Tahoma"/>
                <a:ea typeface="Tahoma"/>
                <a:cs typeface="Tahoma"/>
              </a:rPr>
              <a:t>LoRa</a:t>
            </a:r>
            <a:r>
              <a:rPr lang="en-US" sz="1300" dirty="0">
                <a:solidFill>
                  <a:srgbClr val="44546A"/>
                </a:solidFill>
                <a:latin typeface="Tahoma"/>
                <a:ea typeface="Tahoma"/>
                <a:cs typeface="Tahoma"/>
              </a:rPr>
              <a:t> (Long Range radio)</a:t>
            </a:r>
            <a:endParaRPr lang="en-US" sz="1600" dirty="0"/>
          </a:p>
        </p:txBody>
      </p:sp>
      <p:sp>
        <p:nvSpPr>
          <p:cNvPr id="7" name="LoRa (highlight)"/>
          <p:cNvSpPr/>
          <p:nvPr/>
        </p:nvSpPr>
        <p:spPr>
          <a:xfrm>
            <a:off x="4727448" y="1664208"/>
            <a:ext cx="2743200" cy="512064"/>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LoRa</a:t>
            </a:r>
            <a:r>
              <a:rPr lang="en-US" sz="1300" b="1" dirty="0">
                <a:solidFill>
                  <a:srgbClr val="FFFFFF"/>
                </a:solidFill>
                <a:latin typeface="Tahoma"/>
                <a:ea typeface="Tahoma"/>
                <a:cs typeface="Tahoma"/>
              </a:rPr>
              <a:t> (Long Range radio)</a:t>
            </a:r>
            <a:endParaRPr lang="en-US" sz="1600" dirty="0"/>
          </a:p>
        </p:txBody>
      </p:sp>
      <p:cxnSp>
        <p:nvCxnSpPr>
          <p:cNvPr id="8" name="Line 8"/>
          <p:cNvCxnSpPr/>
          <p:nvPr/>
        </p:nvCxnSpPr>
        <p:spPr>
          <a:xfrm>
            <a:off x="6099048" y="2176272"/>
            <a:ext cx="0" cy="256032"/>
          </a:xfrm>
          <a:prstGeom prst="line">
            <a:avLst/>
          </a:prstGeom>
          <a:ln w="19050">
            <a:solidFill>
              <a:srgbClr val="B9D3E6"/>
            </a:solidFill>
          </a:ln>
        </p:spPr>
      </p:cxnSp>
      <p:cxnSp>
        <p:nvCxnSpPr>
          <p:cNvPr id="9" name="Line 9"/>
          <p:cNvCxnSpPr/>
          <p:nvPr/>
        </p:nvCxnSpPr>
        <p:spPr>
          <a:xfrm>
            <a:off x="2450592" y="2432304"/>
            <a:ext cx="7315200" cy="0"/>
          </a:xfrm>
          <a:prstGeom prst="line">
            <a:avLst/>
          </a:prstGeom>
          <a:ln w="19050">
            <a:solidFill>
              <a:srgbClr val="B9D3E6"/>
            </a:solidFill>
          </a:ln>
        </p:spPr>
      </p:cxnSp>
      <p:cxnSp>
        <p:nvCxnSpPr>
          <p:cNvPr id="10" name="Line 10"/>
          <p:cNvCxnSpPr/>
          <p:nvPr/>
        </p:nvCxnSpPr>
        <p:spPr>
          <a:xfrm>
            <a:off x="2450592" y="2432304"/>
            <a:ext cx="0" cy="274320"/>
          </a:xfrm>
          <a:prstGeom prst="line">
            <a:avLst/>
          </a:prstGeom>
          <a:ln w="19050">
            <a:solidFill>
              <a:srgbClr val="B9D3E6"/>
            </a:solidFill>
          </a:ln>
        </p:spPr>
      </p:cxnSp>
      <p:sp>
        <p:nvSpPr>
          <p:cNvPr id="11" name="Column 1"/>
          <p:cNvSpPr/>
          <p:nvPr/>
        </p:nvSpPr>
        <p:spPr>
          <a:xfrm>
            <a:off x="758952" y="2706624"/>
            <a:ext cx="3383280" cy="3063240"/>
          </a:xfrm>
          <a:prstGeom prst="roundRect">
            <a:avLst>
              <a:gd name="adj" fmla="val 2686"/>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2" name="LPWAN disaster systems (base)"/>
          <p:cNvSpPr txBox="1"/>
          <p:nvPr/>
        </p:nvSpPr>
        <p:spPr>
          <a:xfrm>
            <a:off x="987552" y="2852928"/>
            <a:ext cx="2926080" cy="566928"/>
          </a:xfrm>
          <a:prstGeom prst="rect">
            <a:avLst/>
          </a:prstGeom>
          <a:noFill/>
          <a:ln>
            <a:noFill/>
          </a:ln>
        </p:spPr>
        <p:txBody>
          <a:bodyPr wrap="square" lIns="0" tIns="0" rIns="0" bIns="0" rtlCol="0" anchor="ctr">
            <a:noAutofit/>
          </a:bodyPr>
          <a:lstStyle/>
          <a:p>
            <a:pPr marL="0" indent="0" algn="l">
              <a:buNone/>
            </a:pPr>
            <a:r>
              <a:rPr lang="en-US" sz="1450" b="1" dirty="0">
                <a:solidFill>
                  <a:srgbClr val="003E82"/>
                </a:solidFill>
                <a:latin typeface="Tahoma"/>
                <a:ea typeface="Tahoma"/>
                <a:cs typeface="Tahoma"/>
              </a:rPr>
              <a:t>LPWAN disaster systems</a:t>
            </a:r>
            <a:endParaRPr lang="en-US" sz="1450" dirty="0"/>
          </a:p>
        </p:txBody>
      </p:sp>
      <p:sp>
        <p:nvSpPr>
          <p:cNvPr id="13" name="LPWAN disaster systems (highlight)"/>
          <p:cNvSpPr/>
          <p:nvPr/>
        </p:nvSpPr>
        <p:spPr>
          <a:xfrm>
            <a:off x="987552" y="2852928"/>
            <a:ext cx="2926080" cy="566928"/>
          </a:xfrm>
          <a:prstGeom prst="rect">
            <a:avLst/>
          </a:prstGeom>
          <a:solidFill>
            <a:srgbClr val="FFFFFF"/>
          </a:solidFill>
          <a:ln>
            <a:noFill/>
          </a:ln>
        </p:spPr>
        <p:txBody>
          <a:bodyPr wrap="square" lIns="0" tIns="0" rIns="0" bIns="0" rtlCol="0" anchor="ctr">
            <a:noAutofit/>
          </a:bodyPr>
          <a:lstStyle/>
          <a:p>
            <a:pPr marL="0" indent="0" algn="l">
              <a:buNone/>
            </a:pPr>
            <a:r>
              <a:rPr lang="en-US" sz="1450" b="1" dirty="0">
                <a:solidFill>
                  <a:srgbClr val="B85700"/>
                </a:solidFill>
                <a:latin typeface="Tahoma"/>
                <a:ea typeface="Tahoma"/>
                <a:cs typeface="Tahoma"/>
              </a:rPr>
              <a:t>LPWAN disaster systems</a:t>
            </a:r>
            <a:endParaRPr lang="en-US" sz="1450" dirty="0"/>
          </a:p>
        </p:txBody>
      </p:sp>
      <p:sp>
        <p:nvSpPr>
          <p:cNvPr id="14" name="Titan (base)"/>
          <p:cNvSpPr/>
          <p:nvPr/>
        </p:nvSpPr>
        <p:spPr>
          <a:xfrm>
            <a:off x="987552" y="3584448"/>
            <a:ext cx="2926080" cy="475488"/>
          </a:xfrm>
          <a:prstGeom prst="roundRect">
            <a:avLst>
              <a:gd name="adj" fmla="val 50000"/>
            </a:avLst>
          </a:prstGeom>
          <a:solidFill>
            <a:srgbClr val="F2F8FC"/>
          </a:solidFill>
          <a:ln w="12700">
            <a:solidFill>
              <a:srgbClr val="D3EAF6"/>
            </a:solidFill>
          </a:ln>
        </p:spPr>
        <p:txBody>
          <a:bodyPr wrap="square" lIns="0" tIns="0" rIns="0" bIns="0" rtlCol="0" anchor="ctr">
            <a:noAutofit/>
          </a:bodyPr>
          <a:lstStyle/>
          <a:p>
            <a:pPr marL="0" indent="0" algn="ctr">
              <a:buNone/>
            </a:pPr>
            <a:r>
              <a:rPr lang="en-US" sz="1450" dirty="0">
                <a:solidFill>
                  <a:srgbClr val="44546A"/>
                </a:solidFill>
                <a:latin typeface="Tahoma"/>
                <a:ea typeface="Tahoma"/>
                <a:cs typeface="Tahoma"/>
              </a:rPr>
              <a:t>Titan</a:t>
            </a:r>
            <a:r>
              <a:rPr lang="en-US" sz="1100" dirty="0">
                <a:solidFill>
                  <a:srgbClr val="66788A"/>
                </a:solidFill>
                <a:latin typeface="Tahoma"/>
                <a:ea typeface="Tahoma"/>
                <a:cs typeface="Tahoma"/>
              </a:rPr>
              <a:t> [4]</a:t>
            </a:r>
            <a:endParaRPr lang="en-US" sz="1450" dirty="0"/>
          </a:p>
        </p:txBody>
      </p:sp>
      <p:sp>
        <p:nvSpPr>
          <p:cNvPr id="15" name="Titan (highlight)"/>
          <p:cNvSpPr/>
          <p:nvPr/>
        </p:nvSpPr>
        <p:spPr>
          <a:xfrm>
            <a:off x="987552" y="3584448"/>
            <a:ext cx="2926080" cy="475488"/>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450" b="1" dirty="0">
                <a:solidFill>
                  <a:srgbClr val="FFFFFF"/>
                </a:solidFill>
                <a:latin typeface="Tahoma"/>
                <a:ea typeface="Tahoma"/>
                <a:cs typeface="Tahoma"/>
              </a:rPr>
              <a:t>Titan</a:t>
            </a:r>
            <a:r>
              <a:rPr lang="en-US" sz="1100" b="1" dirty="0">
                <a:solidFill>
                  <a:srgbClr val="BFD9F2"/>
                </a:solidFill>
                <a:latin typeface="Tahoma"/>
                <a:ea typeface="Tahoma"/>
                <a:cs typeface="Tahoma"/>
              </a:rPr>
              <a:t> [4]</a:t>
            </a:r>
            <a:endParaRPr lang="en-US" sz="1450" dirty="0"/>
          </a:p>
        </p:txBody>
      </p:sp>
      <p:cxnSp>
        <p:nvCxnSpPr>
          <p:cNvPr id="16" name="Line 16"/>
          <p:cNvCxnSpPr/>
          <p:nvPr/>
        </p:nvCxnSpPr>
        <p:spPr>
          <a:xfrm>
            <a:off x="6108192" y="2432304"/>
            <a:ext cx="0" cy="274320"/>
          </a:xfrm>
          <a:prstGeom prst="line">
            <a:avLst/>
          </a:prstGeom>
          <a:ln w="19050">
            <a:solidFill>
              <a:srgbClr val="B9D3E6"/>
            </a:solidFill>
          </a:ln>
        </p:spPr>
      </p:cxnSp>
      <p:sp>
        <p:nvSpPr>
          <p:cNvPr id="17" name="Column 2"/>
          <p:cNvSpPr/>
          <p:nvPr/>
        </p:nvSpPr>
        <p:spPr>
          <a:xfrm>
            <a:off x="4416552" y="2706624"/>
            <a:ext cx="3383280" cy="3063240"/>
          </a:xfrm>
          <a:prstGeom prst="roundRect">
            <a:avLst>
              <a:gd name="adj" fmla="val 2686"/>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8" name="Consumer-grade LoRa platforms (base)"/>
          <p:cNvSpPr txBox="1"/>
          <p:nvPr/>
        </p:nvSpPr>
        <p:spPr>
          <a:xfrm>
            <a:off x="4645152" y="2852928"/>
            <a:ext cx="2926080" cy="566928"/>
          </a:xfrm>
          <a:prstGeom prst="rect">
            <a:avLst/>
          </a:prstGeom>
          <a:noFill/>
          <a:ln>
            <a:noFill/>
          </a:ln>
        </p:spPr>
        <p:txBody>
          <a:bodyPr wrap="square" lIns="0" tIns="0" rIns="0" bIns="0" rtlCol="0" anchor="ctr">
            <a:noAutofit/>
          </a:bodyPr>
          <a:lstStyle/>
          <a:p>
            <a:pPr marL="0" indent="0" algn="l">
              <a:buNone/>
            </a:pPr>
            <a:r>
              <a:rPr lang="en-US" sz="1450" b="1" dirty="0">
                <a:solidFill>
                  <a:srgbClr val="003E82"/>
                </a:solidFill>
                <a:latin typeface="Tahoma"/>
                <a:ea typeface="Tahoma"/>
                <a:cs typeface="Tahoma"/>
              </a:rPr>
              <a:t>Consumer-grade LoRa platforms</a:t>
            </a:r>
            <a:endParaRPr lang="en-US" sz="1450" dirty="0"/>
          </a:p>
        </p:txBody>
      </p:sp>
      <p:sp>
        <p:nvSpPr>
          <p:cNvPr id="19" name="Consumer-grade LoRa platforms (highlight)"/>
          <p:cNvSpPr/>
          <p:nvPr/>
        </p:nvSpPr>
        <p:spPr>
          <a:xfrm>
            <a:off x="4645152" y="2852928"/>
            <a:ext cx="2926080" cy="566928"/>
          </a:xfrm>
          <a:prstGeom prst="rect">
            <a:avLst/>
          </a:prstGeom>
          <a:solidFill>
            <a:srgbClr val="FFFFFF"/>
          </a:solidFill>
          <a:ln>
            <a:noFill/>
          </a:ln>
        </p:spPr>
        <p:txBody>
          <a:bodyPr wrap="square" lIns="0" tIns="0" rIns="0" bIns="0" rtlCol="0" anchor="ctr">
            <a:noAutofit/>
          </a:bodyPr>
          <a:lstStyle/>
          <a:p>
            <a:pPr marL="0" indent="0" algn="l">
              <a:buNone/>
            </a:pPr>
            <a:r>
              <a:rPr lang="en-US" sz="1450" b="1" dirty="0">
                <a:solidFill>
                  <a:srgbClr val="B85700"/>
                </a:solidFill>
                <a:latin typeface="Tahoma"/>
                <a:ea typeface="Tahoma"/>
                <a:cs typeface="Tahoma"/>
              </a:rPr>
              <a:t>Consumer-grade LoRa platforms</a:t>
            </a:r>
            <a:endParaRPr lang="en-US" sz="1450" dirty="0"/>
          </a:p>
        </p:txBody>
      </p:sp>
      <p:sp>
        <p:nvSpPr>
          <p:cNvPr id="20" name="Meshtastic (base)"/>
          <p:cNvSpPr/>
          <p:nvPr/>
        </p:nvSpPr>
        <p:spPr>
          <a:xfrm>
            <a:off x="4645152" y="3584448"/>
            <a:ext cx="2926080" cy="475488"/>
          </a:xfrm>
          <a:prstGeom prst="roundRect">
            <a:avLst>
              <a:gd name="adj" fmla="val 50000"/>
            </a:avLst>
          </a:prstGeom>
          <a:solidFill>
            <a:srgbClr val="F2F8FC"/>
          </a:solidFill>
          <a:ln w="12700">
            <a:solidFill>
              <a:srgbClr val="D3EAF6"/>
            </a:solidFill>
          </a:ln>
        </p:spPr>
        <p:txBody>
          <a:bodyPr wrap="square" lIns="0" tIns="0" rIns="0" bIns="0" rtlCol="0" anchor="ctr">
            <a:noAutofit/>
          </a:bodyPr>
          <a:lstStyle/>
          <a:p>
            <a:pPr marL="0" indent="0" algn="ctr">
              <a:buNone/>
            </a:pPr>
            <a:r>
              <a:rPr lang="en-US" sz="1450" dirty="0">
                <a:solidFill>
                  <a:srgbClr val="44546A"/>
                </a:solidFill>
                <a:latin typeface="Tahoma"/>
                <a:ea typeface="Tahoma"/>
                <a:cs typeface="Tahoma"/>
              </a:rPr>
              <a:t>Meshtastic</a:t>
            </a:r>
            <a:r>
              <a:rPr lang="en-US" sz="1100" dirty="0">
                <a:solidFill>
                  <a:srgbClr val="66788A"/>
                </a:solidFill>
                <a:latin typeface="Tahoma"/>
                <a:ea typeface="Tahoma"/>
                <a:cs typeface="Tahoma"/>
              </a:rPr>
              <a:t> [12]</a:t>
            </a:r>
            <a:endParaRPr lang="en-US" sz="1450" dirty="0"/>
          </a:p>
        </p:txBody>
      </p:sp>
      <p:sp>
        <p:nvSpPr>
          <p:cNvPr id="21" name="Meshtastic (highlight)"/>
          <p:cNvSpPr/>
          <p:nvPr/>
        </p:nvSpPr>
        <p:spPr>
          <a:xfrm>
            <a:off x="4645152" y="3584448"/>
            <a:ext cx="2926080" cy="475488"/>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450" b="1" dirty="0">
                <a:solidFill>
                  <a:srgbClr val="FFFFFF"/>
                </a:solidFill>
                <a:latin typeface="Tahoma"/>
                <a:ea typeface="Tahoma"/>
                <a:cs typeface="Tahoma"/>
              </a:rPr>
              <a:t>Meshtastic</a:t>
            </a:r>
            <a:r>
              <a:rPr lang="en-US" sz="1100" b="1" dirty="0">
                <a:solidFill>
                  <a:srgbClr val="BFD9F2"/>
                </a:solidFill>
                <a:latin typeface="Tahoma"/>
                <a:ea typeface="Tahoma"/>
                <a:cs typeface="Tahoma"/>
              </a:rPr>
              <a:t> [12]</a:t>
            </a:r>
            <a:endParaRPr lang="en-US" sz="1450" dirty="0"/>
          </a:p>
        </p:txBody>
      </p:sp>
      <p:sp>
        <p:nvSpPr>
          <p:cNvPr id="22" name="Disaster Radio (base)"/>
          <p:cNvSpPr/>
          <p:nvPr/>
        </p:nvSpPr>
        <p:spPr>
          <a:xfrm>
            <a:off x="4645152" y="4206240"/>
            <a:ext cx="2926080" cy="475488"/>
          </a:xfrm>
          <a:prstGeom prst="roundRect">
            <a:avLst>
              <a:gd name="adj" fmla="val 50000"/>
            </a:avLst>
          </a:prstGeom>
          <a:solidFill>
            <a:srgbClr val="F2F8FC"/>
          </a:solidFill>
          <a:ln w="12700">
            <a:solidFill>
              <a:srgbClr val="D3EAF6"/>
            </a:solidFill>
          </a:ln>
        </p:spPr>
        <p:txBody>
          <a:bodyPr wrap="square" lIns="0" tIns="0" rIns="0" bIns="0" rtlCol="0" anchor="ctr">
            <a:noAutofit/>
          </a:bodyPr>
          <a:lstStyle/>
          <a:p>
            <a:pPr marL="0" indent="0" algn="ctr">
              <a:buNone/>
            </a:pPr>
            <a:r>
              <a:rPr lang="en-US" sz="1450" dirty="0">
                <a:solidFill>
                  <a:srgbClr val="44546A"/>
                </a:solidFill>
                <a:latin typeface="Tahoma"/>
                <a:ea typeface="Tahoma"/>
                <a:cs typeface="Tahoma"/>
              </a:rPr>
              <a:t>Disaster Radio</a:t>
            </a:r>
            <a:endParaRPr lang="en-US" sz="1450" dirty="0"/>
          </a:p>
        </p:txBody>
      </p:sp>
      <p:sp>
        <p:nvSpPr>
          <p:cNvPr id="23" name="Disaster Radio (highlight)"/>
          <p:cNvSpPr/>
          <p:nvPr/>
        </p:nvSpPr>
        <p:spPr>
          <a:xfrm>
            <a:off x="4645152" y="4206240"/>
            <a:ext cx="2926080" cy="475488"/>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450" b="1" dirty="0">
                <a:solidFill>
                  <a:srgbClr val="FFFFFF"/>
                </a:solidFill>
                <a:latin typeface="Tahoma"/>
                <a:ea typeface="Tahoma"/>
                <a:cs typeface="Tahoma"/>
              </a:rPr>
              <a:t>Disaster Radio</a:t>
            </a:r>
            <a:endParaRPr lang="en-US" sz="1450" dirty="0"/>
          </a:p>
        </p:txBody>
      </p:sp>
      <p:sp>
        <p:nvSpPr>
          <p:cNvPr id="24" name="Project OWL · DuckLink (base)"/>
          <p:cNvSpPr/>
          <p:nvPr/>
        </p:nvSpPr>
        <p:spPr>
          <a:xfrm>
            <a:off x="4645152" y="4828032"/>
            <a:ext cx="2926080" cy="475488"/>
          </a:xfrm>
          <a:prstGeom prst="roundRect">
            <a:avLst>
              <a:gd name="adj" fmla="val 50000"/>
            </a:avLst>
          </a:prstGeom>
          <a:solidFill>
            <a:srgbClr val="F2F8FC"/>
          </a:solidFill>
          <a:ln w="12700">
            <a:solidFill>
              <a:srgbClr val="D3EAF6"/>
            </a:solidFill>
          </a:ln>
        </p:spPr>
        <p:txBody>
          <a:bodyPr wrap="square" lIns="0" tIns="0" rIns="0" bIns="0" rtlCol="0" anchor="ctr">
            <a:noAutofit/>
          </a:bodyPr>
          <a:lstStyle/>
          <a:p>
            <a:pPr marL="0" indent="0" algn="ctr">
              <a:buNone/>
            </a:pPr>
            <a:r>
              <a:rPr lang="en-US" sz="1450" dirty="0">
                <a:solidFill>
                  <a:srgbClr val="44546A"/>
                </a:solidFill>
                <a:latin typeface="Tahoma"/>
                <a:ea typeface="Tahoma"/>
                <a:cs typeface="Tahoma"/>
              </a:rPr>
              <a:t>Project OWL · DuckLink</a:t>
            </a:r>
            <a:r>
              <a:rPr lang="en-US" sz="1100" dirty="0">
                <a:solidFill>
                  <a:srgbClr val="66788A"/>
                </a:solidFill>
                <a:latin typeface="Tahoma"/>
                <a:ea typeface="Tahoma"/>
                <a:cs typeface="Tahoma"/>
              </a:rPr>
              <a:t> [13]</a:t>
            </a:r>
            <a:endParaRPr lang="en-US" sz="1450" dirty="0"/>
          </a:p>
        </p:txBody>
      </p:sp>
      <p:sp>
        <p:nvSpPr>
          <p:cNvPr id="25" name="Project OWL · DuckLink (highlight)"/>
          <p:cNvSpPr/>
          <p:nvPr/>
        </p:nvSpPr>
        <p:spPr>
          <a:xfrm>
            <a:off x="4645152" y="4828032"/>
            <a:ext cx="2926080" cy="475488"/>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450" b="1" dirty="0">
                <a:solidFill>
                  <a:srgbClr val="FFFFFF"/>
                </a:solidFill>
                <a:latin typeface="Tahoma"/>
                <a:ea typeface="Tahoma"/>
                <a:cs typeface="Tahoma"/>
              </a:rPr>
              <a:t>Project OWL · DuckLink</a:t>
            </a:r>
            <a:r>
              <a:rPr lang="en-US" sz="1100" b="1" dirty="0">
                <a:solidFill>
                  <a:srgbClr val="BFD9F2"/>
                </a:solidFill>
                <a:latin typeface="Tahoma"/>
                <a:ea typeface="Tahoma"/>
                <a:cs typeface="Tahoma"/>
              </a:rPr>
              <a:t> [13]</a:t>
            </a:r>
            <a:endParaRPr lang="en-US" sz="1450" dirty="0"/>
          </a:p>
        </p:txBody>
      </p:sp>
      <p:cxnSp>
        <p:nvCxnSpPr>
          <p:cNvPr id="26" name="Line 26"/>
          <p:cNvCxnSpPr/>
          <p:nvPr/>
        </p:nvCxnSpPr>
        <p:spPr>
          <a:xfrm>
            <a:off x="9765792" y="2432304"/>
            <a:ext cx="0" cy="274320"/>
          </a:xfrm>
          <a:prstGeom prst="line">
            <a:avLst/>
          </a:prstGeom>
          <a:ln w="19050">
            <a:solidFill>
              <a:srgbClr val="B9D3E6"/>
            </a:solidFill>
          </a:ln>
        </p:spPr>
      </p:cxnSp>
      <p:sp>
        <p:nvSpPr>
          <p:cNvPr id="27" name="Column 3"/>
          <p:cNvSpPr/>
          <p:nvPr/>
        </p:nvSpPr>
        <p:spPr>
          <a:xfrm>
            <a:off x="8074152" y="2706624"/>
            <a:ext cx="3383280" cy="3063240"/>
          </a:xfrm>
          <a:prstGeom prst="roundRect">
            <a:avLst>
              <a:gd name="adj" fmla="val 2686"/>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8" name="Routing research (base)"/>
          <p:cNvSpPr txBox="1"/>
          <p:nvPr/>
        </p:nvSpPr>
        <p:spPr>
          <a:xfrm>
            <a:off x="8302752" y="2852928"/>
            <a:ext cx="2926080" cy="566928"/>
          </a:xfrm>
          <a:prstGeom prst="rect">
            <a:avLst/>
          </a:prstGeom>
          <a:noFill/>
          <a:ln>
            <a:noFill/>
          </a:ln>
        </p:spPr>
        <p:txBody>
          <a:bodyPr wrap="square" lIns="0" tIns="0" rIns="0" bIns="0" rtlCol="0" anchor="ctr">
            <a:noAutofit/>
          </a:bodyPr>
          <a:lstStyle/>
          <a:p>
            <a:pPr marL="0" indent="0" algn="l">
              <a:buNone/>
            </a:pPr>
            <a:r>
              <a:rPr lang="en-US" sz="1450" b="1" dirty="0">
                <a:solidFill>
                  <a:srgbClr val="003E82"/>
                </a:solidFill>
                <a:latin typeface="Tahoma"/>
                <a:ea typeface="Tahoma"/>
                <a:cs typeface="Tahoma"/>
              </a:rPr>
              <a:t>Routing research</a:t>
            </a:r>
            <a:endParaRPr lang="en-US" sz="1450" dirty="0"/>
          </a:p>
        </p:txBody>
      </p:sp>
      <p:sp>
        <p:nvSpPr>
          <p:cNvPr id="29" name="Routing research (highlight)"/>
          <p:cNvSpPr/>
          <p:nvPr/>
        </p:nvSpPr>
        <p:spPr>
          <a:xfrm>
            <a:off x="8302752" y="2852928"/>
            <a:ext cx="2926080" cy="566928"/>
          </a:xfrm>
          <a:prstGeom prst="rect">
            <a:avLst/>
          </a:prstGeom>
          <a:solidFill>
            <a:srgbClr val="FFFFFF"/>
          </a:solidFill>
          <a:ln>
            <a:noFill/>
          </a:ln>
        </p:spPr>
        <p:txBody>
          <a:bodyPr wrap="square" lIns="0" tIns="0" rIns="0" bIns="0" rtlCol="0" anchor="ctr">
            <a:noAutofit/>
          </a:bodyPr>
          <a:lstStyle/>
          <a:p>
            <a:pPr marL="0" indent="0" algn="l">
              <a:buNone/>
            </a:pPr>
            <a:r>
              <a:rPr lang="en-US" sz="1450" b="1" dirty="0">
                <a:solidFill>
                  <a:srgbClr val="B85700"/>
                </a:solidFill>
                <a:latin typeface="Tahoma"/>
                <a:ea typeface="Tahoma"/>
                <a:cs typeface="Tahoma"/>
              </a:rPr>
              <a:t>Routing research</a:t>
            </a:r>
            <a:endParaRPr lang="en-US" sz="1450" dirty="0"/>
          </a:p>
        </p:txBody>
      </p:sp>
      <p:sp>
        <p:nvSpPr>
          <p:cNvPr id="30" name="AI-optimised routing (base)"/>
          <p:cNvSpPr/>
          <p:nvPr/>
        </p:nvSpPr>
        <p:spPr>
          <a:xfrm>
            <a:off x="8302752" y="3584448"/>
            <a:ext cx="2926080" cy="475488"/>
          </a:xfrm>
          <a:prstGeom prst="roundRect">
            <a:avLst>
              <a:gd name="adj" fmla="val 50000"/>
            </a:avLst>
          </a:prstGeom>
          <a:solidFill>
            <a:srgbClr val="F2F8FC"/>
          </a:solidFill>
          <a:ln w="12700">
            <a:solidFill>
              <a:srgbClr val="D3EAF6"/>
            </a:solidFill>
          </a:ln>
        </p:spPr>
        <p:txBody>
          <a:bodyPr wrap="square" lIns="0" tIns="0" rIns="0" bIns="0" rtlCol="0" anchor="ctr">
            <a:noAutofit/>
          </a:bodyPr>
          <a:lstStyle/>
          <a:p>
            <a:pPr marL="0" indent="0" algn="ctr">
              <a:buNone/>
            </a:pPr>
            <a:r>
              <a:rPr lang="en-US" sz="1450" dirty="0">
                <a:solidFill>
                  <a:srgbClr val="44546A"/>
                </a:solidFill>
                <a:latin typeface="Tahoma"/>
                <a:ea typeface="Tahoma"/>
                <a:cs typeface="Tahoma"/>
              </a:rPr>
              <a:t>AI-optimised routing</a:t>
            </a:r>
            <a:r>
              <a:rPr lang="en-US" sz="1100" dirty="0">
                <a:solidFill>
                  <a:srgbClr val="66788A"/>
                </a:solidFill>
                <a:latin typeface="Tahoma"/>
                <a:ea typeface="Tahoma"/>
                <a:cs typeface="Tahoma"/>
              </a:rPr>
              <a:t> [7]</a:t>
            </a:r>
            <a:endParaRPr lang="en-US" sz="1450" dirty="0"/>
          </a:p>
        </p:txBody>
      </p:sp>
      <p:sp>
        <p:nvSpPr>
          <p:cNvPr id="31" name="AI-optimised routing (highlight)"/>
          <p:cNvSpPr/>
          <p:nvPr/>
        </p:nvSpPr>
        <p:spPr>
          <a:xfrm>
            <a:off x="8302752" y="3584448"/>
            <a:ext cx="2926080" cy="475488"/>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450" b="1" dirty="0">
                <a:solidFill>
                  <a:srgbClr val="FFFFFF"/>
                </a:solidFill>
                <a:latin typeface="Tahoma"/>
                <a:ea typeface="Tahoma"/>
                <a:cs typeface="Tahoma"/>
              </a:rPr>
              <a:t>AI-optimised routing</a:t>
            </a:r>
            <a:r>
              <a:rPr lang="en-US" sz="1100" b="1" dirty="0">
                <a:solidFill>
                  <a:srgbClr val="BFD9F2"/>
                </a:solidFill>
                <a:latin typeface="Tahoma"/>
                <a:ea typeface="Tahoma"/>
                <a:cs typeface="Tahoma"/>
              </a:rPr>
              <a:t> [7]</a:t>
            </a:r>
            <a:endParaRPr lang="en-US" sz="1450" dirty="0"/>
          </a:p>
        </p:txBody>
      </p:sp>
      <p:sp>
        <p:nvSpPr>
          <p:cNvPr id="32" name="Power-aware routing (base)"/>
          <p:cNvSpPr/>
          <p:nvPr/>
        </p:nvSpPr>
        <p:spPr>
          <a:xfrm>
            <a:off x="8302752" y="4206240"/>
            <a:ext cx="2926080" cy="475488"/>
          </a:xfrm>
          <a:prstGeom prst="roundRect">
            <a:avLst>
              <a:gd name="adj" fmla="val 50000"/>
            </a:avLst>
          </a:prstGeom>
          <a:solidFill>
            <a:srgbClr val="F2F8FC"/>
          </a:solidFill>
          <a:ln w="12700">
            <a:solidFill>
              <a:srgbClr val="D3EAF6"/>
            </a:solidFill>
          </a:ln>
        </p:spPr>
        <p:txBody>
          <a:bodyPr wrap="square" lIns="0" tIns="0" rIns="0" bIns="0" rtlCol="0" anchor="ctr">
            <a:noAutofit/>
          </a:bodyPr>
          <a:lstStyle/>
          <a:p>
            <a:pPr marL="0" indent="0" algn="ctr">
              <a:buNone/>
            </a:pPr>
            <a:r>
              <a:rPr lang="en-US" sz="1450" dirty="0">
                <a:solidFill>
                  <a:srgbClr val="44546A"/>
                </a:solidFill>
                <a:latin typeface="Tahoma"/>
                <a:ea typeface="Tahoma"/>
                <a:cs typeface="Tahoma"/>
              </a:rPr>
              <a:t>Power-aware routing</a:t>
            </a:r>
            <a:r>
              <a:rPr lang="en-US" sz="1100" dirty="0">
                <a:solidFill>
                  <a:srgbClr val="66788A"/>
                </a:solidFill>
                <a:latin typeface="Tahoma"/>
                <a:ea typeface="Tahoma"/>
                <a:cs typeface="Tahoma"/>
              </a:rPr>
              <a:t> [8]</a:t>
            </a:r>
            <a:endParaRPr lang="en-US" sz="1450" dirty="0"/>
          </a:p>
        </p:txBody>
      </p:sp>
      <p:sp>
        <p:nvSpPr>
          <p:cNvPr id="33" name="Power-aware routing (highlight)"/>
          <p:cNvSpPr/>
          <p:nvPr/>
        </p:nvSpPr>
        <p:spPr>
          <a:xfrm>
            <a:off x="8302752" y="4206240"/>
            <a:ext cx="2926080" cy="475488"/>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450" b="1" dirty="0">
                <a:solidFill>
                  <a:srgbClr val="FFFFFF"/>
                </a:solidFill>
                <a:latin typeface="Tahoma"/>
                <a:ea typeface="Tahoma"/>
                <a:cs typeface="Tahoma"/>
              </a:rPr>
              <a:t>Power-aware routing</a:t>
            </a:r>
            <a:r>
              <a:rPr lang="en-US" sz="1100" b="1" dirty="0">
                <a:solidFill>
                  <a:srgbClr val="BFD9F2"/>
                </a:solidFill>
                <a:latin typeface="Tahoma"/>
                <a:ea typeface="Tahoma"/>
                <a:cs typeface="Tahoma"/>
              </a:rPr>
              <a:t> [8]</a:t>
            </a:r>
            <a:endParaRPr lang="en-US" sz="1450" dirty="0"/>
          </a:p>
        </p:txBody>
      </p:sp>
      <p:cxnSp>
        <p:nvCxnSpPr>
          <p:cNvPr id="34" name="Footer rule"/>
          <p:cNvCxnSpPr/>
          <p:nvPr/>
        </p:nvCxnSpPr>
        <p:spPr>
          <a:xfrm>
            <a:off x="502920" y="6199632"/>
            <a:ext cx="11155680" cy="0"/>
          </a:xfrm>
          <a:prstGeom prst="line">
            <a:avLst/>
          </a:prstGeom>
          <a:ln w="12700">
            <a:solidFill>
              <a:srgbClr val="003E82">
                <a:alpha val="25000"/>
              </a:srgbClr>
            </a:solidFill>
          </a:ln>
        </p:spPr>
      </p:cxnSp>
      <p:pic>
        <p:nvPicPr>
          <p:cNvPr id="35"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36"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7"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05</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350"/>
                                        <p:tgtEl>
                                          <p:spTgt spid="7"/>
                                        </p:tgtEl>
                                      </p:cBhvr>
                                    </p:animEffect>
                                    <p:set>
                                      <p:cBhvr>
                                        <p:cTn id="12" dur="1" fill="hold">
                                          <p:stCondLst>
                                            <p:cond delay="349"/>
                                          </p:stCondLst>
                                        </p:cTn>
                                        <p:tgtEl>
                                          <p:spTgt spid="7"/>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350"/>
                                        <p:tgtEl>
                                          <p:spTgt spid="13"/>
                                        </p:tgtEl>
                                      </p:cBhvr>
                                    </p:animEffect>
                                    <p:set>
                                      <p:cBhvr>
                                        <p:cTn id="23" dur="1" fill="hold">
                                          <p:stCondLst>
                                            <p:cond delay="349"/>
                                          </p:stCondLst>
                                        </p:cTn>
                                        <p:tgtEl>
                                          <p:spTgt spid="13"/>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350"/>
                                        <p:tgtEl>
                                          <p:spTgt spid="15"/>
                                        </p:tgtEl>
                                      </p:cBhvr>
                                    </p:animEffect>
                                    <p:set>
                                      <p:cBhvr>
                                        <p:cTn id="26" dur="1" fill="hold">
                                          <p:stCondLst>
                                            <p:cond delay="349"/>
                                          </p:stCondLst>
                                        </p:cTn>
                                        <p:tgtEl>
                                          <p:spTgt spid="15"/>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5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grpId="1" nodeType="clickEffect">
                                  <p:stCondLst>
                                    <p:cond delay="0"/>
                                  </p:stCondLst>
                                  <p:childTnLst>
                                    <p:animEffect transition="out" filter="fade">
                                      <p:cBhvr>
                                        <p:cTn id="42" dur="350"/>
                                        <p:tgtEl>
                                          <p:spTgt spid="21"/>
                                        </p:tgtEl>
                                      </p:cBhvr>
                                    </p:animEffect>
                                    <p:set>
                                      <p:cBhvr>
                                        <p:cTn id="43" dur="1" fill="hold">
                                          <p:stCondLst>
                                            <p:cond delay="349"/>
                                          </p:stCondLst>
                                        </p:cTn>
                                        <p:tgtEl>
                                          <p:spTgt spid="21"/>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350"/>
                                        <p:tgtEl>
                                          <p:spTgt spid="23"/>
                                        </p:tgtEl>
                                      </p:cBhvr>
                                    </p:animEffect>
                                    <p:set>
                                      <p:cBhvr>
                                        <p:cTn id="46" dur="1" fill="hold">
                                          <p:stCondLst>
                                            <p:cond delay="349"/>
                                          </p:stCondLst>
                                        </p:cTn>
                                        <p:tgtEl>
                                          <p:spTgt spid="2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grpId="1" nodeType="clickEffect">
                                  <p:stCondLst>
                                    <p:cond delay="0"/>
                                  </p:stCondLst>
                                  <p:childTnLst>
                                    <p:animEffect transition="out" filter="fade">
                                      <p:cBhvr>
                                        <p:cTn id="50" dur="350"/>
                                        <p:tgtEl>
                                          <p:spTgt spid="19"/>
                                        </p:tgtEl>
                                      </p:cBhvr>
                                    </p:animEffect>
                                    <p:set>
                                      <p:cBhvr>
                                        <p:cTn id="51" dur="1" fill="hold">
                                          <p:stCondLst>
                                            <p:cond delay="349"/>
                                          </p:stCondLst>
                                        </p:cTn>
                                        <p:tgtEl>
                                          <p:spTgt spid="19"/>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350"/>
                                        <p:tgtEl>
                                          <p:spTgt spid="25"/>
                                        </p:tgtEl>
                                      </p:cBhvr>
                                    </p:animEffect>
                                    <p:set>
                                      <p:cBhvr>
                                        <p:cTn id="54" dur="1" fill="hold">
                                          <p:stCondLst>
                                            <p:cond delay="349"/>
                                          </p:stCondLst>
                                        </p:cTn>
                                        <p:tgtEl>
                                          <p:spTgt spid="25"/>
                                        </p:tgtEl>
                                        <p:attrNameLst>
                                          <p:attrName>style.visibility</p:attrName>
                                        </p:attrNameLst>
                                      </p:cBhvr>
                                      <p:to>
                                        <p:strVal val="hidden"/>
                                      </p:to>
                                    </p:set>
                                  </p:childTnLst>
                                </p:cTn>
                              </p:par>
                              <p:par>
                                <p:cTn id="55"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50"/>
                                        <p:tgtEl>
                                          <p:spTgt spid="2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50"/>
                                        <p:tgtEl>
                                          <p:spTgt spid="3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1" nodeType="clickEffect">
                                  <p:stCondLst>
                                    <p:cond delay="0"/>
                                  </p:stCondLst>
                                  <p:childTnLst>
                                    <p:animEffect transition="out" filter="fade">
                                      <p:cBhvr>
                                        <p:cTn id="64" dur="350"/>
                                        <p:tgtEl>
                                          <p:spTgt spid="31"/>
                                        </p:tgtEl>
                                      </p:cBhvr>
                                    </p:animEffect>
                                    <p:set>
                                      <p:cBhvr>
                                        <p:cTn id="65" dur="1" fill="hold">
                                          <p:stCondLst>
                                            <p:cond delay="349"/>
                                          </p:stCondLst>
                                        </p:cTn>
                                        <p:tgtEl>
                                          <p:spTgt spid="31"/>
                                        </p:tgtEl>
                                        <p:attrNameLst>
                                          <p:attrName>style.visibility</p:attrName>
                                        </p:attrNameLst>
                                      </p:cBhvr>
                                      <p:to>
                                        <p:strVal val="hidden"/>
                                      </p:to>
                                    </p:set>
                                  </p:childTnLst>
                                </p:cTn>
                              </p:par>
                              <p:par>
                                <p:cTn id="66" presetID="10" presetClass="entr" presetSubtype="0" fill="hold" grpId="0"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3" grpId="0" animBg="1"/>
      <p:bldP spid="13" grpId="1" animBg="1"/>
      <p:bldP spid="15" grpId="0" animBg="1"/>
      <p:bldP spid="15" grpId="1" animBg="1"/>
      <p:bldP spid="19" grpId="0" animBg="1"/>
      <p:bldP spid="19" grpId="1" animBg="1"/>
      <p:bldP spid="21" grpId="0" animBg="1"/>
      <p:bldP spid="21" grpId="1" animBg="1"/>
      <p:bldP spid="23" grpId="0" animBg="1"/>
      <p:bldP spid="23" grpId="1" animBg="1"/>
      <p:bldP spid="25" grpId="0" animBg="1"/>
      <p:bldP spid="25" grpId="1" animBg="1"/>
      <p:bldP spid="29" grpId="0" animBg="1"/>
      <p:bldP spid="31" grpId="0" animBg="1"/>
      <p:bldP spid="31" grpId="1"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Gaps">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So why ABOT? Three recurring gaps</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Existing work laid the foundation; the gaps show up when conditions change</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grpSp>
        <p:nvGrpSpPr>
          <p:cNvPr id="6" name="Gap 1"/>
          <p:cNvGrpSpPr/>
          <p:nvPr/>
        </p:nvGrpSpPr>
        <p:grpSpPr>
          <a:xfrm>
            <a:off x="758952" y="1691640"/>
            <a:ext cx="3383280" cy="2286000"/>
            <a:chOff x="758952" y="1691640"/>
            <a:chExt cx="3383280" cy="2286000"/>
          </a:xfrm>
        </p:grpSpPr>
        <p:sp>
          <p:nvSpPr>
            <p:cNvPr id="7" name="Shape 7"/>
            <p:cNvSpPr/>
            <p:nvPr/>
          </p:nvSpPr>
          <p:spPr>
            <a:xfrm>
              <a:off x="758952" y="1691640"/>
              <a:ext cx="3383280" cy="2286000"/>
            </a:xfrm>
            <a:prstGeom prst="roundRect">
              <a:avLst>
                <a:gd name="adj" fmla="val 3599"/>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8" name="Badge 1"/>
            <p:cNvSpPr/>
            <p:nvPr/>
          </p:nvSpPr>
          <p:spPr>
            <a:xfrm>
              <a:off x="987552" y="1892808"/>
              <a:ext cx="530352" cy="530352"/>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1</a:t>
              </a:r>
              <a:endParaRPr lang="en-US" sz="1600" dirty="0"/>
            </a:p>
          </p:txBody>
        </p:sp>
        <p:sp>
          <p:nvSpPr>
            <p:cNvPr id="9" name="Shape 9"/>
            <p:cNvSpPr txBox="1"/>
            <p:nvPr/>
          </p:nvSpPr>
          <p:spPr>
            <a:xfrm>
              <a:off x="1673352" y="1892808"/>
              <a:ext cx="2286000" cy="530352"/>
            </a:xfrm>
            <a:prstGeom prst="rect">
              <a:avLst/>
            </a:prstGeom>
            <a:noFill/>
            <a:ln>
              <a:noFill/>
            </a:ln>
          </p:spPr>
          <p:txBody>
            <a:bodyPr wrap="square" lIns="0" tIns="0" rIns="0" bIns="0" rtlCol="0" anchor="ctr">
              <a:noAutofit/>
            </a:bodyPr>
            <a:lstStyle/>
            <a:p>
              <a:pPr marL="0" indent="0" algn="l">
                <a:buNone/>
              </a:pPr>
              <a:r>
                <a:rPr lang="en-US" sz="1800" b="1" dirty="0">
                  <a:solidFill>
                    <a:srgbClr val="003E82"/>
                  </a:solidFill>
                  <a:latin typeface="Tahoma"/>
                  <a:ea typeface="Tahoma"/>
                  <a:cs typeface="Tahoma"/>
                </a:rPr>
                <a:t>Routing decisions</a:t>
              </a:r>
              <a:endParaRPr lang="en-US" sz="1800" dirty="0"/>
            </a:p>
          </p:txBody>
        </p:sp>
        <p:sp>
          <p:nvSpPr>
            <p:cNvPr id="10" name="Shape 10"/>
            <p:cNvSpPr txBox="1"/>
            <p:nvPr/>
          </p:nvSpPr>
          <p:spPr>
            <a:xfrm>
              <a:off x="987552" y="2633472"/>
              <a:ext cx="2926080" cy="1234440"/>
            </a:xfrm>
            <a:prstGeom prst="rect">
              <a:avLst/>
            </a:prstGeom>
            <a:noFill/>
            <a:ln>
              <a:noFill/>
            </a:ln>
          </p:spPr>
          <p:txBody>
            <a:bodyPr wrap="square" lIns="0" tIns="0" rIns="0" bIns="0" rtlCol="0" anchor="t">
              <a:noAutofit/>
            </a:bodyPr>
            <a:lstStyle/>
            <a:p>
              <a:pPr marL="0" indent="0" algn="l">
                <a:lnSpc>
                  <a:spcPct val="105000"/>
                </a:lnSpc>
                <a:buNone/>
              </a:pPr>
              <a:r>
                <a:rPr lang="en-US" sz="1400" dirty="0">
                  <a:solidFill>
                    <a:srgbClr val="44546A"/>
                  </a:solidFill>
                  <a:latin typeface="Tahoma"/>
                  <a:ea typeface="Tahoma"/>
                  <a:cs typeface="Tahoma"/>
                </a:rPr>
                <a:t>Link-quality routing exists, but uses static information or re-routes only after a failure</a:t>
              </a:r>
              <a:endParaRPr lang="en-US" sz="1400" dirty="0"/>
            </a:p>
          </p:txBody>
        </p:sp>
      </p:grpSp>
      <p:grpSp>
        <p:nvGrpSpPr>
          <p:cNvPr id="11" name="Gap 2"/>
          <p:cNvGrpSpPr/>
          <p:nvPr/>
        </p:nvGrpSpPr>
        <p:grpSpPr>
          <a:xfrm>
            <a:off x="4416552" y="1691640"/>
            <a:ext cx="3383280" cy="2286000"/>
            <a:chOff x="4416552" y="1691640"/>
            <a:chExt cx="3383280" cy="2286000"/>
          </a:xfrm>
        </p:grpSpPr>
        <p:sp>
          <p:nvSpPr>
            <p:cNvPr id="12" name="Shape 12"/>
            <p:cNvSpPr/>
            <p:nvPr/>
          </p:nvSpPr>
          <p:spPr>
            <a:xfrm>
              <a:off x="4416552" y="1691640"/>
              <a:ext cx="3383280" cy="2286000"/>
            </a:xfrm>
            <a:prstGeom prst="roundRect">
              <a:avLst>
                <a:gd name="adj" fmla="val 3599"/>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3" name="Badge 2"/>
            <p:cNvSpPr/>
            <p:nvPr/>
          </p:nvSpPr>
          <p:spPr>
            <a:xfrm>
              <a:off x="4645152" y="1892808"/>
              <a:ext cx="530352" cy="530352"/>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2</a:t>
              </a:r>
              <a:endParaRPr lang="en-US" sz="1600" dirty="0"/>
            </a:p>
          </p:txBody>
        </p:sp>
        <p:sp>
          <p:nvSpPr>
            <p:cNvPr id="14" name="Shape 14"/>
            <p:cNvSpPr txBox="1"/>
            <p:nvPr/>
          </p:nvSpPr>
          <p:spPr>
            <a:xfrm>
              <a:off x="5330952" y="1892808"/>
              <a:ext cx="2286000" cy="530352"/>
            </a:xfrm>
            <a:prstGeom prst="rect">
              <a:avLst/>
            </a:prstGeom>
            <a:noFill/>
            <a:ln>
              <a:noFill/>
            </a:ln>
          </p:spPr>
          <p:txBody>
            <a:bodyPr wrap="square" lIns="0" tIns="0" rIns="0" bIns="0" rtlCol="0" anchor="ctr">
              <a:noAutofit/>
            </a:bodyPr>
            <a:lstStyle/>
            <a:p>
              <a:pPr marL="0" indent="0" algn="l">
                <a:buNone/>
              </a:pPr>
              <a:r>
                <a:rPr lang="en-US" sz="1800" b="1" dirty="0">
                  <a:solidFill>
                    <a:srgbClr val="003E82"/>
                  </a:solidFill>
                  <a:latin typeface="Tahoma"/>
                  <a:ea typeface="Tahoma"/>
                  <a:cs typeface="Tahoma"/>
                </a:rPr>
                <a:t>Simulation</a:t>
              </a:r>
              <a:endParaRPr lang="en-US" sz="1800" dirty="0"/>
            </a:p>
          </p:txBody>
        </p:sp>
        <p:sp>
          <p:nvSpPr>
            <p:cNvPr id="15" name="Shape 15"/>
            <p:cNvSpPr txBox="1"/>
            <p:nvPr/>
          </p:nvSpPr>
          <p:spPr>
            <a:xfrm>
              <a:off x="4645152" y="2633472"/>
              <a:ext cx="2926080" cy="1234440"/>
            </a:xfrm>
            <a:prstGeom prst="rect">
              <a:avLst/>
            </a:prstGeom>
            <a:noFill/>
            <a:ln>
              <a:noFill/>
            </a:ln>
          </p:spPr>
          <p:txBody>
            <a:bodyPr wrap="square" lIns="0" tIns="0" rIns="0" bIns="0" rtlCol="0" anchor="t">
              <a:noAutofit/>
            </a:bodyPr>
            <a:lstStyle/>
            <a:p>
              <a:pPr marL="0" indent="0" algn="l">
                <a:lnSpc>
                  <a:spcPct val="105000"/>
                </a:lnSpc>
                <a:buNone/>
              </a:pPr>
              <a:r>
                <a:rPr lang="en-US" sz="1400" dirty="0">
                  <a:solidFill>
                    <a:srgbClr val="44546A"/>
                  </a:solidFill>
                  <a:latin typeface="Tahoma"/>
                  <a:ea typeface="Tahoma"/>
                  <a:cs typeface="Tahoma"/>
                </a:rPr>
                <a:t>LoRa simulators target protocol analysis, not fast, RL-ready training</a:t>
              </a:r>
              <a:endParaRPr lang="en-US" sz="1400" dirty="0"/>
            </a:p>
          </p:txBody>
        </p:sp>
      </p:grpSp>
      <p:grpSp>
        <p:nvGrpSpPr>
          <p:cNvPr id="16" name="Gap 3"/>
          <p:cNvGrpSpPr/>
          <p:nvPr/>
        </p:nvGrpSpPr>
        <p:grpSpPr>
          <a:xfrm>
            <a:off x="8074152" y="1691640"/>
            <a:ext cx="3383280" cy="2286000"/>
            <a:chOff x="8074152" y="1691640"/>
            <a:chExt cx="3383280" cy="2286000"/>
          </a:xfrm>
        </p:grpSpPr>
        <p:sp>
          <p:nvSpPr>
            <p:cNvPr id="17" name="Shape 17"/>
            <p:cNvSpPr/>
            <p:nvPr/>
          </p:nvSpPr>
          <p:spPr>
            <a:xfrm>
              <a:off x="8074152" y="1691640"/>
              <a:ext cx="3383280" cy="2286000"/>
            </a:xfrm>
            <a:prstGeom prst="roundRect">
              <a:avLst>
                <a:gd name="adj" fmla="val 3599"/>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8" name="Badge 3"/>
            <p:cNvSpPr/>
            <p:nvPr/>
          </p:nvSpPr>
          <p:spPr>
            <a:xfrm>
              <a:off x="8302752" y="1892808"/>
              <a:ext cx="530352" cy="530352"/>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3</a:t>
              </a:r>
              <a:endParaRPr lang="en-US" sz="1600" dirty="0"/>
            </a:p>
          </p:txBody>
        </p:sp>
        <p:sp>
          <p:nvSpPr>
            <p:cNvPr id="19" name="Shape 19"/>
            <p:cNvSpPr txBox="1"/>
            <p:nvPr/>
          </p:nvSpPr>
          <p:spPr>
            <a:xfrm>
              <a:off x="8988552" y="1892808"/>
              <a:ext cx="2286000" cy="530352"/>
            </a:xfrm>
            <a:prstGeom prst="rect">
              <a:avLst/>
            </a:prstGeom>
            <a:noFill/>
            <a:ln>
              <a:noFill/>
            </a:ln>
          </p:spPr>
          <p:txBody>
            <a:bodyPr wrap="square" lIns="0" tIns="0" rIns="0" bIns="0" rtlCol="0" anchor="ctr">
              <a:noAutofit/>
            </a:bodyPr>
            <a:lstStyle/>
            <a:p>
              <a:pPr marL="0" indent="0" algn="l">
                <a:buNone/>
              </a:pPr>
              <a:r>
                <a:rPr lang="en-US" sz="1800" b="1" dirty="0">
                  <a:solidFill>
                    <a:srgbClr val="003E82"/>
                  </a:solidFill>
                  <a:latin typeface="Tahoma"/>
                  <a:ea typeface="Tahoma"/>
                  <a:cs typeface="Tahoma"/>
                </a:rPr>
                <a:t>Evaluation</a:t>
              </a:r>
              <a:endParaRPr lang="en-US" sz="1800" dirty="0"/>
            </a:p>
          </p:txBody>
        </p:sp>
        <p:sp>
          <p:nvSpPr>
            <p:cNvPr id="20" name="Shape 20"/>
            <p:cNvSpPr txBox="1"/>
            <p:nvPr/>
          </p:nvSpPr>
          <p:spPr>
            <a:xfrm>
              <a:off x="8302752" y="2633472"/>
              <a:ext cx="2926080" cy="1234440"/>
            </a:xfrm>
            <a:prstGeom prst="rect">
              <a:avLst/>
            </a:prstGeom>
            <a:noFill/>
            <a:ln>
              <a:noFill/>
            </a:ln>
          </p:spPr>
          <p:txBody>
            <a:bodyPr wrap="square" lIns="0" tIns="0" rIns="0" bIns="0" rtlCol="0" anchor="t">
              <a:noAutofit/>
            </a:bodyPr>
            <a:lstStyle/>
            <a:p>
              <a:pPr marL="0" indent="0" algn="l">
                <a:lnSpc>
                  <a:spcPct val="105000"/>
                </a:lnSpc>
                <a:buNone/>
              </a:pPr>
              <a:r>
                <a:rPr lang="en-US" sz="1400" dirty="0">
                  <a:solidFill>
                    <a:srgbClr val="44546A"/>
                  </a:solidFill>
                  <a:latin typeface="Tahoma"/>
                  <a:ea typeface="Tahoma"/>
                  <a:cs typeface="Tahoma"/>
                </a:rPr>
                <a:t>Adaptive routing is rarely benchmarked across worsening damage levels</a:t>
              </a:r>
              <a:endParaRPr lang="en-US" sz="1400" dirty="0"/>
            </a:p>
          </p:txBody>
        </p:sp>
      </p:grpSp>
      <p:grpSp>
        <p:nvGrpSpPr>
          <p:cNvPr id="21" name="Related protocols"/>
          <p:cNvGrpSpPr/>
          <p:nvPr/>
        </p:nvGrpSpPr>
        <p:grpSpPr>
          <a:xfrm>
            <a:off x="758952" y="4206240"/>
            <a:ext cx="6629400" cy="1645920"/>
            <a:chOff x="758952" y="4206240"/>
            <a:chExt cx="6629400" cy="1645920"/>
          </a:xfrm>
        </p:grpSpPr>
        <p:sp>
          <p:nvSpPr>
            <p:cNvPr id="22" name="Shape 22"/>
            <p:cNvSpPr/>
            <p:nvPr/>
          </p:nvSpPr>
          <p:spPr>
            <a:xfrm>
              <a:off x="758952" y="4206240"/>
              <a:ext cx="6629400" cy="1645920"/>
            </a:xfrm>
            <a:prstGeom prst="roundRect">
              <a:avLst>
                <a:gd name="adj" fmla="val 500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3" name="Shape 23"/>
            <p:cNvSpPr txBox="1"/>
            <p:nvPr/>
          </p:nvSpPr>
          <p:spPr>
            <a:xfrm>
              <a:off x="987552" y="4343400"/>
              <a:ext cx="6217920" cy="365760"/>
            </a:xfrm>
            <a:prstGeom prst="rect">
              <a:avLst/>
            </a:prstGeom>
            <a:noFill/>
            <a:ln>
              <a:noFill/>
            </a:ln>
          </p:spPr>
          <p:txBody>
            <a:bodyPr wrap="square" lIns="0" tIns="0" rIns="0" bIns="0" rtlCol="0" anchor="ctr">
              <a:noAutofit/>
            </a:bodyPr>
            <a:lstStyle/>
            <a:p>
              <a:pPr marL="0" indent="0" algn="l">
                <a:buNone/>
              </a:pPr>
              <a:r>
                <a:rPr lang="en-US" sz="1400" b="1" dirty="0">
                  <a:solidFill>
                    <a:srgbClr val="003E82"/>
                  </a:solidFill>
                  <a:latin typeface="Tahoma"/>
                  <a:ea typeface="Tahoma"/>
                  <a:cs typeface="Tahoma"/>
                </a:rPr>
                <a:t>Decentralised mesh protocols that route by link quality</a:t>
              </a:r>
              <a:endParaRPr lang="en-US" sz="1400" dirty="0"/>
            </a:p>
          </p:txBody>
        </p:sp>
        <p:sp>
          <p:nvSpPr>
            <p:cNvPr id="24" name="B.A.T.M.A.N."/>
            <p:cNvSpPr/>
            <p:nvPr/>
          </p:nvSpPr>
          <p:spPr>
            <a:xfrm>
              <a:off x="987552" y="4818888"/>
              <a:ext cx="1783080" cy="475488"/>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450" b="1" dirty="0">
                  <a:solidFill>
                    <a:srgbClr val="FFFFFF"/>
                  </a:solidFill>
                  <a:latin typeface="Tahoma"/>
                  <a:ea typeface="Tahoma"/>
                  <a:cs typeface="Tahoma"/>
                </a:rPr>
                <a:t>B.A.T.M.A.N.</a:t>
              </a:r>
              <a:endParaRPr lang="en-US" sz="1450" dirty="0"/>
            </a:p>
          </p:txBody>
        </p:sp>
        <p:sp>
          <p:nvSpPr>
            <p:cNvPr id="25" name="Babel"/>
            <p:cNvSpPr/>
            <p:nvPr/>
          </p:nvSpPr>
          <p:spPr>
            <a:xfrm>
              <a:off x="2907792" y="4818888"/>
              <a:ext cx="1234440" cy="475488"/>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450" b="1" dirty="0">
                  <a:solidFill>
                    <a:srgbClr val="FFFFFF"/>
                  </a:solidFill>
                  <a:latin typeface="Tahoma"/>
                  <a:ea typeface="Tahoma"/>
                  <a:cs typeface="Tahoma"/>
                </a:rPr>
                <a:t>Babel</a:t>
              </a:r>
              <a:endParaRPr lang="en-US" sz="1450" dirty="0"/>
            </a:p>
          </p:txBody>
        </p:sp>
        <p:sp>
          <p:nvSpPr>
            <p:cNvPr id="26" name="OLSR"/>
            <p:cNvSpPr/>
            <p:nvPr/>
          </p:nvSpPr>
          <p:spPr>
            <a:xfrm>
              <a:off x="4279392" y="4818888"/>
              <a:ext cx="1234440" cy="475488"/>
            </a:xfrm>
            <a:prstGeom prst="roundRect">
              <a:avLst>
                <a:gd name="adj" fmla="val 50000"/>
              </a:avLst>
            </a:prstGeom>
            <a:solidFill>
              <a:srgbClr val="003E82"/>
            </a:solidFill>
            <a:ln w="19050">
              <a:solidFill>
                <a:srgbClr val="F7B500"/>
              </a:solid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450" b="1" dirty="0">
                  <a:solidFill>
                    <a:srgbClr val="FFFFFF"/>
                  </a:solidFill>
                  <a:latin typeface="Tahoma"/>
                  <a:ea typeface="Tahoma"/>
                  <a:cs typeface="Tahoma"/>
                </a:rPr>
                <a:t>OLSR</a:t>
              </a:r>
              <a:endParaRPr lang="en-US" sz="1450" dirty="0"/>
            </a:p>
          </p:txBody>
        </p:sp>
        <p:sp>
          <p:nvSpPr>
            <p:cNvPr id="27" name="Shape 27"/>
            <p:cNvSpPr txBox="1"/>
            <p:nvPr/>
          </p:nvSpPr>
          <p:spPr>
            <a:xfrm>
              <a:off x="987552" y="5413248"/>
              <a:ext cx="6217920" cy="329184"/>
            </a:xfrm>
            <a:prstGeom prst="rect">
              <a:avLst/>
            </a:prstGeom>
            <a:noFill/>
            <a:ln>
              <a:noFill/>
            </a:ln>
          </p:spPr>
          <p:txBody>
            <a:bodyPr wrap="square" lIns="0" tIns="0" rIns="0" bIns="0" rtlCol="0" anchor="ctr">
              <a:noAutofit/>
            </a:bodyPr>
            <a:lstStyle/>
            <a:p>
              <a:pPr marL="0" indent="0" algn="l">
                <a:buNone/>
              </a:pPr>
              <a:r>
                <a:rPr lang="en-US" sz="1050" dirty="0">
                  <a:solidFill>
                    <a:srgbClr val="66788A"/>
                  </a:solidFill>
                  <a:latin typeface="Tahoma"/>
                  <a:ea typeface="Tahoma"/>
                  <a:cs typeface="Tahoma"/>
                </a:rPr>
                <a:t>Compared on hardware: packet loss, delay, CPU and memory under load (Diniz et al., ICUAS 2025)</a:t>
              </a:r>
              <a:endParaRPr lang="en-US" sz="1050" dirty="0"/>
            </a:p>
          </p:txBody>
        </p:sp>
      </p:grpSp>
      <p:grpSp>
        <p:nvGrpSpPr>
          <p:cNvPr id="28" name="ABOT adds"/>
          <p:cNvGrpSpPr/>
          <p:nvPr/>
        </p:nvGrpSpPr>
        <p:grpSpPr>
          <a:xfrm>
            <a:off x="7498080" y="4206240"/>
            <a:ext cx="3931920" cy="1645920"/>
            <a:chOff x="7498080" y="4206240"/>
            <a:chExt cx="3931920" cy="1645920"/>
          </a:xfrm>
        </p:grpSpPr>
        <p:sp>
          <p:nvSpPr>
            <p:cNvPr id="29" name="Arrow"/>
            <p:cNvSpPr/>
            <p:nvPr/>
          </p:nvSpPr>
          <p:spPr>
            <a:xfrm>
              <a:off x="7498080" y="4800600"/>
              <a:ext cx="457200" cy="457200"/>
            </a:xfrm>
            <a:prstGeom prst="rightArrow">
              <a:avLst/>
            </a:prstGeom>
            <a:solidFill>
              <a:srgbClr val="FF9100"/>
            </a:solidFill>
            <a:ln>
              <a:noFill/>
            </a:ln>
          </p:spPr>
        </p:sp>
        <p:sp>
          <p:nvSpPr>
            <p:cNvPr id="30" name="Shape 30"/>
            <p:cNvSpPr/>
            <p:nvPr/>
          </p:nvSpPr>
          <p:spPr>
            <a:xfrm>
              <a:off x="8074152" y="4206240"/>
              <a:ext cx="3355848" cy="1645920"/>
            </a:xfrm>
            <a:prstGeom prst="roundRect">
              <a:avLst>
                <a:gd name="adj" fmla="val 5000"/>
              </a:avLst>
            </a:prstGeom>
            <a:solidFill>
              <a:srgbClr val="003E82"/>
            </a:solidFill>
            <a:ln w="12700">
              <a:solidFill>
                <a:srgbClr val="003E82"/>
              </a:solidFill>
            </a:ln>
            <a:effectLst>
              <a:outerShdw blurRad="76200" dist="19050" dir="5400000" algn="t" rotWithShape="0">
                <a:srgbClr val="0A2E5C">
                  <a:alpha val="13000"/>
                </a:srgbClr>
              </a:outerShdw>
            </a:effectLst>
          </p:spPr>
        </p:sp>
        <p:sp>
          <p:nvSpPr>
            <p:cNvPr id="31" name="Shape 31"/>
            <p:cNvSpPr txBox="1"/>
            <p:nvPr/>
          </p:nvSpPr>
          <p:spPr>
            <a:xfrm>
              <a:off x="8302752" y="4315968"/>
              <a:ext cx="2926080" cy="329184"/>
            </a:xfrm>
            <a:prstGeom prst="rect">
              <a:avLst/>
            </a:prstGeom>
            <a:noFill/>
            <a:ln>
              <a:noFill/>
            </a:ln>
          </p:spPr>
          <p:txBody>
            <a:bodyPr wrap="square" lIns="0" tIns="0" rIns="0" bIns="0" rtlCol="0" anchor="ctr">
              <a:noAutofit/>
            </a:bodyPr>
            <a:lstStyle/>
            <a:p>
              <a:pPr marL="0" indent="0" algn="l">
                <a:buNone/>
              </a:pPr>
              <a:r>
                <a:rPr lang="en-US" sz="1300" b="1" dirty="0">
                  <a:solidFill>
                    <a:srgbClr val="F7B500"/>
                  </a:solidFill>
                  <a:latin typeface="Tahoma"/>
                  <a:ea typeface="Tahoma"/>
                  <a:cs typeface="Tahoma"/>
                </a:rPr>
                <a:t>ABOT adds</a:t>
              </a:r>
              <a:endParaRPr lang="en-US" sz="1300" dirty="0"/>
            </a:p>
          </p:txBody>
        </p:sp>
        <p:sp>
          <p:nvSpPr>
            <p:cNvPr id="32" name="Shape 32"/>
            <p:cNvSpPr txBox="1"/>
            <p:nvPr/>
          </p:nvSpPr>
          <p:spPr>
            <a:xfrm>
              <a:off x="8302752" y="4663440"/>
              <a:ext cx="2971800" cy="1097280"/>
            </a:xfrm>
            <a:prstGeom prst="rect">
              <a:avLst/>
            </a:prstGeom>
            <a:noFill/>
            <a:ln>
              <a:noFill/>
            </a:ln>
          </p:spPr>
          <p:txBody>
            <a:bodyPr wrap="square" lIns="0" tIns="0" rIns="0" bIns="0" rtlCol="0" anchor="t">
              <a:noAutofit/>
            </a:bodyPr>
            <a:lstStyle/>
            <a:p>
              <a:pPr marL="201168" indent="-201168" algn="l">
                <a:spcAft>
                  <a:spcPts val="200"/>
                </a:spcAft>
                <a:buClr>
                  <a:srgbClr val="00B7EA"/>
                </a:buClr>
                <a:buSzPct val="100000"/>
                <a:buFont typeface="Arial"/>
                <a:buChar char="•"/>
              </a:pPr>
              <a:r>
                <a:rPr lang="en-US" sz="1450" b="1" dirty="0">
                  <a:solidFill>
                    <a:srgbClr val="FFFFFF"/>
                  </a:solidFill>
                  <a:latin typeface="Tahoma"/>
                  <a:ea typeface="Tahoma"/>
                  <a:cs typeface="Tahoma"/>
                </a:rPr>
                <a:t>LoRa radio limits</a:t>
              </a:r>
              <a:endParaRPr lang="en-US" sz="1450" dirty="0"/>
            </a:p>
            <a:p>
              <a:pPr marL="201168" indent="-201168" algn="l">
                <a:spcAft>
                  <a:spcPts val="200"/>
                </a:spcAft>
                <a:buClr>
                  <a:srgbClr val="00B7EA"/>
                </a:buClr>
                <a:buSzPct val="100000"/>
                <a:buFont typeface="Arial"/>
                <a:buChar char="•"/>
              </a:pPr>
              <a:r>
                <a:rPr lang="en-US" sz="1450" b="1" dirty="0">
                  <a:solidFill>
                    <a:srgbClr val="FFFFFF"/>
                  </a:solidFill>
                  <a:latin typeface="Tahoma"/>
                  <a:ea typeface="Tahoma"/>
                  <a:cs typeface="Tahoma"/>
                </a:rPr>
                <a:t>Five damage levels</a:t>
              </a:r>
              <a:endParaRPr lang="en-US" sz="1450" dirty="0"/>
            </a:p>
            <a:p>
              <a:pPr marL="201168" indent="-201168" algn="l">
                <a:spcAft>
                  <a:spcPts val="200"/>
                </a:spcAft>
                <a:buClr>
                  <a:srgbClr val="00B7EA"/>
                </a:buClr>
                <a:buSzPct val="100000"/>
                <a:buFont typeface="Arial"/>
                <a:buChar char="•"/>
              </a:pPr>
              <a:r>
                <a:rPr lang="en-US" sz="1450" b="1" dirty="0">
                  <a:solidFill>
                    <a:srgbClr val="FFFFFF"/>
                  </a:solidFill>
                  <a:latin typeface="Tahoma"/>
                  <a:ea typeface="Tahoma"/>
                  <a:cs typeface="Tahoma"/>
                </a:rPr>
                <a:t>An RL training interface</a:t>
              </a:r>
              <a:endParaRPr lang="en-US" sz="1450" dirty="0"/>
            </a:p>
          </p:txBody>
        </p:sp>
      </p:grpSp>
      <p:cxnSp>
        <p:nvCxnSpPr>
          <p:cNvPr id="33" name="Footer rule"/>
          <p:cNvCxnSpPr/>
          <p:nvPr/>
        </p:nvCxnSpPr>
        <p:spPr>
          <a:xfrm>
            <a:off x="502920" y="6199632"/>
            <a:ext cx="11155680" cy="0"/>
          </a:xfrm>
          <a:prstGeom prst="line">
            <a:avLst/>
          </a:prstGeom>
          <a:ln w="12700">
            <a:solidFill>
              <a:srgbClr val="003E82">
                <a:alpha val="25000"/>
              </a:srgbClr>
            </a:solidFill>
          </a:ln>
        </p:spPr>
      </p:cxnSp>
      <p:pic>
        <p:nvPicPr>
          <p:cNvPr id="34"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35"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6"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06</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5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Problem statement">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Problem statement</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What we set out to answer</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grpSp>
        <p:nvGrpSpPr>
          <p:cNvPr id="6" name="Challenge 1"/>
          <p:cNvGrpSpPr/>
          <p:nvPr/>
        </p:nvGrpSpPr>
        <p:grpSpPr>
          <a:xfrm>
            <a:off x="758952" y="1691640"/>
            <a:ext cx="5120640" cy="713232"/>
            <a:chOff x="758952" y="1691640"/>
            <a:chExt cx="5120640" cy="713232"/>
          </a:xfrm>
        </p:grpSpPr>
        <p:sp>
          <p:nvSpPr>
            <p:cNvPr id="7" name="Shape 7"/>
            <p:cNvSpPr/>
            <p:nvPr/>
          </p:nvSpPr>
          <p:spPr>
            <a:xfrm>
              <a:off x="758952" y="1691640"/>
              <a:ext cx="5120640" cy="713232"/>
            </a:xfrm>
            <a:prstGeom prst="roundRect">
              <a:avLst>
                <a:gd name="adj" fmla="val 8974"/>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8" name="Badge 1"/>
            <p:cNvSpPr/>
            <p:nvPr/>
          </p:nvSpPr>
          <p:spPr>
            <a:xfrm>
              <a:off x="914400" y="1819656"/>
              <a:ext cx="457200" cy="4572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1</a:t>
              </a:r>
              <a:endParaRPr lang="en-US" sz="1300" dirty="0"/>
            </a:p>
          </p:txBody>
        </p:sp>
        <p:sp>
          <p:nvSpPr>
            <p:cNvPr id="9" name="Shape 9"/>
            <p:cNvSpPr txBox="1"/>
            <p:nvPr/>
          </p:nvSpPr>
          <p:spPr>
            <a:xfrm>
              <a:off x="1554480" y="1755648"/>
              <a:ext cx="4206240" cy="329184"/>
            </a:xfrm>
            <a:prstGeom prst="rect">
              <a:avLst/>
            </a:prstGeom>
            <a:noFill/>
            <a:ln>
              <a:noFill/>
            </a:ln>
          </p:spPr>
          <p:txBody>
            <a:bodyPr wrap="square" lIns="0" tIns="0" rIns="0" bIns="0" rtlCol="0" anchor="ctr">
              <a:noAutofit/>
            </a:bodyPr>
            <a:lstStyle/>
            <a:p>
              <a:pPr marL="0" indent="0" algn="l">
                <a:buNone/>
              </a:pPr>
              <a:r>
                <a:rPr lang="en-US" sz="1450" b="1" dirty="0">
                  <a:solidFill>
                    <a:srgbClr val="08325F"/>
                  </a:solidFill>
                  <a:latin typeface="Tahoma"/>
                  <a:ea typeface="Tahoma"/>
                  <a:cs typeface="Tahoma"/>
                </a:rPr>
                <a:t>Central gateway dependency</a:t>
              </a:r>
              <a:endParaRPr lang="en-US" sz="1450" dirty="0"/>
            </a:p>
          </p:txBody>
        </p:sp>
        <p:sp>
          <p:nvSpPr>
            <p:cNvPr id="10" name="Shape 10"/>
            <p:cNvSpPr txBox="1"/>
            <p:nvPr/>
          </p:nvSpPr>
          <p:spPr>
            <a:xfrm>
              <a:off x="1554480" y="2066544"/>
              <a:ext cx="4206240" cy="274320"/>
            </a:xfrm>
            <a:prstGeom prst="rect">
              <a:avLst/>
            </a:prstGeom>
            <a:noFill/>
            <a:ln>
              <a:noFill/>
            </a:ln>
          </p:spPr>
          <p:txBody>
            <a:bodyPr wrap="square" lIns="0" tIns="0" rIns="0" bIns="0" rtlCol="0" anchor="ctr">
              <a:noAutofit/>
            </a:bodyPr>
            <a:lstStyle/>
            <a:p>
              <a:pPr marL="0" indent="0" algn="l">
                <a:buNone/>
              </a:pPr>
              <a:r>
                <a:rPr lang="en-US" sz="1200" dirty="0">
                  <a:solidFill>
                    <a:srgbClr val="44546A"/>
                  </a:solidFill>
                  <a:latin typeface="Tahoma"/>
                  <a:ea typeface="Tahoma"/>
                  <a:cs typeface="Tahoma"/>
                </a:rPr>
                <a:t>single point of failure</a:t>
              </a:r>
              <a:endParaRPr lang="en-US" sz="1200" dirty="0"/>
            </a:p>
          </p:txBody>
        </p:sp>
      </p:grpSp>
      <p:grpSp>
        <p:nvGrpSpPr>
          <p:cNvPr id="11" name="Challenge 2"/>
          <p:cNvGrpSpPr/>
          <p:nvPr/>
        </p:nvGrpSpPr>
        <p:grpSpPr>
          <a:xfrm>
            <a:off x="758952" y="2514600"/>
            <a:ext cx="5120640" cy="713232"/>
            <a:chOff x="758952" y="2514600"/>
            <a:chExt cx="5120640" cy="713232"/>
          </a:xfrm>
        </p:grpSpPr>
        <p:sp>
          <p:nvSpPr>
            <p:cNvPr id="12" name="Shape 12"/>
            <p:cNvSpPr/>
            <p:nvPr/>
          </p:nvSpPr>
          <p:spPr>
            <a:xfrm>
              <a:off x="758952" y="2514600"/>
              <a:ext cx="5120640" cy="713232"/>
            </a:xfrm>
            <a:prstGeom prst="roundRect">
              <a:avLst>
                <a:gd name="adj" fmla="val 8974"/>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3" name="Badge 2"/>
            <p:cNvSpPr/>
            <p:nvPr/>
          </p:nvSpPr>
          <p:spPr>
            <a:xfrm>
              <a:off x="914400" y="2642616"/>
              <a:ext cx="457200" cy="4572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2</a:t>
              </a:r>
              <a:endParaRPr lang="en-US" sz="1300" dirty="0"/>
            </a:p>
          </p:txBody>
        </p:sp>
        <p:sp>
          <p:nvSpPr>
            <p:cNvPr id="14" name="Shape 14"/>
            <p:cNvSpPr txBox="1"/>
            <p:nvPr/>
          </p:nvSpPr>
          <p:spPr>
            <a:xfrm>
              <a:off x="1554480" y="2578608"/>
              <a:ext cx="4206240" cy="329184"/>
            </a:xfrm>
            <a:prstGeom prst="rect">
              <a:avLst/>
            </a:prstGeom>
            <a:noFill/>
            <a:ln>
              <a:noFill/>
            </a:ln>
          </p:spPr>
          <p:txBody>
            <a:bodyPr wrap="square" lIns="0" tIns="0" rIns="0" bIns="0" rtlCol="0" anchor="ctr">
              <a:noAutofit/>
            </a:bodyPr>
            <a:lstStyle/>
            <a:p>
              <a:pPr marL="0" indent="0" algn="l">
                <a:buNone/>
              </a:pPr>
              <a:r>
                <a:rPr lang="en-US" sz="1450" b="1" dirty="0">
                  <a:solidFill>
                    <a:srgbClr val="08325F"/>
                  </a:solidFill>
                  <a:latin typeface="Tahoma"/>
                  <a:ea typeface="Tahoma"/>
                  <a:cs typeface="Tahoma"/>
                </a:rPr>
                <a:t>Static routing decisions</a:t>
              </a:r>
              <a:endParaRPr lang="en-US" sz="1450" dirty="0"/>
            </a:p>
          </p:txBody>
        </p:sp>
        <p:sp>
          <p:nvSpPr>
            <p:cNvPr id="15" name="Shape 15"/>
            <p:cNvSpPr txBox="1"/>
            <p:nvPr/>
          </p:nvSpPr>
          <p:spPr>
            <a:xfrm>
              <a:off x="1554480" y="2889504"/>
              <a:ext cx="4206240" cy="274320"/>
            </a:xfrm>
            <a:prstGeom prst="rect">
              <a:avLst/>
            </a:prstGeom>
            <a:noFill/>
            <a:ln>
              <a:noFill/>
            </a:ln>
          </p:spPr>
          <p:txBody>
            <a:bodyPr wrap="square" lIns="0" tIns="0" rIns="0" bIns="0" rtlCol="0" anchor="ctr">
              <a:noAutofit/>
            </a:bodyPr>
            <a:lstStyle/>
            <a:p>
              <a:pPr marL="0" indent="0" algn="l">
                <a:buNone/>
              </a:pPr>
              <a:r>
                <a:rPr lang="en-US" sz="1200" dirty="0">
                  <a:solidFill>
                    <a:srgbClr val="44546A"/>
                  </a:solidFill>
                  <a:latin typeface="Tahoma"/>
                  <a:ea typeface="Tahoma"/>
                  <a:cs typeface="Tahoma"/>
                </a:rPr>
                <a:t>limited adaptation to changing link quality</a:t>
              </a:r>
              <a:endParaRPr lang="en-US" sz="1200" dirty="0"/>
            </a:p>
          </p:txBody>
        </p:sp>
      </p:grpSp>
      <p:grpSp>
        <p:nvGrpSpPr>
          <p:cNvPr id="16" name="Challenge 3"/>
          <p:cNvGrpSpPr/>
          <p:nvPr/>
        </p:nvGrpSpPr>
        <p:grpSpPr>
          <a:xfrm>
            <a:off x="758952" y="3337560"/>
            <a:ext cx="5120640" cy="713232"/>
            <a:chOff x="758952" y="3337560"/>
            <a:chExt cx="5120640" cy="713232"/>
          </a:xfrm>
        </p:grpSpPr>
        <p:sp>
          <p:nvSpPr>
            <p:cNvPr id="17" name="Shape 17"/>
            <p:cNvSpPr/>
            <p:nvPr/>
          </p:nvSpPr>
          <p:spPr>
            <a:xfrm>
              <a:off x="758952" y="3337560"/>
              <a:ext cx="5120640" cy="713232"/>
            </a:xfrm>
            <a:prstGeom prst="roundRect">
              <a:avLst>
                <a:gd name="adj" fmla="val 8974"/>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8" name="Badge 3"/>
            <p:cNvSpPr/>
            <p:nvPr/>
          </p:nvSpPr>
          <p:spPr>
            <a:xfrm>
              <a:off x="914400" y="3465576"/>
              <a:ext cx="457200" cy="4572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3</a:t>
              </a:r>
              <a:endParaRPr lang="en-US" sz="1300" dirty="0"/>
            </a:p>
          </p:txBody>
        </p:sp>
        <p:sp>
          <p:nvSpPr>
            <p:cNvPr id="19" name="Shape 19"/>
            <p:cNvSpPr txBox="1"/>
            <p:nvPr/>
          </p:nvSpPr>
          <p:spPr>
            <a:xfrm>
              <a:off x="1554480" y="3401568"/>
              <a:ext cx="4206240" cy="329184"/>
            </a:xfrm>
            <a:prstGeom prst="rect">
              <a:avLst/>
            </a:prstGeom>
            <a:noFill/>
            <a:ln>
              <a:noFill/>
            </a:ln>
          </p:spPr>
          <p:txBody>
            <a:bodyPr wrap="square" lIns="0" tIns="0" rIns="0" bIns="0" rtlCol="0" anchor="ctr">
              <a:noAutofit/>
            </a:bodyPr>
            <a:lstStyle/>
            <a:p>
              <a:pPr marL="0" indent="0" algn="l">
                <a:buNone/>
              </a:pPr>
              <a:r>
                <a:rPr lang="en-US" sz="1450" b="1" dirty="0">
                  <a:solidFill>
                    <a:srgbClr val="08325F"/>
                  </a:solidFill>
                  <a:latin typeface="Tahoma"/>
                  <a:ea typeface="Tahoma"/>
                  <a:cs typeface="Tahoma"/>
                </a:rPr>
                <a:t>Reactive route recalculation</a:t>
              </a:r>
              <a:endParaRPr lang="en-US" sz="1450" dirty="0"/>
            </a:p>
          </p:txBody>
        </p:sp>
        <p:sp>
          <p:nvSpPr>
            <p:cNvPr id="20" name="Shape 20"/>
            <p:cNvSpPr txBox="1"/>
            <p:nvPr/>
          </p:nvSpPr>
          <p:spPr>
            <a:xfrm>
              <a:off x="1554480" y="3712464"/>
              <a:ext cx="4206240" cy="274320"/>
            </a:xfrm>
            <a:prstGeom prst="rect">
              <a:avLst/>
            </a:prstGeom>
            <a:noFill/>
            <a:ln>
              <a:noFill/>
            </a:ln>
          </p:spPr>
          <p:txBody>
            <a:bodyPr wrap="square" lIns="0" tIns="0" rIns="0" bIns="0" rtlCol="0" anchor="ctr">
              <a:noAutofit/>
            </a:bodyPr>
            <a:lstStyle/>
            <a:p>
              <a:pPr marL="0" indent="0" algn="l">
                <a:buNone/>
              </a:pPr>
              <a:r>
                <a:rPr lang="en-US" sz="1200" dirty="0">
                  <a:solidFill>
                    <a:srgbClr val="44546A"/>
                  </a:solidFill>
                  <a:latin typeface="Tahoma"/>
                  <a:ea typeface="Tahoma"/>
                  <a:cs typeface="Tahoma"/>
                </a:rPr>
                <a:t>routes change only after a failure</a:t>
              </a:r>
              <a:endParaRPr lang="en-US" sz="1200" dirty="0"/>
            </a:p>
          </p:txBody>
        </p:sp>
      </p:grpSp>
      <p:grpSp>
        <p:nvGrpSpPr>
          <p:cNvPr id="21" name="Challenge 4"/>
          <p:cNvGrpSpPr/>
          <p:nvPr/>
        </p:nvGrpSpPr>
        <p:grpSpPr>
          <a:xfrm>
            <a:off x="758952" y="4160520"/>
            <a:ext cx="5120640" cy="713232"/>
            <a:chOff x="758952" y="4160520"/>
            <a:chExt cx="5120640" cy="713232"/>
          </a:xfrm>
        </p:grpSpPr>
        <p:sp>
          <p:nvSpPr>
            <p:cNvPr id="22" name="Shape 22"/>
            <p:cNvSpPr/>
            <p:nvPr/>
          </p:nvSpPr>
          <p:spPr>
            <a:xfrm>
              <a:off x="758952" y="4160520"/>
              <a:ext cx="5120640" cy="713232"/>
            </a:xfrm>
            <a:prstGeom prst="roundRect">
              <a:avLst>
                <a:gd name="adj" fmla="val 8974"/>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3" name="Badge 4"/>
            <p:cNvSpPr/>
            <p:nvPr/>
          </p:nvSpPr>
          <p:spPr>
            <a:xfrm>
              <a:off x="914400" y="4288536"/>
              <a:ext cx="457200" cy="4572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4</a:t>
              </a:r>
              <a:endParaRPr lang="en-US" sz="1300" dirty="0"/>
            </a:p>
          </p:txBody>
        </p:sp>
        <p:sp>
          <p:nvSpPr>
            <p:cNvPr id="24" name="Shape 24"/>
            <p:cNvSpPr txBox="1"/>
            <p:nvPr/>
          </p:nvSpPr>
          <p:spPr>
            <a:xfrm>
              <a:off x="1554480" y="4224528"/>
              <a:ext cx="4206240" cy="329184"/>
            </a:xfrm>
            <a:prstGeom prst="rect">
              <a:avLst/>
            </a:prstGeom>
            <a:noFill/>
            <a:ln>
              <a:noFill/>
            </a:ln>
          </p:spPr>
          <p:txBody>
            <a:bodyPr wrap="square" lIns="0" tIns="0" rIns="0" bIns="0" rtlCol="0" anchor="ctr">
              <a:noAutofit/>
            </a:bodyPr>
            <a:lstStyle/>
            <a:p>
              <a:pPr marL="0" indent="0" algn="l">
                <a:buNone/>
              </a:pPr>
              <a:r>
                <a:rPr lang="en-US" sz="1450" b="1" dirty="0">
                  <a:solidFill>
                    <a:srgbClr val="08325F"/>
                  </a:solidFill>
                  <a:latin typeface="Tahoma"/>
                  <a:ea typeface="Tahoma"/>
                  <a:cs typeface="Tahoma"/>
                </a:rPr>
                <a:t>Limited simulation scalability</a:t>
              </a:r>
              <a:endParaRPr lang="en-US" sz="1450" dirty="0"/>
            </a:p>
          </p:txBody>
        </p:sp>
        <p:sp>
          <p:nvSpPr>
            <p:cNvPr id="25" name="Shape 25"/>
            <p:cNvSpPr txBox="1"/>
            <p:nvPr/>
          </p:nvSpPr>
          <p:spPr>
            <a:xfrm>
              <a:off x="1554480" y="4535424"/>
              <a:ext cx="4206240" cy="274320"/>
            </a:xfrm>
            <a:prstGeom prst="rect">
              <a:avLst/>
            </a:prstGeom>
            <a:noFill/>
            <a:ln>
              <a:noFill/>
            </a:ln>
          </p:spPr>
          <p:txBody>
            <a:bodyPr wrap="square" lIns="0" tIns="0" rIns="0" bIns="0" rtlCol="0" anchor="ctr">
              <a:noAutofit/>
            </a:bodyPr>
            <a:lstStyle/>
            <a:p>
              <a:pPr marL="0" indent="0" algn="l">
                <a:buNone/>
              </a:pPr>
              <a:r>
                <a:rPr lang="en-US" sz="1200" dirty="0">
                  <a:solidFill>
                    <a:srgbClr val="44546A"/>
                  </a:solidFill>
                  <a:latin typeface="Tahoma"/>
                  <a:ea typeface="Tahoma"/>
                  <a:cs typeface="Tahoma"/>
                </a:rPr>
                <a:t>hard to evaluate learning-based routing at scale</a:t>
              </a:r>
              <a:endParaRPr lang="en-US" sz="1200" dirty="0"/>
            </a:p>
          </p:txBody>
        </p:sp>
      </p:grpSp>
      <p:grpSp>
        <p:nvGrpSpPr>
          <p:cNvPr id="26" name="Challenge 5"/>
          <p:cNvGrpSpPr/>
          <p:nvPr/>
        </p:nvGrpSpPr>
        <p:grpSpPr>
          <a:xfrm>
            <a:off x="758952" y="4983480"/>
            <a:ext cx="5120640" cy="713232"/>
            <a:chOff x="758952" y="4983480"/>
            <a:chExt cx="5120640" cy="713232"/>
          </a:xfrm>
        </p:grpSpPr>
        <p:sp>
          <p:nvSpPr>
            <p:cNvPr id="27" name="Shape 27"/>
            <p:cNvSpPr/>
            <p:nvPr/>
          </p:nvSpPr>
          <p:spPr>
            <a:xfrm>
              <a:off x="758952" y="4983480"/>
              <a:ext cx="5120640" cy="713232"/>
            </a:xfrm>
            <a:prstGeom prst="roundRect">
              <a:avLst>
                <a:gd name="adj" fmla="val 8974"/>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8" name="Badge 5"/>
            <p:cNvSpPr/>
            <p:nvPr/>
          </p:nvSpPr>
          <p:spPr>
            <a:xfrm>
              <a:off x="914400" y="5111496"/>
              <a:ext cx="457200" cy="4572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5</a:t>
              </a:r>
              <a:endParaRPr lang="en-US" sz="1300" dirty="0"/>
            </a:p>
          </p:txBody>
        </p:sp>
        <p:sp>
          <p:nvSpPr>
            <p:cNvPr id="29" name="Shape 29"/>
            <p:cNvSpPr txBox="1"/>
            <p:nvPr/>
          </p:nvSpPr>
          <p:spPr>
            <a:xfrm>
              <a:off x="1554480" y="5047488"/>
              <a:ext cx="4206240" cy="329184"/>
            </a:xfrm>
            <a:prstGeom prst="rect">
              <a:avLst/>
            </a:prstGeom>
            <a:noFill/>
            <a:ln>
              <a:noFill/>
            </a:ln>
          </p:spPr>
          <p:txBody>
            <a:bodyPr wrap="square" lIns="0" tIns="0" rIns="0" bIns="0" rtlCol="0" anchor="ctr">
              <a:noAutofit/>
            </a:bodyPr>
            <a:lstStyle/>
            <a:p>
              <a:pPr marL="0" indent="0" algn="l">
                <a:buNone/>
              </a:pPr>
              <a:r>
                <a:rPr lang="en-US" sz="1450" b="1" dirty="0">
                  <a:solidFill>
                    <a:srgbClr val="08325F"/>
                  </a:solidFill>
                  <a:latin typeface="Tahoma"/>
                  <a:ea typeface="Tahoma"/>
                  <a:cs typeface="Tahoma"/>
                </a:rPr>
                <a:t>Limited damage-level evaluation</a:t>
              </a:r>
              <a:endParaRPr lang="en-US" sz="1450" dirty="0"/>
            </a:p>
          </p:txBody>
        </p:sp>
        <p:sp>
          <p:nvSpPr>
            <p:cNvPr id="30" name="Shape 30"/>
            <p:cNvSpPr txBox="1"/>
            <p:nvPr/>
          </p:nvSpPr>
          <p:spPr>
            <a:xfrm>
              <a:off x="1554480" y="5358384"/>
              <a:ext cx="4206240" cy="274320"/>
            </a:xfrm>
            <a:prstGeom prst="rect">
              <a:avLst/>
            </a:prstGeom>
            <a:noFill/>
            <a:ln>
              <a:noFill/>
            </a:ln>
          </p:spPr>
          <p:txBody>
            <a:bodyPr wrap="square" lIns="0" tIns="0" rIns="0" bIns="0" rtlCol="0" anchor="ctr">
              <a:noAutofit/>
            </a:bodyPr>
            <a:lstStyle/>
            <a:p>
              <a:pPr marL="0" indent="0" algn="l">
                <a:buNone/>
              </a:pPr>
              <a:r>
                <a:rPr lang="en-US" sz="1200" dirty="0">
                  <a:solidFill>
                    <a:srgbClr val="44546A"/>
                  </a:solidFill>
                  <a:latin typeface="Tahoma"/>
                  <a:ea typeface="Tahoma"/>
                  <a:cs typeface="Tahoma"/>
                </a:rPr>
                <a:t>adaptive routing not tested across rising damage</a:t>
              </a:r>
              <a:endParaRPr lang="en-US" sz="1200" dirty="0"/>
            </a:p>
          </p:txBody>
        </p:sp>
      </p:grpSp>
      <p:grpSp>
        <p:nvGrpSpPr>
          <p:cNvPr id="31" name="Research question"/>
          <p:cNvGrpSpPr/>
          <p:nvPr/>
        </p:nvGrpSpPr>
        <p:grpSpPr>
          <a:xfrm>
            <a:off x="6172200" y="1691640"/>
            <a:ext cx="5257800" cy="4005072"/>
            <a:chOff x="6172200" y="1691640"/>
            <a:chExt cx="5257800" cy="4005072"/>
          </a:xfrm>
        </p:grpSpPr>
        <p:sp>
          <p:nvSpPr>
            <p:cNvPr id="32" name="Shape 32"/>
            <p:cNvSpPr/>
            <p:nvPr/>
          </p:nvSpPr>
          <p:spPr>
            <a:xfrm>
              <a:off x="6172200" y="1691640"/>
              <a:ext cx="5257800" cy="4005072"/>
            </a:xfrm>
            <a:prstGeom prst="roundRect">
              <a:avLst>
                <a:gd name="adj" fmla="val 2054"/>
              </a:avLst>
            </a:prstGeom>
            <a:solidFill>
              <a:srgbClr val="003E82"/>
            </a:solidFill>
            <a:ln w="12700">
              <a:solidFill>
                <a:srgbClr val="003E82"/>
              </a:solidFill>
            </a:ln>
            <a:effectLst>
              <a:outerShdw blurRad="76200" dist="19050" dir="5400000" algn="t" rotWithShape="0">
                <a:srgbClr val="0A2E5C">
                  <a:alpha val="13000"/>
                </a:srgbClr>
              </a:outerShdw>
            </a:effectLst>
          </p:spPr>
        </p:sp>
        <p:sp>
          <p:nvSpPr>
            <p:cNvPr id="33" name="Shape 33"/>
            <p:cNvSpPr txBox="1"/>
            <p:nvPr/>
          </p:nvSpPr>
          <p:spPr>
            <a:xfrm>
              <a:off x="6492240" y="1938528"/>
              <a:ext cx="4663440" cy="329184"/>
            </a:xfrm>
            <a:prstGeom prst="rect">
              <a:avLst/>
            </a:prstGeom>
            <a:noFill/>
            <a:ln>
              <a:noFill/>
            </a:ln>
          </p:spPr>
          <p:txBody>
            <a:bodyPr wrap="square" lIns="0" tIns="0" rIns="0" bIns="0" rtlCol="0" anchor="ctr">
              <a:noAutofit/>
            </a:bodyPr>
            <a:lstStyle/>
            <a:p>
              <a:pPr marL="0" indent="0" algn="l">
                <a:buNone/>
              </a:pPr>
              <a:r>
                <a:rPr lang="en-US" sz="1200" b="1" spc="150" dirty="0">
                  <a:solidFill>
                    <a:srgbClr val="F7B500"/>
                  </a:solidFill>
                  <a:latin typeface="Tahoma"/>
                  <a:ea typeface="Tahoma"/>
                  <a:cs typeface="Tahoma"/>
                </a:rPr>
                <a:t>RESEARCH QUESTION</a:t>
              </a:r>
              <a:endParaRPr lang="en-US" sz="1200" dirty="0"/>
            </a:p>
          </p:txBody>
        </p:sp>
        <p:sp>
          <p:nvSpPr>
            <p:cNvPr id="34" name="Shape 34"/>
            <p:cNvSpPr txBox="1"/>
            <p:nvPr/>
          </p:nvSpPr>
          <p:spPr>
            <a:xfrm>
              <a:off x="6492240" y="2423160"/>
              <a:ext cx="4663440" cy="2377440"/>
            </a:xfrm>
            <a:prstGeom prst="rect">
              <a:avLst/>
            </a:prstGeom>
            <a:noFill/>
            <a:ln>
              <a:noFill/>
            </a:ln>
          </p:spPr>
          <p:txBody>
            <a:bodyPr wrap="square" lIns="0" tIns="0" rIns="0" bIns="0" rtlCol="0" anchor="t">
              <a:noAutofit/>
            </a:bodyPr>
            <a:lstStyle/>
            <a:p>
              <a:pPr marL="0" indent="0" algn="l">
                <a:lnSpc>
                  <a:spcPct val="108000"/>
                </a:lnSpc>
                <a:buNone/>
              </a:pPr>
              <a:r>
                <a:rPr lang="en-US" sz="1900" b="1" dirty="0">
                  <a:solidFill>
                    <a:srgbClr val="FFFFFF"/>
                  </a:solidFill>
                  <a:latin typeface="Tahoma"/>
                  <a:ea typeface="Tahoma"/>
                  <a:cs typeface="Tahoma"/>
                </a:rPr>
                <a:t>How can routing in a gateway-free LoRa mesh use continuously updated link-state information, and how do classical and RL-based routing compare as network damage increases?</a:t>
              </a:r>
              <a:endParaRPr lang="en-US" sz="1900" dirty="0"/>
            </a:p>
          </p:txBody>
        </p:sp>
        <p:sp>
          <p:nvSpPr>
            <p:cNvPr id="35" name="Shape 35"/>
            <p:cNvSpPr txBox="1"/>
            <p:nvPr/>
          </p:nvSpPr>
          <p:spPr>
            <a:xfrm>
              <a:off x="6492240" y="5074920"/>
              <a:ext cx="4663440" cy="384048"/>
            </a:xfrm>
            <a:prstGeom prst="rect">
              <a:avLst/>
            </a:prstGeom>
            <a:noFill/>
            <a:ln>
              <a:noFill/>
            </a:ln>
          </p:spPr>
          <p:txBody>
            <a:bodyPr wrap="square" lIns="0" tIns="0" rIns="0" bIns="0" rtlCol="0" anchor="ctr">
              <a:noAutofit/>
            </a:bodyPr>
            <a:lstStyle/>
            <a:p>
              <a:pPr marL="0" indent="0" algn="l">
                <a:buNone/>
              </a:pPr>
              <a:r>
                <a:rPr lang="en-US" sz="1250" b="1" dirty="0">
                  <a:solidFill>
                    <a:srgbClr val="00B7EA"/>
                  </a:solidFill>
                  <a:latin typeface="Tahoma"/>
                  <a:ea typeface="Tahoma"/>
                  <a:cs typeface="Tahoma"/>
                </a:rPr>
                <a:t>A comparison, studied entirely in simulation</a:t>
              </a:r>
              <a:endParaRPr lang="en-US" sz="1250" dirty="0"/>
            </a:p>
          </p:txBody>
        </p:sp>
      </p:grpSp>
      <p:cxnSp>
        <p:nvCxnSpPr>
          <p:cNvPr id="36" name="Footer rule"/>
          <p:cNvCxnSpPr/>
          <p:nvPr/>
        </p:nvCxnSpPr>
        <p:spPr>
          <a:xfrm>
            <a:off x="502920" y="6199632"/>
            <a:ext cx="11155680" cy="0"/>
          </a:xfrm>
          <a:prstGeom prst="line">
            <a:avLst/>
          </a:prstGeom>
          <a:ln w="12700">
            <a:solidFill>
              <a:srgbClr val="003E82">
                <a:alpha val="25000"/>
              </a:srgbClr>
            </a:solidFill>
          </a:ln>
        </p:spPr>
      </p:cxnSp>
      <p:pic>
        <p:nvPicPr>
          <p:cNvPr id="37"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38"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9"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07</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nodeType="withEffect">
                                  <p:stCondLst>
                                    <p:cond delay="12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24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par>
                                <p:cTn id="14" presetID="10" presetClass="entr" presetSubtype="0" fill="hold" nodeType="withEffect">
                                  <p:stCondLst>
                                    <p:cond delay="36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50"/>
                                        <p:tgtEl>
                                          <p:spTgt spid="21"/>
                                        </p:tgtEl>
                                      </p:cBhvr>
                                    </p:animEffect>
                                  </p:childTnLst>
                                </p:cTn>
                              </p:par>
                              <p:par>
                                <p:cTn id="17" presetID="10" presetClass="entr" presetSubtype="0" fill="hold" nodeType="withEffect">
                                  <p:stCondLst>
                                    <p:cond delay="48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Objectives">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ABOT: three objectives</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A decentralized LoRa mesh framework for post-disaster environments</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grpSp>
        <p:nvGrpSpPr>
          <p:cNvPr id="6" name="Objective 1"/>
          <p:cNvGrpSpPr/>
          <p:nvPr/>
        </p:nvGrpSpPr>
        <p:grpSpPr>
          <a:xfrm>
            <a:off x="758952" y="1783080"/>
            <a:ext cx="3383280" cy="3154680"/>
            <a:chOff x="758952" y="1783080"/>
            <a:chExt cx="3383280" cy="3154680"/>
          </a:xfrm>
        </p:grpSpPr>
        <p:sp>
          <p:nvSpPr>
            <p:cNvPr id="7" name="Shape 7"/>
            <p:cNvSpPr/>
            <p:nvPr/>
          </p:nvSpPr>
          <p:spPr>
            <a:xfrm>
              <a:off x="758952" y="1783080"/>
              <a:ext cx="3383280" cy="3154680"/>
            </a:xfrm>
            <a:prstGeom prst="roundRect">
              <a:avLst>
                <a:gd name="adj" fmla="val 2608"/>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8" name="Shape 8"/>
            <p:cNvSpPr/>
            <p:nvPr/>
          </p:nvSpPr>
          <p:spPr>
            <a:xfrm>
              <a:off x="1033272" y="2029968"/>
              <a:ext cx="960120" cy="960120"/>
            </a:xfrm>
            <a:prstGeom prst="ellipse">
              <a:avLst/>
            </a:prstGeom>
            <a:solidFill>
              <a:srgbClr val="EAF7FF"/>
            </a:solidFill>
            <a:ln w="15875">
              <a:solidFill>
                <a:srgbClr val="C7EAFE"/>
              </a:solidFill>
            </a:ln>
          </p:spPr>
        </p:sp>
        <p:cxnSp>
          <p:nvCxnSpPr>
            <p:cNvPr id="9" name="Line 9"/>
            <p:cNvCxnSpPr/>
            <p:nvPr/>
          </p:nvCxnSpPr>
          <p:spPr>
            <a:xfrm flipV="1">
              <a:off x="1513332" y="2235708"/>
              <a:ext cx="0" cy="274320"/>
            </a:xfrm>
            <a:prstGeom prst="line">
              <a:avLst/>
            </a:prstGeom>
            <a:ln w="15875">
              <a:solidFill>
                <a:srgbClr val="003E82"/>
              </a:solidFill>
            </a:ln>
          </p:spPr>
        </p:cxnSp>
        <p:cxnSp>
          <p:nvCxnSpPr>
            <p:cNvPr id="10" name="Line 10"/>
            <p:cNvCxnSpPr/>
            <p:nvPr/>
          </p:nvCxnSpPr>
          <p:spPr>
            <a:xfrm>
              <a:off x="1513332" y="2235708"/>
              <a:ext cx="260894" cy="189550"/>
            </a:xfrm>
            <a:prstGeom prst="line">
              <a:avLst/>
            </a:prstGeom>
            <a:ln w="15875">
              <a:solidFill>
                <a:srgbClr val="003E82"/>
              </a:solidFill>
            </a:ln>
          </p:spPr>
        </p:cxnSp>
        <p:cxnSp>
          <p:nvCxnSpPr>
            <p:cNvPr id="11" name="Line 11"/>
            <p:cNvCxnSpPr/>
            <p:nvPr/>
          </p:nvCxnSpPr>
          <p:spPr>
            <a:xfrm flipV="1">
              <a:off x="1513332" y="2425258"/>
              <a:ext cx="260894" cy="84770"/>
            </a:xfrm>
            <a:prstGeom prst="line">
              <a:avLst/>
            </a:prstGeom>
            <a:ln w="15875">
              <a:solidFill>
                <a:srgbClr val="003E82"/>
              </a:solidFill>
            </a:ln>
          </p:spPr>
        </p:cxnSp>
        <p:cxnSp>
          <p:nvCxnSpPr>
            <p:cNvPr id="12" name="Line 12"/>
            <p:cNvCxnSpPr/>
            <p:nvPr/>
          </p:nvCxnSpPr>
          <p:spPr>
            <a:xfrm flipH="1">
              <a:off x="1674573" y="2425258"/>
              <a:ext cx="99653" cy="306699"/>
            </a:xfrm>
            <a:prstGeom prst="line">
              <a:avLst/>
            </a:prstGeom>
            <a:ln w="15875">
              <a:solidFill>
                <a:srgbClr val="003E82"/>
              </a:solidFill>
            </a:ln>
          </p:spPr>
        </p:cxnSp>
        <p:cxnSp>
          <p:nvCxnSpPr>
            <p:cNvPr id="13" name="Line 13"/>
            <p:cNvCxnSpPr/>
            <p:nvPr/>
          </p:nvCxnSpPr>
          <p:spPr>
            <a:xfrm>
              <a:off x="1513332" y="2510028"/>
              <a:ext cx="161241" cy="221930"/>
            </a:xfrm>
            <a:prstGeom prst="line">
              <a:avLst/>
            </a:prstGeom>
            <a:ln w="15875">
              <a:solidFill>
                <a:srgbClr val="003E82"/>
              </a:solidFill>
            </a:ln>
          </p:spPr>
        </p:cxnSp>
        <p:cxnSp>
          <p:nvCxnSpPr>
            <p:cNvPr id="14" name="Line 14"/>
            <p:cNvCxnSpPr/>
            <p:nvPr/>
          </p:nvCxnSpPr>
          <p:spPr>
            <a:xfrm flipH="1">
              <a:off x="1352091" y="2731958"/>
              <a:ext cx="322483" cy="0"/>
            </a:xfrm>
            <a:prstGeom prst="line">
              <a:avLst/>
            </a:prstGeom>
            <a:ln w="15875">
              <a:solidFill>
                <a:srgbClr val="003E82"/>
              </a:solidFill>
            </a:ln>
          </p:spPr>
        </p:cxnSp>
        <p:cxnSp>
          <p:nvCxnSpPr>
            <p:cNvPr id="15" name="Line 15"/>
            <p:cNvCxnSpPr/>
            <p:nvPr/>
          </p:nvCxnSpPr>
          <p:spPr>
            <a:xfrm flipH="1">
              <a:off x="1352091" y="2510028"/>
              <a:ext cx="161241" cy="221930"/>
            </a:xfrm>
            <a:prstGeom prst="line">
              <a:avLst/>
            </a:prstGeom>
            <a:ln w="15875">
              <a:solidFill>
                <a:srgbClr val="003E82"/>
              </a:solidFill>
            </a:ln>
          </p:spPr>
        </p:cxnSp>
        <p:cxnSp>
          <p:nvCxnSpPr>
            <p:cNvPr id="16" name="Line 16"/>
            <p:cNvCxnSpPr/>
            <p:nvPr/>
          </p:nvCxnSpPr>
          <p:spPr>
            <a:xfrm flipH="1" flipV="1">
              <a:off x="1252438" y="2425258"/>
              <a:ext cx="99653" cy="306699"/>
            </a:xfrm>
            <a:prstGeom prst="line">
              <a:avLst/>
            </a:prstGeom>
            <a:ln w="15875">
              <a:solidFill>
                <a:srgbClr val="003E82"/>
              </a:solidFill>
            </a:ln>
          </p:spPr>
        </p:cxnSp>
        <p:cxnSp>
          <p:nvCxnSpPr>
            <p:cNvPr id="17" name="Line 17"/>
            <p:cNvCxnSpPr/>
            <p:nvPr/>
          </p:nvCxnSpPr>
          <p:spPr>
            <a:xfrm flipH="1" flipV="1">
              <a:off x="1252438" y="2425258"/>
              <a:ext cx="260894" cy="84770"/>
            </a:xfrm>
            <a:prstGeom prst="line">
              <a:avLst/>
            </a:prstGeom>
            <a:ln w="15875">
              <a:solidFill>
                <a:srgbClr val="003E82"/>
              </a:solidFill>
            </a:ln>
          </p:spPr>
        </p:cxnSp>
        <p:cxnSp>
          <p:nvCxnSpPr>
            <p:cNvPr id="18" name="Line 18"/>
            <p:cNvCxnSpPr/>
            <p:nvPr/>
          </p:nvCxnSpPr>
          <p:spPr>
            <a:xfrm flipV="1">
              <a:off x="1252438" y="2235708"/>
              <a:ext cx="260894" cy="189550"/>
            </a:xfrm>
            <a:prstGeom prst="line">
              <a:avLst/>
            </a:prstGeom>
            <a:ln w="15875">
              <a:solidFill>
                <a:srgbClr val="003E82"/>
              </a:solidFill>
            </a:ln>
          </p:spPr>
        </p:cxnSp>
        <p:sp>
          <p:nvSpPr>
            <p:cNvPr id="19" name="Shape 19"/>
            <p:cNvSpPr/>
            <p:nvPr/>
          </p:nvSpPr>
          <p:spPr>
            <a:xfrm>
              <a:off x="1453896" y="2176272"/>
              <a:ext cx="118872" cy="118872"/>
            </a:xfrm>
            <a:prstGeom prst="ellipse">
              <a:avLst/>
            </a:prstGeom>
            <a:solidFill>
              <a:srgbClr val="003E82"/>
            </a:solidFill>
            <a:ln>
              <a:noFill/>
            </a:ln>
          </p:spPr>
        </p:sp>
        <p:sp>
          <p:nvSpPr>
            <p:cNvPr id="20" name="Shape 20"/>
            <p:cNvSpPr/>
            <p:nvPr/>
          </p:nvSpPr>
          <p:spPr>
            <a:xfrm>
              <a:off x="1714790" y="2365822"/>
              <a:ext cx="118872" cy="118872"/>
            </a:xfrm>
            <a:prstGeom prst="ellipse">
              <a:avLst/>
            </a:prstGeom>
            <a:solidFill>
              <a:srgbClr val="003E82"/>
            </a:solidFill>
            <a:ln>
              <a:noFill/>
            </a:ln>
          </p:spPr>
        </p:sp>
        <p:sp>
          <p:nvSpPr>
            <p:cNvPr id="21" name="Shape 21"/>
            <p:cNvSpPr/>
            <p:nvPr/>
          </p:nvSpPr>
          <p:spPr>
            <a:xfrm>
              <a:off x="1615137" y="2672522"/>
              <a:ext cx="118872" cy="118872"/>
            </a:xfrm>
            <a:prstGeom prst="ellipse">
              <a:avLst/>
            </a:prstGeom>
            <a:solidFill>
              <a:srgbClr val="003E82"/>
            </a:solidFill>
            <a:ln>
              <a:noFill/>
            </a:ln>
          </p:spPr>
        </p:sp>
        <p:sp>
          <p:nvSpPr>
            <p:cNvPr id="22" name="Shape 22"/>
            <p:cNvSpPr/>
            <p:nvPr/>
          </p:nvSpPr>
          <p:spPr>
            <a:xfrm>
              <a:off x="1292655" y="2672522"/>
              <a:ext cx="118872" cy="118872"/>
            </a:xfrm>
            <a:prstGeom prst="ellipse">
              <a:avLst/>
            </a:prstGeom>
            <a:solidFill>
              <a:srgbClr val="003E82"/>
            </a:solidFill>
            <a:ln>
              <a:noFill/>
            </a:ln>
          </p:spPr>
        </p:sp>
        <p:sp>
          <p:nvSpPr>
            <p:cNvPr id="23" name="Shape 23"/>
            <p:cNvSpPr/>
            <p:nvPr/>
          </p:nvSpPr>
          <p:spPr>
            <a:xfrm>
              <a:off x="1193002" y="2365822"/>
              <a:ext cx="118872" cy="118872"/>
            </a:xfrm>
            <a:prstGeom prst="ellipse">
              <a:avLst/>
            </a:prstGeom>
            <a:solidFill>
              <a:srgbClr val="003E82"/>
            </a:solidFill>
            <a:ln>
              <a:noFill/>
            </a:ln>
          </p:spPr>
        </p:sp>
        <p:sp>
          <p:nvSpPr>
            <p:cNvPr id="24" name="Shape 24"/>
            <p:cNvSpPr/>
            <p:nvPr/>
          </p:nvSpPr>
          <p:spPr>
            <a:xfrm>
              <a:off x="1453896" y="2450592"/>
              <a:ext cx="118872" cy="118872"/>
            </a:xfrm>
            <a:prstGeom prst="ellipse">
              <a:avLst/>
            </a:prstGeom>
            <a:solidFill>
              <a:srgbClr val="FF9100"/>
            </a:solidFill>
            <a:ln>
              <a:noFill/>
            </a:ln>
          </p:spPr>
        </p:sp>
        <p:sp>
          <p:nvSpPr>
            <p:cNvPr id="25" name="Shape 25"/>
            <p:cNvSpPr txBox="1"/>
            <p:nvPr/>
          </p:nvSpPr>
          <p:spPr>
            <a:xfrm>
              <a:off x="1033272" y="3200400"/>
              <a:ext cx="2880360" cy="457200"/>
            </a:xfrm>
            <a:prstGeom prst="rect">
              <a:avLst/>
            </a:prstGeom>
            <a:noFill/>
            <a:ln>
              <a:noFill/>
            </a:ln>
          </p:spPr>
          <p:txBody>
            <a:bodyPr wrap="square" lIns="0" tIns="0" rIns="0" bIns="0" rtlCol="0" anchor="ctr">
              <a:noAutofit/>
            </a:bodyPr>
            <a:lstStyle/>
            <a:p>
              <a:pPr marL="0" indent="0" algn="l">
                <a:buNone/>
              </a:pPr>
              <a:r>
                <a:rPr lang="en-US" sz="1700" b="1" dirty="0">
                  <a:solidFill>
                    <a:srgbClr val="003E82"/>
                  </a:solidFill>
                  <a:latin typeface="Tahoma"/>
                  <a:ea typeface="Tahoma"/>
                  <a:cs typeface="Tahoma"/>
                </a:rPr>
                <a:t>Decentralized mesh</a:t>
              </a:r>
              <a:endParaRPr lang="en-US" sz="1700" dirty="0"/>
            </a:p>
          </p:txBody>
        </p:sp>
        <p:sp>
          <p:nvSpPr>
            <p:cNvPr id="26" name="Shape 26"/>
            <p:cNvSpPr txBox="1"/>
            <p:nvPr/>
          </p:nvSpPr>
          <p:spPr>
            <a:xfrm>
              <a:off x="1033272" y="3703320"/>
              <a:ext cx="2880360" cy="1097280"/>
            </a:xfrm>
            <a:prstGeom prst="rect">
              <a:avLst/>
            </a:prstGeom>
            <a:noFill/>
            <a:ln>
              <a:noFill/>
            </a:ln>
          </p:spPr>
          <p:txBody>
            <a:bodyPr wrap="square" lIns="0" tIns="0" rIns="0" bIns="0" rtlCol="0" anchor="t">
              <a:noAutofit/>
            </a:bodyPr>
            <a:lstStyle/>
            <a:p>
              <a:pPr marL="0" indent="0" algn="l">
                <a:lnSpc>
                  <a:spcPct val="105000"/>
                </a:lnSpc>
                <a:buNone/>
              </a:pPr>
              <a:r>
                <a:rPr lang="en-US" sz="1400" dirty="0">
                  <a:solidFill>
                    <a:srgbClr val="44546A"/>
                  </a:solidFill>
                  <a:latin typeface="Tahoma"/>
                  <a:ea typeface="Tahoma"/>
                  <a:cs typeface="Tahoma"/>
                </a:rPr>
                <a:t>Every node is both a terminal and a relay; no central gateway</a:t>
              </a:r>
              <a:endParaRPr lang="en-US" sz="1400" dirty="0"/>
            </a:p>
          </p:txBody>
        </p:sp>
      </p:grpSp>
      <p:grpSp>
        <p:nvGrpSpPr>
          <p:cNvPr id="27" name="Objective 2"/>
          <p:cNvGrpSpPr/>
          <p:nvPr/>
        </p:nvGrpSpPr>
        <p:grpSpPr>
          <a:xfrm>
            <a:off x="4416552" y="1783080"/>
            <a:ext cx="3383280" cy="3154680"/>
            <a:chOff x="4416552" y="1783080"/>
            <a:chExt cx="3383280" cy="3154680"/>
          </a:xfrm>
        </p:grpSpPr>
        <p:sp>
          <p:nvSpPr>
            <p:cNvPr id="28" name="Shape 28"/>
            <p:cNvSpPr/>
            <p:nvPr/>
          </p:nvSpPr>
          <p:spPr>
            <a:xfrm>
              <a:off x="4416552" y="1783080"/>
              <a:ext cx="3383280" cy="3154680"/>
            </a:xfrm>
            <a:prstGeom prst="roundRect">
              <a:avLst>
                <a:gd name="adj" fmla="val 2608"/>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9" name="Shape 29"/>
            <p:cNvSpPr/>
            <p:nvPr/>
          </p:nvSpPr>
          <p:spPr>
            <a:xfrm>
              <a:off x="4690872" y="2029968"/>
              <a:ext cx="960120" cy="960120"/>
            </a:xfrm>
            <a:prstGeom prst="ellipse">
              <a:avLst/>
            </a:prstGeom>
            <a:solidFill>
              <a:srgbClr val="EAF7FF"/>
            </a:solidFill>
            <a:ln w="15875">
              <a:solidFill>
                <a:srgbClr val="C7EAFE"/>
              </a:solidFill>
            </a:ln>
          </p:spPr>
        </p:sp>
        <p:sp>
          <p:nvSpPr>
            <p:cNvPr id="30" name="Shape 30"/>
            <p:cNvSpPr/>
            <p:nvPr/>
          </p:nvSpPr>
          <p:spPr>
            <a:xfrm>
              <a:off x="4905756" y="2592324"/>
              <a:ext cx="100584" cy="146304"/>
            </a:xfrm>
            <a:prstGeom prst="rect">
              <a:avLst/>
            </a:prstGeom>
            <a:solidFill>
              <a:srgbClr val="003E82"/>
            </a:solidFill>
            <a:ln>
              <a:noFill/>
            </a:ln>
          </p:spPr>
        </p:sp>
        <p:sp>
          <p:nvSpPr>
            <p:cNvPr id="31" name="Shape 31"/>
            <p:cNvSpPr/>
            <p:nvPr/>
          </p:nvSpPr>
          <p:spPr>
            <a:xfrm>
              <a:off x="5047488" y="2491740"/>
              <a:ext cx="100584" cy="246888"/>
            </a:xfrm>
            <a:prstGeom prst="rect">
              <a:avLst/>
            </a:prstGeom>
            <a:solidFill>
              <a:srgbClr val="003E82"/>
            </a:solidFill>
            <a:ln>
              <a:noFill/>
            </a:ln>
          </p:spPr>
        </p:sp>
        <p:sp>
          <p:nvSpPr>
            <p:cNvPr id="32" name="Shape 32"/>
            <p:cNvSpPr/>
            <p:nvPr/>
          </p:nvSpPr>
          <p:spPr>
            <a:xfrm>
              <a:off x="5189220" y="2391156"/>
              <a:ext cx="100584" cy="347472"/>
            </a:xfrm>
            <a:prstGeom prst="rect">
              <a:avLst/>
            </a:prstGeom>
            <a:solidFill>
              <a:srgbClr val="003E82"/>
            </a:solidFill>
            <a:ln>
              <a:noFill/>
            </a:ln>
          </p:spPr>
        </p:sp>
        <p:sp>
          <p:nvSpPr>
            <p:cNvPr id="33" name="Shape 33"/>
            <p:cNvSpPr/>
            <p:nvPr/>
          </p:nvSpPr>
          <p:spPr>
            <a:xfrm>
              <a:off x="5330952" y="2281428"/>
              <a:ext cx="100584" cy="457200"/>
            </a:xfrm>
            <a:prstGeom prst="rect">
              <a:avLst/>
            </a:prstGeom>
            <a:solidFill>
              <a:srgbClr val="FF9100"/>
            </a:solidFill>
            <a:ln>
              <a:noFill/>
            </a:ln>
          </p:spPr>
        </p:sp>
        <p:sp>
          <p:nvSpPr>
            <p:cNvPr id="34" name="Shape 34"/>
            <p:cNvSpPr txBox="1"/>
            <p:nvPr/>
          </p:nvSpPr>
          <p:spPr>
            <a:xfrm>
              <a:off x="4690872" y="3200400"/>
              <a:ext cx="2880360" cy="457200"/>
            </a:xfrm>
            <a:prstGeom prst="rect">
              <a:avLst/>
            </a:prstGeom>
            <a:noFill/>
            <a:ln>
              <a:noFill/>
            </a:ln>
          </p:spPr>
          <p:txBody>
            <a:bodyPr wrap="square" lIns="0" tIns="0" rIns="0" bIns="0" rtlCol="0" anchor="ctr">
              <a:noAutofit/>
            </a:bodyPr>
            <a:lstStyle/>
            <a:p>
              <a:pPr marL="0" indent="0" algn="l">
                <a:buNone/>
              </a:pPr>
              <a:r>
                <a:rPr lang="en-US" sz="1700" b="1" dirty="0">
                  <a:solidFill>
                    <a:srgbClr val="003E82"/>
                  </a:solidFill>
                  <a:latin typeface="Tahoma"/>
                  <a:ea typeface="Tahoma"/>
                  <a:cs typeface="Tahoma"/>
                </a:rPr>
                <a:t>Live link-state routing</a:t>
              </a:r>
              <a:endParaRPr lang="en-US" sz="1700" dirty="0"/>
            </a:p>
          </p:txBody>
        </p:sp>
        <p:sp>
          <p:nvSpPr>
            <p:cNvPr id="35" name="Shape 35"/>
            <p:cNvSpPr txBox="1"/>
            <p:nvPr/>
          </p:nvSpPr>
          <p:spPr>
            <a:xfrm>
              <a:off x="4690872" y="3703320"/>
              <a:ext cx="2880360" cy="1097280"/>
            </a:xfrm>
            <a:prstGeom prst="rect">
              <a:avLst/>
            </a:prstGeom>
            <a:noFill/>
            <a:ln>
              <a:noFill/>
            </a:ln>
          </p:spPr>
          <p:txBody>
            <a:bodyPr wrap="square" lIns="0" tIns="0" rIns="0" bIns="0" rtlCol="0" anchor="t">
              <a:noAutofit/>
            </a:bodyPr>
            <a:lstStyle/>
            <a:p>
              <a:pPr marL="0" indent="0" algn="l">
                <a:lnSpc>
                  <a:spcPct val="105000"/>
                </a:lnSpc>
                <a:buNone/>
              </a:pPr>
              <a:r>
                <a:rPr lang="en-US" sz="1400" dirty="0">
                  <a:solidFill>
                    <a:srgbClr val="44546A"/>
                  </a:solidFill>
                  <a:latin typeface="Tahoma"/>
                  <a:ea typeface="Tahoma"/>
                  <a:cs typeface="Tahoma"/>
                </a:rPr>
                <a:t>Routes use continuously updated link quality</a:t>
              </a:r>
              <a:endParaRPr lang="en-US" sz="1400" dirty="0"/>
            </a:p>
          </p:txBody>
        </p:sp>
      </p:grpSp>
      <p:grpSp>
        <p:nvGrpSpPr>
          <p:cNvPr id="36" name="Objective 3"/>
          <p:cNvGrpSpPr/>
          <p:nvPr/>
        </p:nvGrpSpPr>
        <p:grpSpPr>
          <a:xfrm>
            <a:off x="8074152" y="1783080"/>
            <a:ext cx="3383280" cy="3154680"/>
            <a:chOff x="8074152" y="1783080"/>
            <a:chExt cx="3383280" cy="3154680"/>
          </a:xfrm>
        </p:grpSpPr>
        <p:sp>
          <p:nvSpPr>
            <p:cNvPr id="37" name="Shape 37"/>
            <p:cNvSpPr/>
            <p:nvPr/>
          </p:nvSpPr>
          <p:spPr>
            <a:xfrm>
              <a:off x="8074152" y="1783080"/>
              <a:ext cx="3383280" cy="3154680"/>
            </a:xfrm>
            <a:prstGeom prst="roundRect">
              <a:avLst>
                <a:gd name="adj" fmla="val 2608"/>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38" name="Shape 38"/>
            <p:cNvSpPr/>
            <p:nvPr/>
          </p:nvSpPr>
          <p:spPr>
            <a:xfrm>
              <a:off x="8348472" y="2029968"/>
              <a:ext cx="960120" cy="960120"/>
            </a:xfrm>
            <a:prstGeom prst="ellipse">
              <a:avLst/>
            </a:prstGeom>
            <a:solidFill>
              <a:srgbClr val="EAF7FF"/>
            </a:solidFill>
            <a:ln w="15875">
              <a:solidFill>
                <a:srgbClr val="C7EAFE"/>
              </a:solidFill>
            </a:ln>
          </p:spPr>
        </p:sp>
        <p:sp>
          <p:nvSpPr>
            <p:cNvPr id="39" name="Shape 39"/>
            <p:cNvSpPr/>
            <p:nvPr/>
          </p:nvSpPr>
          <p:spPr>
            <a:xfrm>
              <a:off x="8599932" y="2281428"/>
              <a:ext cx="128016" cy="128016"/>
            </a:xfrm>
            <a:prstGeom prst="rect">
              <a:avLst/>
            </a:prstGeom>
            <a:solidFill>
              <a:srgbClr val="003E82"/>
            </a:solidFill>
            <a:ln>
              <a:noFill/>
            </a:ln>
          </p:spPr>
        </p:sp>
        <p:sp>
          <p:nvSpPr>
            <p:cNvPr id="40" name="Shape 40"/>
            <p:cNvSpPr/>
            <p:nvPr/>
          </p:nvSpPr>
          <p:spPr>
            <a:xfrm>
              <a:off x="8599932" y="2446020"/>
              <a:ext cx="128016" cy="128016"/>
            </a:xfrm>
            <a:prstGeom prst="rect">
              <a:avLst/>
            </a:prstGeom>
            <a:solidFill>
              <a:srgbClr val="003E82"/>
            </a:solidFill>
            <a:ln>
              <a:noFill/>
            </a:ln>
          </p:spPr>
        </p:sp>
        <p:sp>
          <p:nvSpPr>
            <p:cNvPr id="41" name="Shape 41"/>
            <p:cNvSpPr/>
            <p:nvPr/>
          </p:nvSpPr>
          <p:spPr>
            <a:xfrm>
              <a:off x="8599932" y="2610612"/>
              <a:ext cx="128016" cy="128016"/>
            </a:xfrm>
            <a:prstGeom prst="rect">
              <a:avLst/>
            </a:prstGeom>
            <a:solidFill>
              <a:srgbClr val="003E82"/>
            </a:solidFill>
            <a:ln>
              <a:noFill/>
            </a:ln>
          </p:spPr>
        </p:sp>
        <p:sp>
          <p:nvSpPr>
            <p:cNvPr id="42" name="Shape 42"/>
            <p:cNvSpPr/>
            <p:nvPr/>
          </p:nvSpPr>
          <p:spPr>
            <a:xfrm>
              <a:off x="8764524" y="2281428"/>
              <a:ext cx="128016" cy="128016"/>
            </a:xfrm>
            <a:prstGeom prst="rect">
              <a:avLst/>
            </a:prstGeom>
            <a:solidFill>
              <a:srgbClr val="003E82"/>
            </a:solidFill>
            <a:ln>
              <a:noFill/>
            </a:ln>
          </p:spPr>
        </p:sp>
        <p:sp>
          <p:nvSpPr>
            <p:cNvPr id="43" name="Shape 43"/>
            <p:cNvSpPr/>
            <p:nvPr/>
          </p:nvSpPr>
          <p:spPr>
            <a:xfrm>
              <a:off x="8764524" y="2446020"/>
              <a:ext cx="128016" cy="128016"/>
            </a:xfrm>
            <a:prstGeom prst="rect">
              <a:avLst/>
            </a:prstGeom>
            <a:solidFill>
              <a:srgbClr val="003E82"/>
            </a:solidFill>
            <a:ln>
              <a:noFill/>
            </a:ln>
          </p:spPr>
        </p:sp>
        <p:sp>
          <p:nvSpPr>
            <p:cNvPr id="44" name="Shape 44"/>
            <p:cNvSpPr/>
            <p:nvPr/>
          </p:nvSpPr>
          <p:spPr>
            <a:xfrm>
              <a:off x="8764524" y="2610612"/>
              <a:ext cx="128016" cy="128016"/>
            </a:xfrm>
            <a:prstGeom prst="rect">
              <a:avLst/>
            </a:prstGeom>
            <a:solidFill>
              <a:srgbClr val="003E82"/>
            </a:solidFill>
            <a:ln>
              <a:noFill/>
            </a:ln>
          </p:spPr>
        </p:sp>
        <p:sp>
          <p:nvSpPr>
            <p:cNvPr id="45" name="Shape 45"/>
            <p:cNvSpPr/>
            <p:nvPr/>
          </p:nvSpPr>
          <p:spPr>
            <a:xfrm>
              <a:off x="8929116" y="2281428"/>
              <a:ext cx="128016" cy="128016"/>
            </a:xfrm>
            <a:prstGeom prst="rect">
              <a:avLst/>
            </a:prstGeom>
            <a:solidFill>
              <a:srgbClr val="FF9100"/>
            </a:solidFill>
            <a:ln>
              <a:noFill/>
            </a:ln>
          </p:spPr>
        </p:sp>
        <p:sp>
          <p:nvSpPr>
            <p:cNvPr id="46" name="Shape 46"/>
            <p:cNvSpPr/>
            <p:nvPr/>
          </p:nvSpPr>
          <p:spPr>
            <a:xfrm>
              <a:off x="8929116" y="2446020"/>
              <a:ext cx="128016" cy="128016"/>
            </a:xfrm>
            <a:prstGeom prst="rect">
              <a:avLst/>
            </a:prstGeom>
            <a:solidFill>
              <a:srgbClr val="003E82"/>
            </a:solidFill>
            <a:ln>
              <a:noFill/>
            </a:ln>
          </p:spPr>
        </p:sp>
        <p:sp>
          <p:nvSpPr>
            <p:cNvPr id="47" name="Shape 47"/>
            <p:cNvSpPr/>
            <p:nvPr/>
          </p:nvSpPr>
          <p:spPr>
            <a:xfrm>
              <a:off x="8929116" y="2610612"/>
              <a:ext cx="128016" cy="128016"/>
            </a:xfrm>
            <a:prstGeom prst="rect">
              <a:avLst/>
            </a:prstGeom>
            <a:solidFill>
              <a:srgbClr val="003E82"/>
            </a:solidFill>
            <a:ln>
              <a:noFill/>
            </a:ln>
          </p:spPr>
        </p:sp>
        <p:sp>
          <p:nvSpPr>
            <p:cNvPr id="48" name="Shape 48"/>
            <p:cNvSpPr txBox="1"/>
            <p:nvPr/>
          </p:nvSpPr>
          <p:spPr>
            <a:xfrm>
              <a:off x="8348472" y="3200400"/>
              <a:ext cx="2880360" cy="457200"/>
            </a:xfrm>
            <a:prstGeom prst="rect">
              <a:avLst/>
            </a:prstGeom>
            <a:noFill/>
            <a:ln>
              <a:noFill/>
            </a:ln>
          </p:spPr>
          <p:txBody>
            <a:bodyPr wrap="square" lIns="0" tIns="0" rIns="0" bIns="0" rtlCol="0" anchor="ctr">
              <a:noAutofit/>
            </a:bodyPr>
            <a:lstStyle/>
            <a:p>
              <a:pPr marL="0" indent="0" algn="l">
                <a:buNone/>
              </a:pPr>
              <a:r>
                <a:rPr lang="en-US" sz="1700" b="1" dirty="0">
                  <a:solidFill>
                    <a:srgbClr val="003E82"/>
                  </a:solidFill>
                  <a:latin typeface="Tahoma"/>
                  <a:ea typeface="Tahoma"/>
                  <a:cs typeface="Tahoma"/>
                </a:rPr>
                <a:t>Fast simulation backend</a:t>
              </a:r>
              <a:endParaRPr lang="en-US" sz="1700" dirty="0"/>
            </a:p>
          </p:txBody>
        </p:sp>
        <p:sp>
          <p:nvSpPr>
            <p:cNvPr id="49" name="Shape 49"/>
            <p:cNvSpPr txBox="1"/>
            <p:nvPr/>
          </p:nvSpPr>
          <p:spPr>
            <a:xfrm>
              <a:off x="8348472" y="3703320"/>
              <a:ext cx="2880360" cy="1097280"/>
            </a:xfrm>
            <a:prstGeom prst="rect">
              <a:avLst/>
            </a:prstGeom>
            <a:noFill/>
            <a:ln>
              <a:noFill/>
            </a:ln>
          </p:spPr>
          <p:txBody>
            <a:bodyPr wrap="square" lIns="0" tIns="0" rIns="0" bIns="0" rtlCol="0" anchor="t">
              <a:noAutofit/>
            </a:bodyPr>
            <a:lstStyle/>
            <a:p>
              <a:pPr marL="0" indent="0" algn="l">
                <a:lnSpc>
                  <a:spcPct val="105000"/>
                </a:lnSpc>
                <a:buNone/>
              </a:pPr>
              <a:r>
                <a:rPr lang="en-US" sz="1400" dirty="0">
                  <a:solidFill>
                    <a:srgbClr val="44546A"/>
                  </a:solidFill>
                  <a:latin typeface="Tahoma"/>
                  <a:ea typeface="Tahoma"/>
                  <a:cs typeface="Tahoma"/>
                </a:rPr>
                <a:t>A vectorized simulator to compare routing across five damage-severity presets</a:t>
              </a:r>
              <a:endParaRPr lang="en-US" sz="1400" dirty="0"/>
            </a:p>
          </p:txBody>
        </p:sp>
      </p:grpSp>
      <p:sp>
        <p:nvSpPr>
          <p:cNvPr id="50" name="Scope"/>
          <p:cNvSpPr/>
          <p:nvPr/>
        </p:nvSpPr>
        <p:spPr>
          <a:xfrm>
            <a:off x="758952" y="5230368"/>
            <a:ext cx="10671048" cy="530352"/>
          </a:xfrm>
          <a:prstGeom prst="roundRect">
            <a:avLst>
              <a:gd name="adj" fmla="val 13793"/>
            </a:avLst>
          </a:prstGeom>
          <a:solidFill>
            <a:srgbClr val="EAF7FF"/>
          </a:solidFill>
          <a:ln w="12700">
            <a:solidFill>
              <a:srgbClr val="C7EAFE"/>
            </a:solidFill>
          </a:ln>
        </p:spPr>
        <p:txBody>
          <a:bodyPr wrap="square" lIns="0" tIns="0" rIns="0" bIns="0" rtlCol="0" anchor="ctr">
            <a:noAutofit/>
          </a:bodyPr>
          <a:lstStyle/>
          <a:p>
            <a:pPr marL="0" indent="0" algn="ctr">
              <a:buNone/>
            </a:pPr>
            <a:r>
              <a:rPr lang="en-US" sz="1400" b="1" dirty="0">
                <a:solidFill>
                  <a:srgbClr val="003E82"/>
                </a:solidFill>
                <a:latin typeface="Tahoma"/>
                <a:ea typeface="Tahoma"/>
                <a:cs typeface="Tahoma"/>
              </a:rPr>
              <a:t>Investigated entirely in simulation  ·  The RL part is exploratory</a:t>
            </a:r>
            <a:endParaRPr lang="en-US" sz="1400" dirty="0"/>
          </a:p>
        </p:txBody>
      </p:sp>
      <p:cxnSp>
        <p:nvCxnSpPr>
          <p:cNvPr id="51" name="Footer rule"/>
          <p:cNvCxnSpPr/>
          <p:nvPr/>
        </p:nvCxnSpPr>
        <p:spPr>
          <a:xfrm>
            <a:off x="502920" y="6199632"/>
            <a:ext cx="11155680" cy="0"/>
          </a:xfrm>
          <a:prstGeom prst="line">
            <a:avLst/>
          </a:prstGeom>
          <a:ln w="12700">
            <a:solidFill>
              <a:srgbClr val="003E82">
                <a:alpha val="25000"/>
              </a:srgbClr>
            </a:solidFill>
          </a:ln>
        </p:spPr>
      </p:cxnSp>
      <p:pic>
        <p:nvPicPr>
          <p:cNvPr id="52"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53"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54"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08</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nodeType="withEffect">
                                  <p:stCondLst>
                                    <p:cond delay="20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50"/>
                                        <p:tgtEl>
                                          <p:spTgt spid="27"/>
                                        </p:tgtEl>
                                      </p:cBhvr>
                                    </p:animEffect>
                                  </p:childTnLst>
                                </p:cTn>
                              </p:par>
                              <p:par>
                                <p:cTn id="11" presetID="10" presetClass="entr" presetSubtype="0" fill="hold" nodeType="withEffect">
                                  <p:stCondLst>
                                    <p:cond delay="40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450"/>
                                        <p:tgtEl>
                                          <p:spTgt spid="36"/>
                                        </p:tgtEl>
                                      </p:cBhvr>
                                    </p:animEffect>
                                  </p:childTnLst>
                                </p:cTn>
                              </p:par>
                            </p:childTnLst>
                          </p:cTn>
                        </p:par>
                        <p:par>
                          <p:cTn id="14" fill="hold">
                            <p:stCondLst>
                              <p:cond delay="850"/>
                            </p:stCondLst>
                            <p:childTnLst>
                              <p:par>
                                <p:cTn id="15" presetID="10" presetClass="entr" presetSubtype="0" fill="hold" grpId="0" nodeType="after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4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How ABOT works">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How ABOT works</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Every node is both a terminal and a relay</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Diagram card"/>
          <p:cNvSpPr/>
          <p:nvPr/>
        </p:nvSpPr>
        <p:spPr>
          <a:xfrm>
            <a:off x="758952" y="1691640"/>
            <a:ext cx="6675120" cy="4206240"/>
          </a:xfrm>
          <a:prstGeom prst="roundRect">
            <a:avLst>
              <a:gd name="adj" fmla="val 1956"/>
            </a:avLst>
          </a:prstGeom>
          <a:solidFill>
            <a:srgbClr val="FFFFFF"/>
          </a:solidFill>
          <a:ln w="12700">
            <a:solidFill>
              <a:srgbClr val="D3EAF6"/>
            </a:solidFill>
          </a:ln>
          <a:effectLst>
            <a:outerShdw blurRad="76200" dist="19050" dir="5400000" algn="t" rotWithShape="0">
              <a:srgbClr val="0A2E5C">
                <a:alpha val="13000"/>
              </a:srgbClr>
            </a:outerShdw>
          </a:effectLst>
        </p:spPr>
      </p:sp>
      <p:cxnSp>
        <p:nvCxnSpPr>
          <p:cNvPr id="7" name="Link SA"/>
          <p:cNvCxnSpPr/>
          <p:nvPr/>
        </p:nvCxnSpPr>
        <p:spPr>
          <a:xfrm flipV="1">
            <a:off x="1417320" y="4343400"/>
            <a:ext cx="914400" cy="731520"/>
          </a:xfrm>
          <a:prstGeom prst="line">
            <a:avLst/>
          </a:prstGeom>
          <a:ln w="25400">
            <a:solidFill>
              <a:srgbClr val="C5D9E8"/>
            </a:solidFill>
          </a:ln>
        </p:spPr>
      </p:cxnSp>
      <p:cxnSp>
        <p:nvCxnSpPr>
          <p:cNvPr id="8" name="Link SC"/>
          <p:cNvCxnSpPr/>
          <p:nvPr/>
        </p:nvCxnSpPr>
        <p:spPr>
          <a:xfrm>
            <a:off x="1417320" y="5074920"/>
            <a:ext cx="1828800" cy="137160"/>
          </a:xfrm>
          <a:prstGeom prst="line">
            <a:avLst/>
          </a:prstGeom>
          <a:ln w="25400">
            <a:solidFill>
              <a:srgbClr val="C5D9E8"/>
            </a:solidFill>
          </a:ln>
        </p:spPr>
      </p:cxnSp>
      <p:cxnSp>
        <p:nvCxnSpPr>
          <p:cNvPr id="9" name="Link AB"/>
          <p:cNvCxnSpPr/>
          <p:nvPr/>
        </p:nvCxnSpPr>
        <p:spPr>
          <a:xfrm flipH="1" flipV="1">
            <a:off x="1600200" y="3246120"/>
            <a:ext cx="731520" cy="1097280"/>
          </a:xfrm>
          <a:prstGeom prst="line">
            <a:avLst/>
          </a:prstGeom>
          <a:ln w="25400">
            <a:solidFill>
              <a:srgbClr val="C5D9E8"/>
            </a:solidFill>
          </a:ln>
        </p:spPr>
      </p:cxnSp>
      <p:cxnSp>
        <p:nvCxnSpPr>
          <p:cNvPr id="10" name="Link AD"/>
          <p:cNvCxnSpPr/>
          <p:nvPr/>
        </p:nvCxnSpPr>
        <p:spPr>
          <a:xfrm flipV="1">
            <a:off x="2331720" y="3611880"/>
            <a:ext cx="1097280" cy="731520"/>
          </a:xfrm>
          <a:prstGeom prst="line">
            <a:avLst/>
          </a:prstGeom>
          <a:ln w="25400">
            <a:solidFill>
              <a:srgbClr val="C5D9E8"/>
            </a:solidFill>
          </a:ln>
        </p:spPr>
      </p:cxnSp>
      <p:cxnSp>
        <p:nvCxnSpPr>
          <p:cNvPr id="11" name="Link AC"/>
          <p:cNvCxnSpPr/>
          <p:nvPr/>
        </p:nvCxnSpPr>
        <p:spPr>
          <a:xfrm>
            <a:off x="2331720" y="4343400"/>
            <a:ext cx="914400" cy="868680"/>
          </a:xfrm>
          <a:prstGeom prst="line">
            <a:avLst/>
          </a:prstGeom>
          <a:ln w="25400">
            <a:solidFill>
              <a:srgbClr val="C5D9E8"/>
            </a:solidFill>
          </a:ln>
        </p:spPr>
      </p:cxnSp>
      <p:cxnSp>
        <p:nvCxnSpPr>
          <p:cNvPr id="12" name="Link BE"/>
          <p:cNvCxnSpPr/>
          <p:nvPr/>
        </p:nvCxnSpPr>
        <p:spPr>
          <a:xfrm flipV="1">
            <a:off x="1600200" y="2468880"/>
            <a:ext cx="1097280" cy="777240"/>
          </a:xfrm>
          <a:prstGeom prst="line">
            <a:avLst/>
          </a:prstGeom>
          <a:ln w="25400">
            <a:solidFill>
              <a:srgbClr val="C5D9E8"/>
            </a:solidFill>
          </a:ln>
        </p:spPr>
      </p:cxnSp>
      <p:cxnSp>
        <p:nvCxnSpPr>
          <p:cNvPr id="13" name="Link BD"/>
          <p:cNvCxnSpPr/>
          <p:nvPr/>
        </p:nvCxnSpPr>
        <p:spPr>
          <a:xfrm>
            <a:off x="1600200" y="3246120"/>
            <a:ext cx="1828800" cy="365760"/>
          </a:xfrm>
          <a:prstGeom prst="line">
            <a:avLst/>
          </a:prstGeom>
          <a:ln w="25400">
            <a:solidFill>
              <a:srgbClr val="C5D9E8"/>
            </a:solidFill>
          </a:ln>
        </p:spPr>
      </p:cxnSp>
      <p:cxnSp>
        <p:nvCxnSpPr>
          <p:cNvPr id="14" name="Link CF"/>
          <p:cNvCxnSpPr/>
          <p:nvPr/>
        </p:nvCxnSpPr>
        <p:spPr>
          <a:xfrm flipV="1">
            <a:off x="3246120" y="4617720"/>
            <a:ext cx="1280160" cy="594360"/>
          </a:xfrm>
          <a:prstGeom prst="line">
            <a:avLst/>
          </a:prstGeom>
          <a:ln w="25400">
            <a:solidFill>
              <a:srgbClr val="C5D9E8"/>
            </a:solidFill>
          </a:ln>
        </p:spPr>
      </p:cxnSp>
      <p:cxnSp>
        <p:nvCxnSpPr>
          <p:cNvPr id="15" name="Link DE"/>
          <p:cNvCxnSpPr/>
          <p:nvPr/>
        </p:nvCxnSpPr>
        <p:spPr>
          <a:xfrm flipH="1" flipV="1">
            <a:off x="2697480" y="2468880"/>
            <a:ext cx="731520" cy="1143000"/>
          </a:xfrm>
          <a:prstGeom prst="line">
            <a:avLst/>
          </a:prstGeom>
          <a:ln w="25400">
            <a:solidFill>
              <a:srgbClr val="C5D9E8"/>
            </a:solidFill>
          </a:ln>
        </p:spPr>
      </p:cxnSp>
      <p:cxnSp>
        <p:nvCxnSpPr>
          <p:cNvPr id="16" name="Link DG"/>
          <p:cNvCxnSpPr/>
          <p:nvPr/>
        </p:nvCxnSpPr>
        <p:spPr>
          <a:xfrm flipV="1">
            <a:off x="3429000" y="2788920"/>
            <a:ext cx="1188720" cy="822960"/>
          </a:xfrm>
          <a:prstGeom prst="line">
            <a:avLst/>
          </a:prstGeom>
          <a:ln w="25400">
            <a:solidFill>
              <a:srgbClr val="C5D9E8"/>
            </a:solidFill>
          </a:ln>
        </p:spPr>
      </p:cxnSp>
      <p:cxnSp>
        <p:nvCxnSpPr>
          <p:cNvPr id="17" name="Link DF"/>
          <p:cNvCxnSpPr/>
          <p:nvPr/>
        </p:nvCxnSpPr>
        <p:spPr>
          <a:xfrm>
            <a:off x="3429000" y="3611880"/>
            <a:ext cx="1097280" cy="1005840"/>
          </a:xfrm>
          <a:prstGeom prst="line">
            <a:avLst/>
          </a:prstGeom>
          <a:ln w="25400">
            <a:solidFill>
              <a:srgbClr val="C5D9E8"/>
            </a:solidFill>
          </a:ln>
        </p:spPr>
      </p:cxnSp>
      <p:cxnSp>
        <p:nvCxnSpPr>
          <p:cNvPr id="18" name="Link EI"/>
          <p:cNvCxnSpPr/>
          <p:nvPr/>
        </p:nvCxnSpPr>
        <p:spPr>
          <a:xfrm flipV="1">
            <a:off x="2697480" y="2148840"/>
            <a:ext cx="1234440" cy="320040"/>
          </a:xfrm>
          <a:prstGeom prst="line">
            <a:avLst/>
          </a:prstGeom>
          <a:ln w="25400">
            <a:solidFill>
              <a:srgbClr val="C5D9E8"/>
            </a:solidFill>
          </a:ln>
        </p:spPr>
      </p:cxnSp>
      <p:cxnSp>
        <p:nvCxnSpPr>
          <p:cNvPr id="19" name="Link IG"/>
          <p:cNvCxnSpPr/>
          <p:nvPr/>
        </p:nvCxnSpPr>
        <p:spPr>
          <a:xfrm>
            <a:off x="3931920" y="2148840"/>
            <a:ext cx="685800" cy="640080"/>
          </a:xfrm>
          <a:prstGeom prst="line">
            <a:avLst/>
          </a:prstGeom>
          <a:ln w="25400">
            <a:solidFill>
              <a:srgbClr val="C5D9E8"/>
            </a:solidFill>
          </a:ln>
        </p:spPr>
      </p:cxnSp>
      <p:cxnSp>
        <p:nvCxnSpPr>
          <p:cNvPr id="20" name="Link FH"/>
          <p:cNvCxnSpPr/>
          <p:nvPr/>
        </p:nvCxnSpPr>
        <p:spPr>
          <a:xfrm flipV="1">
            <a:off x="4526280" y="3886200"/>
            <a:ext cx="1097280" cy="731520"/>
          </a:xfrm>
          <a:prstGeom prst="line">
            <a:avLst/>
          </a:prstGeom>
          <a:ln w="25400">
            <a:solidFill>
              <a:srgbClr val="C5D9E8"/>
            </a:solidFill>
          </a:ln>
        </p:spPr>
      </p:cxnSp>
      <p:cxnSp>
        <p:nvCxnSpPr>
          <p:cNvPr id="21" name="Link FJ"/>
          <p:cNvCxnSpPr/>
          <p:nvPr/>
        </p:nvCxnSpPr>
        <p:spPr>
          <a:xfrm>
            <a:off x="4526280" y="4617720"/>
            <a:ext cx="1645920" cy="457200"/>
          </a:xfrm>
          <a:prstGeom prst="line">
            <a:avLst/>
          </a:prstGeom>
          <a:ln w="25400">
            <a:solidFill>
              <a:srgbClr val="C5D9E8"/>
            </a:solidFill>
          </a:ln>
        </p:spPr>
      </p:cxnSp>
      <p:cxnSp>
        <p:nvCxnSpPr>
          <p:cNvPr id="22" name="Link GH"/>
          <p:cNvCxnSpPr/>
          <p:nvPr/>
        </p:nvCxnSpPr>
        <p:spPr>
          <a:xfrm>
            <a:off x="4617720" y="2788920"/>
            <a:ext cx="1005840" cy="1097280"/>
          </a:xfrm>
          <a:prstGeom prst="line">
            <a:avLst/>
          </a:prstGeom>
          <a:ln w="25400">
            <a:solidFill>
              <a:srgbClr val="C5D9E8"/>
            </a:solidFill>
          </a:ln>
        </p:spPr>
      </p:cxnSp>
      <p:cxnSp>
        <p:nvCxnSpPr>
          <p:cNvPr id="23" name="Link GR"/>
          <p:cNvCxnSpPr/>
          <p:nvPr/>
        </p:nvCxnSpPr>
        <p:spPr>
          <a:xfrm flipV="1">
            <a:off x="4617720" y="2514600"/>
            <a:ext cx="2103120" cy="274320"/>
          </a:xfrm>
          <a:prstGeom prst="line">
            <a:avLst/>
          </a:prstGeom>
          <a:ln w="25400">
            <a:solidFill>
              <a:srgbClr val="C5D9E8"/>
            </a:solidFill>
          </a:ln>
        </p:spPr>
      </p:cxnSp>
      <p:cxnSp>
        <p:nvCxnSpPr>
          <p:cNvPr id="24" name="Link HR"/>
          <p:cNvCxnSpPr/>
          <p:nvPr/>
        </p:nvCxnSpPr>
        <p:spPr>
          <a:xfrm flipV="1">
            <a:off x="5623560" y="2514600"/>
            <a:ext cx="1097280" cy="1371600"/>
          </a:xfrm>
          <a:prstGeom prst="line">
            <a:avLst/>
          </a:prstGeom>
          <a:ln w="25400">
            <a:solidFill>
              <a:srgbClr val="C5D9E8"/>
            </a:solidFill>
          </a:ln>
        </p:spPr>
      </p:cxnSp>
      <p:cxnSp>
        <p:nvCxnSpPr>
          <p:cNvPr id="25" name="Link HJ"/>
          <p:cNvCxnSpPr/>
          <p:nvPr/>
        </p:nvCxnSpPr>
        <p:spPr>
          <a:xfrm>
            <a:off x="5623560" y="3886200"/>
            <a:ext cx="548640" cy="1188720"/>
          </a:xfrm>
          <a:prstGeom prst="line">
            <a:avLst/>
          </a:prstGeom>
          <a:ln w="25400">
            <a:solidFill>
              <a:srgbClr val="C5D9E8"/>
            </a:solidFill>
          </a:ln>
        </p:spPr>
      </p:cxnSp>
      <p:sp>
        <p:nvSpPr>
          <p:cNvPr id="26" name="Beacon A"/>
          <p:cNvSpPr/>
          <p:nvPr/>
        </p:nvSpPr>
        <p:spPr>
          <a:xfrm>
            <a:off x="1920240" y="3931920"/>
            <a:ext cx="822960" cy="822960"/>
          </a:xfrm>
          <a:prstGeom prst="ellipse">
            <a:avLst/>
          </a:prstGeom>
          <a:noFill/>
          <a:ln w="22225">
            <a:solidFill>
              <a:srgbClr val="00B7EA"/>
            </a:solidFill>
          </a:ln>
        </p:spPr>
      </p:sp>
      <p:sp>
        <p:nvSpPr>
          <p:cNvPr id="27" name="Beacon D"/>
          <p:cNvSpPr/>
          <p:nvPr/>
        </p:nvSpPr>
        <p:spPr>
          <a:xfrm>
            <a:off x="3017520" y="3200400"/>
            <a:ext cx="822960" cy="822960"/>
          </a:xfrm>
          <a:prstGeom prst="ellipse">
            <a:avLst/>
          </a:prstGeom>
          <a:noFill/>
          <a:ln w="22225">
            <a:solidFill>
              <a:srgbClr val="00B7EA"/>
            </a:solidFill>
          </a:ln>
        </p:spPr>
      </p:sp>
      <p:sp>
        <p:nvSpPr>
          <p:cNvPr id="28" name="Beacon E"/>
          <p:cNvSpPr/>
          <p:nvPr/>
        </p:nvSpPr>
        <p:spPr>
          <a:xfrm>
            <a:off x="2286000" y="2057400"/>
            <a:ext cx="822960" cy="822960"/>
          </a:xfrm>
          <a:prstGeom prst="ellipse">
            <a:avLst/>
          </a:prstGeom>
          <a:noFill/>
          <a:ln w="22225">
            <a:solidFill>
              <a:srgbClr val="00B7EA"/>
            </a:solidFill>
          </a:ln>
        </p:spPr>
      </p:sp>
      <p:sp>
        <p:nvSpPr>
          <p:cNvPr id="29" name="Beacon F"/>
          <p:cNvSpPr/>
          <p:nvPr/>
        </p:nvSpPr>
        <p:spPr>
          <a:xfrm>
            <a:off x="4114800" y="4206240"/>
            <a:ext cx="822960" cy="822960"/>
          </a:xfrm>
          <a:prstGeom prst="ellipse">
            <a:avLst/>
          </a:prstGeom>
          <a:noFill/>
          <a:ln w="22225">
            <a:solidFill>
              <a:srgbClr val="00B7EA"/>
            </a:solidFill>
          </a:ln>
        </p:spPr>
      </p:sp>
      <p:sp>
        <p:nvSpPr>
          <p:cNvPr id="30" name="Beacon G"/>
          <p:cNvSpPr/>
          <p:nvPr/>
        </p:nvSpPr>
        <p:spPr>
          <a:xfrm>
            <a:off x="4206240" y="2377440"/>
            <a:ext cx="822960" cy="822960"/>
          </a:xfrm>
          <a:prstGeom prst="ellipse">
            <a:avLst/>
          </a:prstGeom>
          <a:noFill/>
          <a:ln w="22225">
            <a:solidFill>
              <a:srgbClr val="00B7EA"/>
            </a:solidFill>
          </a:ln>
        </p:spPr>
      </p:sp>
      <p:sp>
        <p:nvSpPr>
          <p:cNvPr id="31" name="Beacon H"/>
          <p:cNvSpPr/>
          <p:nvPr/>
        </p:nvSpPr>
        <p:spPr>
          <a:xfrm>
            <a:off x="5212080" y="3474720"/>
            <a:ext cx="822960" cy="822960"/>
          </a:xfrm>
          <a:prstGeom prst="ellipse">
            <a:avLst/>
          </a:prstGeom>
          <a:noFill/>
          <a:ln w="22225">
            <a:solidFill>
              <a:srgbClr val="00B7EA"/>
            </a:solidFill>
          </a:ln>
        </p:spPr>
      </p:sp>
      <p:cxnSp>
        <p:nvCxnSpPr>
          <p:cNvPr id="32" name="SOS hop 1"/>
          <p:cNvCxnSpPr/>
          <p:nvPr/>
        </p:nvCxnSpPr>
        <p:spPr>
          <a:xfrm flipV="1">
            <a:off x="1417320" y="4343400"/>
            <a:ext cx="914400" cy="731520"/>
          </a:xfrm>
          <a:prstGeom prst="line">
            <a:avLst/>
          </a:prstGeom>
          <a:ln w="57150">
            <a:solidFill>
              <a:srgbClr val="EB6834"/>
            </a:solidFill>
          </a:ln>
        </p:spPr>
      </p:cxnSp>
      <p:cxnSp>
        <p:nvCxnSpPr>
          <p:cNvPr id="33" name="SOS hop 2"/>
          <p:cNvCxnSpPr/>
          <p:nvPr/>
        </p:nvCxnSpPr>
        <p:spPr>
          <a:xfrm flipV="1">
            <a:off x="2331720" y="3611880"/>
            <a:ext cx="1097280" cy="731520"/>
          </a:xfrm>
          <a:prstGeom prst="line">
            <a:avLst/>
          </a:prstGeom>
          <a:ln w="57150">
            <a:solidFill>
              <a:srgbClr val="EB6834"/>
            </a:solidFill>
          </a:ln>
        </p:spPr>
      </p:cxnSp>
      <p:cxnSp>
        <p:nvCxnSpPr>
          <p:cNvPr id="34" name="SOS hop 3"/>
          <p:cNvCxnSpPr/>
          <p:nvPr/>
        </p:nvCxnSpPr>
        <p:spPr>
          <a:xfrm flipV="1">
            <a:off x="3429000" y="2788920"/>
            <a:ext cx="1188720" cy="822960"/>
          </a:xfrm>
          <a:prstGeom prst="line">
            <a:avLst/>
          </a:prstGeom>
          <a:ln w="57150">
            <a:solidFill>
              <a:srgbClr val="EB6834"/>
            </a:solidFill>
          </a:ln>
        </p:spPr>
      </p:cxnSp>
      <p:cxnSp>
        <p:nvCxnSpPr>
          <p:cNvPr id="35" name="SOS hop 4"/>
          <p:cNvCxnSpPr/>
          <p:nvPr/>
        </p:nvCxnSpPr>
        <p:spPr>
          <a:xfrm flipV="1">
            <a:off x="4617720" y="2514600"/>
            <a:ext cx="2103120" cy="274320"/>
          </a:xfrm>
          <a:prstGeom prst="line">
            <a:avLst/>
          </a:prstGeom>
          <a:ln w="57150">
            <a:solidFill>
              <a:srgbClr val="EB6834"/>
            </a:solidFill>
          </a:ln>
        </p:spPr>
      </p:cxnSp>
      <p:cxnSp>
        <p:nvCxnSpPr>
          <p:cNvPr id="36" name="Re-route 1"/>
          <p:cNvCxnSpPr/>
          <p:nvPr/>
        </p:nvCxnSpPr>
        <p:spPr>
          <a:xfrm>
            <a:off x="2331720" y="4343400"/>
            <a:ext cx="914400" cy="868680"/>
          </a:xfrm>
          <a:prstGeom prst="line">
            <a:avLst/>
          </a:prstGeom>
          <a:ln w="57150">
            <a:solidFill>
              <a:srgbClr val="00A4C8"/>
            </a:solidFill>
          </a:ln>
        </p:spPr>
      </p:cxnSp>
      <p:cxnSp>
        <p:nvCxnSpPr>
          <p:cNvPr id="37" name="Re-route 2"/>
          <p:cNvCxnSpPr/>
          <p:nvPr/>
        </p:nvCxnSpPr>
        <p:spPr>
          <a:xfrm flipV="1">
            <a:off x="3246120" y="4617720"/>
            <a:ext cx="1280160" cy="594360"/>
          </a:xfrm>
          <a:prstGeom prst="line">
            <a:avLst/>
          </a:prstGeom>
          <a:ln w="57150">
            <a:solidFill>
              <a:srgbClr val="00A4C8"/>
            </a:solidFill>
          </a:ln>
        </p:spPr>
      </p:cxnSp>
      <p:cxnSp>
        <p:nvCxnSpPr>
          <p:cNvPr id="38" name="Re-route 3"/>
          <p:cNvCxnSpPr/>
          <p:nvPr/>
        </p:nvCxnSpPr>
        <p:spPr>
          <a:xfrm flipV="1">
            <a:off x="4526280" y="3886200"/>
            <a:ext cx="1097280" cy="731520"/>
          </a:xfrm>
          <a:prstGeom prst="line">
            <a:avLst/>
          </a:prstGeom>
          <a:ln w="57150">
            <a:solidFill>
              <a:srgbClr val="00A4C8"/>
            </a:solidFill>
          </a:ln>
        </p:spPr>
      </p:cxnSp>
      <p:cxnSp>
        <p:nvCxnSpPr>
          <p:cNvPr id="39" name="Re-route 4"/>
          <p:cNvCxnSpPr/>
          <p:nvPr/>
        </p:nvCxnSpPr>
        <p:spPr>
          <a:xfrm flipV="1">
            <a:off x="5623560" y="2514600"/>
            <a:ext cx="1097280" cy="1371600"/>
          </a:xfrm>
          <a:prstGeom prst="line">
            <a:avLst/>
          </a:prstGeom>
          <a:ln w="57150">
            <a:solidFill>
              <a:srgbClr val="00A4C8"/>
            </a:solidFill>
          </a:ln>
        </p:spPr>
      </p:cxnSp>
      <p:sp>
        <p:nvSpPr>
          <p:cNvPr id="40" name="Survivor"/>
          <p:cNvSpPr/>
          <p:nvPr/>
        </p:nvSpPr>
        <p:spPr>
          <a:xfrm>
            <a:off x="1243584" y="4901184"/>
            <a:ext cx="347472" cy="347472"/>
          </a:xfrm>
          <a:prstGeom prst="ellipse">
            <a:avLst/>
          </a:prstGeom>
          <a:solidFill>
            <a:srgbClr val="EB6834"/>
          </a:solidFill>
          <a:ln w="25400">
            <a:solidFill>
              <a:srgbClr val="FFFFFF"/>
            </a:solidFill>
          </a:ln>
        </p:spPr>
      </p:sp>
      <p:sp>
        <p:nvSpPr>
          <p:cNvPr id="41" name="Node A"/>
          <p:cNvSpPr/>
          <p:nvPr/>
        </p:nvSpPr>
        <p:spPr>
          <a:xfrm>
            <a:off x="2185416" y="4197096"/>
            <a:ext cx="292608" cy="292608"/>
          </a:xfrm>
          <a:prstGeom prst="ellipse">
            <a:avLst/>
          </a:prstGeom>
          <a:solidFill>
            <a:srgbClr val="FFFFFF"/>
          </a:solidFill>
          <a:ln w="25400">
            <a:solidFill>
              <a:srgbClr val="003E82"/>
            </a:solidFill>
          </a:ln>
        </p:spPr>
      </p:sp>
      <p:sp>
        <p:nvSpPr>
          <p:cNvPr id="42" name="Node B"/>
          <p:cNvSpPr/>
          <p:nvPr/>
        </p:nvSpPr>
        <p:spPr>
          <a:xfrm>
            <a:off x="1453896" y="3099816"/>
            <a:ext cx="292608" cy="292608"/>
          </a:xfrm>
          <a:prstGeom prst="ellipse">
            <a:avLst/>
          </a:prstGeom>
          <a:solidFill>
            <a:srgbClr val="FFFFFF"/>
          </a:solidFill>
          <a:ln w="25400">
            <a:solidFill>
              <a:srgbClr val="003E82"/>
            </a:solidFill>
          </a:ln>
        </p:spPr>
      </p:sp>
      <p:sp>
        <p:nvSpPr>
          <p:cNvPr id="43" name="Node C"/>
          <p:cNvSpPr/>
          <p:nvPr/>
        </p:nvSpPr>
        <p:spPr>
          <a:xfrm>
            <a:off x="3099816" y="5065776"/>
            <a:ext cx="292608" cy="292608"/>
          </a:xfrm>
          <a:prstGeom prst="ellipse">
            <a:avLst/>
          </a:prstGeom>
          <a:solidFill>
            <a:srgbClr val="FFFFFF"/>
          </a:solidFill>
          <a:ln w="25400">
            <a:solidFill>
              <a:srgbClr val="003E82"/>
            </a:solidFill>
          </a:ln>
        </p:spPr>
      </p:sp>
      <p:sp>
        <p:nvSpPr>
          <p:cNvPr id="44" name="Node D"/>
          <p:cNvSpPr/>
          <p:nvPr/>
        </p:nvSpPr>
        <p:spPr>
          <a:xfrm>
            <a:off x="3282696" y="3465576"/>
            <a:ext cx="292608" cy="292608"/>
          </a:xfrm>
          <a:prstGeom prst="ellipse">
            <a:avLst/>
          </a:prstGeom>
          <a:solidFill>
            <a:srgbClr val="FFFFFF"/>
          </a:solidFill>
          <a:ln w="25400">
            <a:solidFill>
              <a:srgbClr val="003E82"/>
            </a:solidFill>
          </a:ln>
        </p:spPr>
      </p:sp>
      <p:sp>
        <p:nvSpPr>
          <p:cNvPr id="45" name="Node E"/>
          <p:cNvSpPr/>
          <p:nvPr/>
        </p:nvSpPr>
        <p:spPr>
          <a:xfrm>
            <a:off x="2551176" y="2322576"/>
            <a:ext cx="292608" cy="292608"/>
          </a:xfrm>
          <a:prstGeom prst="ellipse">
            <a:avLst/>
          </a:prstGeom>
          <a:solidFill>
            <a:srgbClr val="FFFFFF"/>
          </a:solidFill>
          <a:ln w="25400">
            <a:solidFill>
              <a:srgbClr val="003E82"/>
            </a:solidFill>
          </a:ln>
        </p:spPr>
      </p:sp>
      <p:sp>
        <p:nvSpPr>
          <p:cNvPr id="46" name="Node F"/>
          <p:cNvSpPr/>
          <p:nvPr/>
        </p:nvSpPr>
        <p:spPr>
          <a:xfrm>
            <a:off x="4379976" y="4471416"/>
            <a:ext cx="292608" cy="292608"/>
          </a:xfrm>
          <a:prstGeom prst="ellipse">
            <a:avLst/>
          </a:prstGeom>
          <a:solidFill>
            <a:srgbClr val="FFFFFF"/>
          </a:solidFill>
          <a:ln w="25400">
            <a:solidFill>
              <a:srgbClr val="003E82"/>
            </a:solidFill>
          </a:ln>
        </p:spPr>
      </p:sp>
      <p:sp>
        <p:nvSpPr>
          <p:cNvPr id="47" name="Node G"/>
          <p:cNvSpPr/>
          <p:nvPr/>
        </p:nvSpPr>
        <p:spPr>
          <a:xfrm>
            <a:off x="4471416" y="2642616"/>
            <a:ext cx="292608" cy="292608"/>
          </a:xfrm>
          <a:prstGeom prst="ellipse">
            <a:avLst/>
          </a:prstGeom>
          <a:solidFill>
            <a:srgbClr val="FFFFFF"/>
          </a:solidFill>
          <a:ln w="25400">
            <a:solidFill>
              <a:srgbClr val="003E82"/>
            </a:solidFill>
          </a:ln>
        </p:spPr>
      </p:sp>
      <p:sp>
        <p:nvSpPr>
          <p:cNvPr id="48" name="Node H"/>
          <p:cNvSpPr/>
          <p:nvPr/>
        </p:nvSpPr>
        <p:spPr>
          <a:xfrm>
            <a:off x="5477256" y="3739896"/>
            <a:ext cx="292608" cy="292608"/>
          </a:xfrm>
          <a:prstGeom prst="ellipse">
            <a:avLst/>
          </a:prstGeom>
          <a:solidFill>
            <a:srgbClr val="FFFFFF"/>
          </a:solidFill>
          <a:ln w="25400">
            <a:solidFill>
              <a:srgbClr val="003E82"/>
            </a:solidFill>
          </a:ln>
        </p:spPr>
      </p:sp>
      <p:sp>
        <p:nvSpPr>
          <p:cNvPr id="49" name="Node I"/>
          <p:cNvSpPr/>
          <p:nvPr/>
        </p:nvSpPr>
        <p:spPr>
          <a:xfrm>
            <a:off x="3785616" y="2002536"/>
            <a:ext cx="292608" cy="292608"/>
          </a:xfrm>
          <a:prstGeom prst="ellipse">
            <a:avLst/>
          </a:prstGeom>
          <a:solidFill>
            <a:srgbClr val="FFFFFF"/>
          </a:solidFill>
          <a:ln w="25400">
            <a:solidFill>
              <a:srgbClr val="003E82"/>
            </a:solidFill>
          </a:ln>
        </p:spPr>
      </p:sp>
      <p:sp>
        <p:nvSpPr>
          <p:cNvPr id="50" name="Node J"/>
          <p:cNvSpPr/>
          <p:nvPr/>
        </p:nvSpPr>
        <p:spPr>
          <a:xfrm>
            <a:off x="6025896" y="4928616"/>
            <a:ext cx="292608" cy="292608"/>
          </a:xfrm>
          <a:prstGeom prst="ellipse">
            <a:avLst/>
          </a:prstGeom>
          <a:solidFill>
            <a:srgbClr val="FFFFFF"/>
          </a:solidFill>
          <a:ln w="25400">
            <a:solidFill>
              <a:srgbClr val="003E82"/>
            </a:solidFill>
          </a:ln>
        </p:spPr>
      </p:sp>
      <p:sp>
        <p:nvSpPr>
          <p:cNvPr id="51" name="Rescue node"/>
          <p:cNvSpPr/>
          <p:nvPr/>
        </p:nvSpPr>
        <p:spPr>
          <a:xfrm>
            <a:off x="6501384" y="2295144"/>
            <a:ext cx="438912" cy="438912"/>
          </a:xfrm>
          <a:prstGeom prst="ellipse">
            <a:avLst/>
          </a:prstGeom>
          <a:solidFill>
            <a:srgbClr val="1E9E6A"/>
          </a:solidFill>
          <a:ln w="25400">
            <a:solidFill>
              <a:srgbClr val="FFFFFF"/>
            </a:solidFill>
          </a:ln>
        </p:spPr>
        <p:txBody>
          <a:bodyPr wrap="square" lIns="0" tIns="0" rIns="0" bIns="0" rtlCol="0" anchor="ctr">
            <a:noAutofit/>
          </a:bodyPr>
          <a:lstStyle/>
          <a:p>
            <a:pPr marL="0" indent="0" algn="ctr">
              <a:buNone/>
            </a:pPr>
            <a:r>
              <a:rPr lang="en-US" sz="1800" b="1" dirty="0">
                <a:solidFill>
                  <a:srgbClr val="FFFFFF"/>
                </a:solidFill>
                <a:latin typeface="Tahoma"/>
                <a:ea typeface="Tahoma"/>
                <a:cs typeface="Tahoma"/>
              </a:rPr>
              <a:t>+</a:t>
            </a:r>
            <a:endParaRPr lang="en-US" sz="1800" dirty="0"/>
          </a:p>
        </p:txBody>
      </p:sp>
      <p:sp>
        <p:nvSpPr>
          <p:cNvPr id="52" name="Shape 52"/>
          <p:cNvSpPr txBox="1"/>
          <p:nvPr/>
        </p:nvSpPr>
        <p:spPr>
          <a:xfrm>
            <a:off x="868680" y="5349240"/>
            <a:ext cx="1463040" cy="274320"/>
          </a:xfrm>
          <a:prstGeom prst="rect">
            <a:avLst/>
          </a:prstGeom>
          <a:noFill/>
          <a:ln>
            <a:noFill/>
          </a:ln>
        </p:spPr>
        <p:txBody>
          <a:bodyPr wrap="square" lIns="0" tIns="0" rIns="0" bIns="0" rtlCol="0" anchor="t">
            <a:noAutofit/>
          </a:bodyPr>
          <a:lstStyle/>
          <a:p>
            <a:pPr marL="0" indent="0" algn="ctr">
              <a:buNone/>
            </a:pPr>
            <a:r>
              <a:rPr lang="en-US" sz="1100" b="1" dirty="0">
                <a:solidFill>
                  <a:srgbClr val="B85700"/>
                </a:solidFill>
                <a:latin typeface="Tahoma"/>
                <a:ea typeface="Tahoma"/>
                <a:cs typeface="Tahoma"/>
              </a:rPr>
              <a:t>Survivor</a:t>
            </a:r>
            <a:endParaRPr lang="en-US" sz="1100" dirty="0"/>
          </a:p>
        </p:txBody>
      </p:sp>
      <p:sp>
        <p:nvSpPr>
          <p:cNvPr id="53" name="Shape 53"/>
          <p:cNvSpPr txBox="1"/>
          <p:nvPr/>
        </p:nvSpPr>
        <p:spPr>
          <a:xfrm>
            <a:off x="6172200" y="1920240"/>
            <a:ext cx="1143000" cy="274320"/>
          </a:xfrm>
          <a:prstGeom prst="rect">
            <a:avLst/>
          </a:prstGeom>
          <a:noFill/>
          <a:ln>
            <a:noFill/>
          </a:ln>
        </p:spPr>
        <p:txBody>
          <a:bodyPr wrap="square" lIns="0" tIns="0" rIns="0" bIns="0" rtlCol="0" anchor="t">
            <a:noAutofit/>
          </a:bodyPr>
          <a:lstStyle/>
          <a:p>
            <a:pPr marL="0" indent="0" algn="ctr">
              <a:buNone/>
            </a:pPr>
            <a:r>
              <a:rPr lang="en-US" sz="1100" b="1" dirty="0">
                <a:solidFill>
                  <a:srgbClr val="1E9E6A"/>
                </a:solidFill>
                <a:latin typeface="Tahoma"/>
                <a:ea typeface="Tahoma"/>
                <a:cs typeface="Tahoma"/>
              </a:rPr>
              <a:t>Rescue node</a:t>
            </a:r>
            <a:endParaRPr lang="en-US" sz="1100" dirty="0"/>
          </a:p>
        </p:txBody>
      </p:sp>
      <p:sp>
        <p:nvSpPr>
          <p:cNvPr id="54" name="SOS tag"/>
          <p:cNvSpPr/>
          <p:nvPr/>
        </p:nvSpPr>
        <p:spPr>
          <a:xfrm>
            <a:off x="896112" y="4526280"/>
            <a:ext cx="566928" cy="274320"/>
          </a:xfrm>
          <a:prstGeom prst="roundRect">
            <a:avLst>
              <a:gd name="adj" fmla="val 30000"/>
            </a:avLst>
          </a:prstGeom>
          <a:solidFill>
            <a:srgbClr val="EB6834"/>
          </a:solidFill>
          <a:ln>
            <a:noFill/>
          </a:ln>
        </p:spPr>
        <p:txBody>
          <a:bodyPr wrap="square" lIns="0" tIns="0" rIns="0" bIns="0" rtlCol="0" anchor="ctr">
            <a:noAutofit/>
          </a:bodyPr>
          <a:lstStyle/>
          <a:p>
            <a:pPr marL="0" indent="0" algn="ctr">
              <a:buNone/>
            </a:pPr>
            <a:r>
              <a:rPr lang="en-US" sz="1050" b="1" dirty="0">
                <a:solidFill>
                  <a:srgbClr val="FFFFFF"/>
                </a:solidFill>
                <a:latin typeface="Tahoma"/>
                <a:ea typeface="Tahoma"/>
                <a:cs typeface="Tahoma"/>
              </a:rPr>
              <a:t>SOS</a:t>
            </a:r>
            <a:endParaRPr lang="en-US" sz="1050" dirty="0"/>
          </a:p>
        </p:txBody>
      </p:sp>
      <p:grpSp>
        <p:nvGrpSpPr>
          <p:cNvPr id="55" name="Node D fails"/>
          <p:cNvGrpSpPr/>
          <p:nvPr/>
        </p:nvGrpSpPr>
        <p:grpSpPr>
          <a:xfrm>
            <a:off x="3236976" y="3419856"/>
            <a:ext cx="384048" cy="384048"/>
            <a:chOff x="3236976" y="3419856"/>
            <a:chExt cx="384048" cy="384048"/>
          </a:xfrm>
        </p:grpSpPr>
        <p:sp>
          <p:nvSpPr>
            <p:cNvPr id="56" name="Shape 56"/>
            <p:cNvSpPr/>
            <p:nvPr/>
          </p:nvSpPr>
          <p:spPr>
            <a:xfrm>
              <a:off x="3236976" y="3419856"/>
              <a:ext cx="384048" cy="384048"/>
            </a:xfrm>
            <a:prstGeom prst="ellipse">
              <a:avLst/>
            </a:prstGeom>
            <a:solidFill>
              <a:srgbClr val="D64545"/>
            </a:solidFill>
            <a:ln w="25400">
              <a:solidFill>
                <a:srgbClr val="FFFFFF"/>
              </a:solidFill>
            </a:ln>
          </p:spPr>
        </p:sp>
        <p:sp>
          <p:nvSpPr>
            <p:cNvPr id="57" name="Shape 57"/>
            <p:cNvSpPr/>
            <p:nvPr/>
          </p:nvSpPr>
          <p:spPr>
            <a:xfrm>
              <a:off x="3291840" y="3474720"/>
              <a:ext cx="274320" cy="274320"/>
            </a:xfrm>
            <a:prstGeom prst="mathMultiply">
              <a:avLst/>
            </a:prstGeom>
            <a:solidFill>
              <a:srgbClr val="FFFFFF"/>
            </a:solidFill>
            <a:ln>
              <a:noFill/>
            </a:ln>
          </p:spPr>
        </p:sp>
      </p:grpSp>
      <p:grpSp>
        <p:nvGrpSpPr>
          <p:cNvPr id="58" name="Step 1"/>
          <p:cNvGrpSpPr/>
          <p:nvPr/>
        </p:nvGrpSpPr>
        <p:grpSpPr>
          <a:xfrm>
            <a:off x="7726680" y="1764792"/>
            <a:ext cx="3703320" cy="1298448"/>
            <a:chOff x="7726680" y="1764792"/>
            <a:chExt cx="3703320" cy="1298448"/>
          </a:xfrm>
        </p:grpSpPr>
        <p:sp>
          <p:nvSpPr>
            <p:cNvPr id="59" name="Badge 1"/>
            <p:cNvSpPr/>
            <p:nvPr/>
          </p:nvSpPr>
          <p:spPr>
            <a:xfrm>
              <a:off x="7726680" y="1783080"/>
              <a:ext cx="457200" cy="457200"/>
            </a:xfrm>
            <a:prstGeom prst="ellipse">
              <a:avLst/>
            </a:prstGeom>
            <a:solidFill>
              <a:srgbClr val="00A4C8"/>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1</a:t>
              </a:r>
              <a:endParaRPr lang="en-US" sz="1300" dirty="0"/>
            </a:p>
          </p:txBody>
        </p:sp>
        <p:sp>
          <p:nvSpPr>
            <p:cNvPr id="60" name="Shape 60"/>
            <p:cNvSpPr txBox="1"/>
            <p:nvPr/>
          </p:nvSpPr>
          <p:spPr>
            <a:xfrm>
              <a:off x="8321040" y="1764792"/>
              <a:ext cx="3108960" cy="457200"/>
            </a:xfrm>
            <a:prstGeom prst="rect">
              <a:avLst/>
            </a:prstGeom>
            <a:noFill/>
            <a:ln>
              <a:noFill/>
            </a:ln>
          </p:spPr>
          <p:txBody>
            <a:bodyPr wrap="square" lIns="0" tIns="0" rIns="0" bIns="0" rtlCol="0" anchor="ctr">
              <a:noAutofit/>
            </a:bodyPr>
            <a:lstStyle/>
            <a:p>
              <a:pPr marL="0" indent="0" algn="l">
                <a:buNone/>
              </a:pPr>
              <a:r>
                <a:rPr lang="en-US" sz="1600" b="1" dirty="0">
                  <a:solidFill>
                    <a:srgbClr val="003E82"/>
                  </a:solidFill>
                  <a:latin typeface="Tahoma"/>
                  <a:ea typeface="Tahoma"/>
                  <a:cs typeface="Tahoma"/>
                </a:rPr>
                <a:t>Beacons</a:t>
              </a:r>
              <a:endParaRPr lang="en-US" sz="1600" dirty="0"/>
            </a:p>
          </p:txBody>
        </p:sp>
        <p:sp>
          <p:nvSpPr>
            <p:cNvPr id="61" name="Shape 61"/>
            <p:cNvSpPr txBox="1"/>
            <p:nvPr/>
          </p:nvSpPr>
          <p:spPr>
            <a:xfrm>
              <a:off x="8321040" y="2240280"/>
              <a:ext cx="3108960" cy="822960"/>
            </a:xfrm>
            <a:prstGeom prst="rect">
              <a:avLst/>
            </a:prstGeom>
            <a:noFill/>
            <a:ln>
              <a:noFill/>
            </a:ln>
          </p:spPr>
          <p:txBody>
            <a:bodyPr wrap="square" lIns="0" tIns="0" rIns="0" bIns="0" rtlCol="0" anchor="t">
              <a:noAutofit/>
            </a:bodyPr>
            <a:lstStyle/>
            <a:p>
              <a:pPr marL="0" indent="0" algn="l">
                <a:lnSpc>
                  <a:spcPct val="105000"/>
                </a:lnSpc>
                <a:buNone/>
              </a:pPr>
              <a:r>
                <a:rPr lang="en-US" sz="1300" dirty="0">
                  <a:solidFill>
                    <a:srgbClr val="44546A"/>
                  </a:solidFill>
                  <a:latin typeface="Tahoma"/>
                  <a:ea typeface="Tahoma"/>
                  <a:cs typeface="Tahoma"/>
                </a:rPr>
                <a:t>Nodes announce themselves to find neighbours and measure link quality</a:t>
              </a:r>
              <a:endParaRPr lang="en-US" sz="1300" dirty="0"/>
            </a:p>
          </p:txBody>
        </p:sp>
      </p:grpSp>
      <p:grpSp>
        <p:nvGrpSpPr>
          <p:cNvPr id="62" name="Step 2"/>
          <p:cNvGrpSpPr/>
          <p:nvPr/>
        </p:nvGrpSpPr>
        <p:grpSpPr>
          <a:xfrm>
            <a:off x="7726680" y="3136392"/>
            <a:ext cx="3703320" cy="1298448"/>
            <a:chOff x="7726680" y="3136392"/>
            <a:chExt cx="3703320" cy="1298448"/>
          </a:xfrm>
        </p:grpSpPr>
        <p:sp>
          <p:nvSpPr>
            <p:cNvPr id="63" name="Badge 2"/>
            <p:cNvSpPr/>
            <p:nvPr/>
          </p:nvSpPr>
          <p:spPr>
            <a:xfrm>
              <a:off x="7726680" y="3154680"/>
              <a:ext cx="457200" cy="457200"/>
            </a:xfrm>
            <a:prstGeom prst="ellipse">
              <a:avLst/>
            </a:prstGeom>
            <a:solidFill>
              <a:srgbClr val="EB6834"/>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2</a:t>
              </a:r>
              <a:endParaRPr lang="en-US" sz="1300" dirty="0"/>
            </a:p>
          </p:txBody>
        </p:sp>
        <p:sp>
          <p:nvSpPr>
            <p:cNvPr id="64" name="Shape 64"/>
            <p:cNvSpPr txBox="1"/>
            <p:nvPr/>
          </p:nvSpPr>
          <p:spPr>
            <a:xfrm>
              <a:off x="8321040" y="3136392"/>
              <a:ext cx="3108960" cy="457200"/>
            </a:xfrm>
            <a:prstGeom prst="rect">
              <a:avLst/>
            </a:prstGeom>
            <a:noFill/>
            <a:ln>
              <a:noFill/>
            </a:ln>
          </p:spPr>
          <p:txBody>
            <a:bodyPr wrap="square" lIns="0" tIns="0" rIns="0" bIns="0" rtlCol="0" anchor="ctr">
              <a:noAutofit/>
            </a:bodyPr>
            <a:lstStyle/>
            <a:p>
              <a:pPr marL="0" indent="0" algn="l">
                <a:buNone/>
              </a:pPr>
              <a:r>
                <a:rPr lang="en-US" sz="1600" b="1" dirty="0">
                  <a:solidFill>
                    <a:srgbClr val="003E82"/>
                  </a:solidFill>
                  <a:latin typeface="Tahoma"/>
                  <a:ea typeface="Tahoma"/>
                  <a:cs typeface="Tahoma"/>
                </a:rPr>
                <a:t>SOS + GPS</a:t>
              </a:r>
              <a:endParaRPr lang="en-US" sz="1600" dirty="0"/>
            </a:p>
          </p:txBody>
        </p:sp>
        <p:sp>
          <p:nvSpPr>
            <p:cNvPr id="65" name="Shape 65"/>
            <p:cNvSpPr txBox="1"/>
            <p:nvPr/>
          </p:nvSpPr>
          <p:spPr>
            <a:xfrm>
              <a:off x="8321040" y="3611880"/>
              <a:ext cx="3108960" cy="822960"/>
            </a:xfrm>
            <a:prstGeom prst="rect">
              <a:avLst/>
            </a:prstGeom>
            <a:noFill/>
            <a:ln>
              <a:noFill/>
            </a:ln>
          </p:spPr>
          <p:txBody>
            <a:bodyPr wrap="square" lIns="0" tIns="0" rIns="0" bIns="0" rtlCol="0" anchor="t">
              <a:noAutofit/>
            </a:bodyPr>
            <a:lstStyle/>
            <a:p>
              <a:pPr marL="0" indent="0" algn="l">
                <a:lnSpc>
                  <a:spcPct val="105000"/>
                </a:lnSpc>
                <a:buNone/>
              </a:pPr>
              <a:r>
                <a:rPr lang="en-US" sz="1300" dirty="0">
                  <a:solidFill>
                    <a:srgbClr val="44546A"/>
                  </a:solidFill>
                  <a:latin typeface="Tahoma"/>
                  <a:ea typeface="Tahoma"/>
                  <a:cs typeface="Tahoma"/>
                </a:rPr>
                <a:t>Hops node to node until it reaches an active rescue node</a:t>
              </a:r>
              <a:endParaRPr lang="en-US" sz="1300" dirty="0"/>
            </a:p>
          </p:txBody>
        </p:sp>
      </p:grpSp>
      <p:grpSp>
        <p:nvGrpSpPr>
          <p:cNvPr id="66" name="Step 3"/>
          <p:cNvGrpSpPr/>
          <p:nvPr/>
        </p:nvGrpSpPr>
        <p:grpSpPr>
          <a:xfrm>
            <a:off x="7726680" y="4507992"/>
            <a:ext cx="3703320" cy="1298448"/>
            <a:chOff x="7726680" y="4507992"/>
            <a:chExt cx="3703320" cy="1298448"/>
          </a:xfrm>
        </p:grpSpPr>
        <p:sp>
          <p:nvSpPr>
            <p:cNvPr id="67" name="Badge 3"/>
            <p:cNvSpPr/>
            <p:nvPr/>
          </p:nvSpPr>
          <p:spPr>
            <a:xfrm>
              <a:off x="7726680" y="4526280"/>
              <a:ext cx="457200" cy="4572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3</a:t>
              </a:r>
              <a:endParaRPr lang="en-US" sz="1300" dirty="0"/>
            </a:p>
          </p:txBody>
        </p:sp>
        <p:sp>
          <p:nvSpPr>
            <p:cNvPr id="68" name="Shape 68"/>
            <p:cNvSpPr txBox="1"/>
            <p:nvPr/>
          </p:nvSpPr>
          <p:spPr>
            <a:xfrm>
              <a:off x="8321040" y="4507992"/>
              <a:ext cx="3108960" cy="457200"/>
            </a:xfrm>
            <a:prstGeom prst="rect">
              <a:avLst/>
            </a:prstGeom>
            <a:noFill/>
            <a:ln>
              <a:noFill/>
            </a:ln>
          </p:spPr>
          <p:txBody>
            <a:bodyPr wrap="square" lIns="0" tIns="0" rIns="0" bIns="0" rtlCol="0" anchor="ctr">
              <a:noAutofit/>
            </a:bodyPr>
            <a:lstStyle/>
            <a:p>
              <a:pPr marL="0" indent="0" algn="l">
                <a:buNone/>
              </a:pPr>
              <a:r>
                <a:rPr lang="en-US" sz="1600" b="1" dirty="0">
                  <a:solidFill>
                    <a:srgbClr val="003E82"/>
                  </a:solidFill>
                  <a:latin typeface="Tahoma"/>
                  <a:ea typeface="Tahoma"/>
                  <a:cs typeface="Tahoma"/>
                </a:rPr>
                <a:t>Live link state</a:t>
              </a:r>
              <a:endParaRPr lang="en-US" sz="1600" dirty="0"/>
            </a:p>
          </p:txBody>
        </p:sp>
        <p:sp>
          <p:nvSpPr>
            <p:cNvPr id="69" name="Shape 69"/>
            <p:cNvSpPr txBox="1"/>
            <p:nvPr/>
          </p:nvSpPr>
          <p:spPr>
            <a:xfrm>
              <a:off x="8321040" y="4983480"/>
              <a:ext cx="3108960" cy="822960"/>
            </a:xfrm>
            <a:prstGeom prst="rect">
              <a:avLst/>
            </a:prstGeom>
            <a:noFill/>
            <a:ln>
              <a:noFill/>
            </a:ln>
          </p:spPr>
          <p:txBody>
            <a:bodyPr wrap="square" lIns="0" tIns="0" rIns="0" bIns="0" rtlCol="0" anchor="t">
              <a:noAutofit/>
            </a:bodyPr>
            <a:lstStyle/>
            <a:p>
              <a:pPr marL="0" indent="0" algn="l">
                <a:lnSpc>
                  <a:spcPct val="105000"/>
                </a:lnSpc>
                <a:buNone/>
              </a:pPr>
              <a:r>
                <a:rPr lang="en-US" sz="1300" dirty="0">
                  <a:solidFill>
                    <a:srgbClr val="44546A"/>
                  </a:solidFill>
                  <a:latin typeface="Tahoma"/>
                  <a:ea typeface="Tahoma"/>
                  <a:cs typeface="Tahoma"/>
                </a:rPr>
                <a:t>PDR · RSSI · reachability: routes are re-assessed as nodes fail or links degrade</a:t>
              </a:r>
              <a:endParaRPr lang="en-US" sz="1300" dirty="0"/>
            </a:p>
          </p:txBody>
        </p:sp>
      </p:grpSp>
      <p:cxnSp>
        <p:nvCxnSpPr>
          <p:cNvPr id="70" name="Footer rule"/>
          <p:cNvCxnSpPr/>
          <p:nvPr/>
        </p:nvCxnSpPr>
        <p:spPr>
          <a:xfrm>
            <a:off x="502920" y="6199632"/>
            <a:ext cx="11155680" cy="0"/>
          </a:xfrm>
          <a:prstGeom prst="line">
            <a:avLst/>
          </a:prstGeom>
          <a:ln w="12700">
            <a:solidFill>
              <a:srgbClr val="003E82">
                <a:alpha val="25000"/>
              </a:srgbClr>
            </a:solidFill>
          </a:ln>
        </p:spPr>
      </p:cxnSp>
      <p:pic>
        <p:nvPicPr>
          <p:cNvPr id="71"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72"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73"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09</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450"/>
                                        <p:tgtEl>
                                          <p:spTgt spid="58"/>
                                        </p:tgtEl>
                                      </p:cBhvr>
                                    </p:animEffect>
                                  </p:childTnLst>
                                </p:cTn>
                              </p:par>
                              <p:par>
                                <p:cTn id="8" presetID="23" presetClass="entr" presetSubtype="16"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 calcmode="lin" valueType="num">
                                      <p:cBhvr>
                                        <p:cTn id="10" dur="350" fill="hold"/>
                                        <p:tgtEl>
                                          <p:spTgt spid="26"/>
                                        </p:tgtEl>
                                        <p:attrNameLst>
                                          <p:attrName>ppt_w</p:attrName>
                                        </p:attrNameLst>
                                      </p:cBhvr>
                                      <p:tavLst>
                                        <p:tav tm="0">
                                          <p:val>
                                            <p:fltVal val="0"/>
                                          </p:val>
                                        </p:tav>
                                        <p:tav tm="100000">
                                          <p:val>
                                            <p:strVal val="#ppt_w"/>
                                          </p:val>
                                        </p:tav>
                                      </p:tavLst>
                                    </p:anim>
                                    <p:anim calcmode="lin" valueType="num">
                                      <p:cBhvr>
                                        <p:cTn id="11" dur="350" fill="hold"/>
                                        <p:tgtEl>
                                          <p:spTgt spid="26"/>
                                        </p:tgtEl>
                                        <p:attrNameLst>
                                          <p:attrName>ppt_h</p:attrName>
                                        </p:attrNameLst>
                                      </p:cBhvr>
                                      <p:tavLst>
                                        <p:tav tm="0">
                                          <p:val>
                                            <p:fltVal val="0"/>
                                          </p:val>
                                        </p:tav>
                                        <p:tav tm="100000">
                                          <p:val>
                                            <p:strVal val="#ppt_h"/>
                                          </p:val>
                                        </p:tav>
                                      </p:tavLst>
                                    </p:anim>
                                  </p:childTnLst>
                                </p:cTn>
                              </p:par>
                              <p:par>
                                <p:cTn id="12" presetID="23" presetClass="entr" presetSubtype="16"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anim calcmode="lin" valueType="num">
                                      <p:cBhvr>
                                        <p:cTn id="14" dur="350" fill="hold"/>
                                        <p:tgtEl>
                                          <p:spTgt spid="27"/>
                                        </p:tgtEl>
                                        <p:attrNameLst>
                                          <p:attrName>ppt_w</p:attrName>
                                        </p:attrNameLst>
                                      </p:cBhvr>
                                      <p:tavLst>
                                        <p:tav tm="0">
                                          <p:val>
                                            <p:fltVal val="0"/>
                                          </p:val>
                                        </p:tav>
                                        <p:tav tm="100000">
                                          <p:val>
                                            <p:strVal val="#ppt_w"/>
                                          </p:val>
                                        </p:tav>
                                      </p:tavLst>
                                    </p:anim>
                                    <p:anim calcmode="lin" valueType="num">
                                      <p:cBhvr>
                                        <p:cTn id="15" dur="350" fill="hold"/>
                                        <p:tgtEl>
                                          <p:spTgt spid="27"/>
                                        </p:tgtEl>
                                        <p:attrNameLst>
                                          <p:attrName>ppt_h</p:attrName>
                                        </p:attrNameLst>
                                      </p:cBhvr>
                                      <p:tavLst>
                                        <p:tav tm="0">
                                          <p:val>
                                            <p:fltVal val="0"/>
                                          </p:val>
                                        </p:tav>
                                        <p:tav tm="100000">
                                          <p:val>
                                            <p:strVal val="#ppt_h"/>
                                          </p:val>
                                        </p:tav>
                                      </p:tavLst>
                                    </p:anim>
                                  </p:childTnLst>
                                </p:cTn>
                              </p:par>
                              <p:par>
                                <p:cTn id="16" presetID="23" presetClass="entr" presetSubtype="16"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p:cTn id="18" dur="350" fill="hold"/>
                                        <p:tgtEl>
                                          <p:spTgt spid="28"/>
                                        </p:tgtEl>
                                        <p:attrNameLst>
                                          <p:attrName>ppt_w</p:attrName>
                                        </p:attrNameLst>
                                      </p:cBhvr>
                                      <p:tavLst>
                                        <p:tav tm="0">
                                          <p:val>
                                            <p:fltVal val="0"/>
                                          </p:val>
                                        </p:tav>
                                        <p:tav tm="100000">
                                          <p:val>
                                            <p:strVal val="#ppt_w"/>
                                          </p:val>
                                        </p:tav>
                                      </p:tavLst>
                                    </p:anim>
                                    <p:anim calcmode="lin" valueType="num">
                                      <p:cBhvr>
                                        <p:cTn id="19" dur="350" fill="hold"/>
                                        <p:tgtEl>
                                          <p:spTgt spid="28"/>
                                        </p:tgtEl>
                                        <p:attrNameLst>
                                          <p:attrName>ppt_h</p:attrName>
                                        </p:attrNameLst>
                                      </p:cBhvr>
                                      <p:tavLst>
                                        <p:tav tm="0">
                                          <p:val>
                                            <p:fltVal val="0"/>
                                          </p:val>
                                        </p:tav>
                                        <p:tav tm="100000">
                                          <p:val>
                                            <p:strVal val="#ppt_h"/>
                                          </p:val>
                                        </p:tav>
                                      </p:tavLst>
                                    </p:anim>
                                  </p:childTnLst>
                                </p:cTn>
                              </p:par>
                              <p:par>
                                <p:cTn id="20" presetID="23" presetClass="entr" presetSubtype="16"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p:cTn id="22" dur="350" fill="hold"/>
                                        <p:tgtEl>
                                          <p:spTgt spid="29"/>
                                        </p:tgtEl>
                                        <p:attrNameLst>
                                          <p:attrName>ppt_w</p:attrName>
                                        </p:attrNameLst>
                                      </p:cBhvr>
                                      <p:tavLst>
                                        <p:tav tm="0">
                                          <p:val>
                                            <p:fltVal val="0"/>
                                          </p:val>
                                        </p:tav>
                                        <p:tav tm="100000">
                                          <p:val>
                                            <p:strVal val="#ppt_w"/>
                                          </p:val>
                                        </p:tav>
                                      </p:tavLst>
                                    </p:anim>
                                    <p:anim calcmode="lin" valueType="num">
                                      <p:cBhvr>
                                        <p:cTn id="23" dur="350" fill="hold"/>
                                        <p:tgtEl>
                                          <p:spTgt spid="29"/>
                                        </p:tgtEl>
                                        <p:attrNameLst>
                                          <p:attrName>ppt_h</p:attrName>
                                        </p:attrNameLst>
                                      </p:cBhvr>
                                      <p:tavLst>
                                        <p:tav tm="0">
                                          <p:val>
                                            <p:fltVal val="0"/>
                                          </p:val>
                                        </p:tav>
                                        <p:tav tm="100000">
                                          <p:val>
                                            <p:strVal val="#ppt_h"/>
                                          </p:val>
                                        </p:tav>
                                      </p:tavLst>
                                    </p:anim>
                                  </p:childTnLst>
                                </p:cTn>
                              </p:par>
                              <p:par>
                                <p:cTn id="24" presetID="23" presetClass="entr" presetSubtype="16"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 calcmode="lin" valueType="num">
                                      <p:cBhvr>
                                        <p:cTn id="26" dur="350" fill="hold"/>
                                        <p:tgtEl>
                                          <p:spTgt spid="30"/>
                                        </p:tgtEl>
                                        <p:attrNameLst>
                                          <p:attrName>ppt_w</p:attrName>
                                        </p:attrNameLst>
                                      </p:cBhvr>
                                      <p:tavLst>
                                        <p:tav tm="0">
                                          <p:val>
                                            <p:fltVal val="0"/>
                                          </p:val>
                                        </p:tav>
                                        <p:tav tm="100000">
                                          <p:val>
                                            <p:strVal val="#ppt_w"/>
                                          </p:val>
                                        </p:tav>
                                      </p:tavLst>
                                    </p:anim>
                                    <p:anim calcmode="lin" valueType="num">
                                      <p:cBhvr>
                                        <p:cTn id="27" dur="350" fill="hold"/>
                                        <p:tgtEl>
                                          <p:spTgt spid="30"/>
                                        </p:tgtEl>
                                        <p:attrNameLst>
                                          <p:attrName>ppt_h</p:attrName>
                                        </p:attrNameLst>
                                      </p:cBhvr>
                                      <p:tavLst>
                                        <p:tav tm="0">
                                          <p:val>
                                            <p:fltVal val="0"/>
                                          </p:val>
                                        </p:tav>
                                        <p:tav tm="100000">
                                          <p:val>
                                            <p:strVal val="#ppt_h"/>
                                          </p:val>
                                        </p:tav>
                                      </p:tavLst>
                                    </p:anim>
                                  </p:childTnLst>
                                </p:cTn>
                              </p:par>
                              <p:par>
                                <p:cTn id="28" presetID="23" presetClass="entr" presetSubtype="16"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 calcmode="lin" valueType="num">
                                      <p:cBhvr>
                                        <p:cTn id="30" dur="350" fill="hold"/>
                                        <p:tgtEl>
                                          <p:spTgt spid="31"/>
                                        </p:tgtEl>
                                        <p:attrNameLst>
                                          <p:attrName>ppt_w</p:attrName>
                                        </p:attrNameLst>
                                      </p:cBhvr>
                                      <p:tavLst>
                                        <p:tav tm="0">
                                          <p:val>
                                            <p:fltVal val="0"/>
                                          </p:val>
                                        </p:tav>
                                        <p:tav tm="100000">
                                          <p:val>
                                            <p:strVal val="#ppt_w"/>
                                          </p:val>
                                        </p:tav>
                                      </p:tavLst>
                                    </p:anim>
                                    <p:anim calcmode="lin" valueType="num">
                                      <p:cBhvr>
                                        <p:cTn id="31" dur="350" fill="hold"/>
                                        <p:tgtEl>
                                          <p:spTgt spid="31"/>
                                        </p:tgtEl>
                                        <p:attrNameLst>
                                          <p:attrName>ppt_h</p:attrName>
                                        </p:attrNameLst>
                                      </p:cBhvr>
                                      <p:tavLst>
                                        <p:tav tm="0">
                                          <p:val>
                                            <p:fltVal val="0"/>
                                          </p:val>
                                        </p:tav>
                                        <p:tav tm="100000">
                                          <p:val>
                                            <p:strVal val="#ppt_h"/>
                                          </p:val>
                                        </p:tav>
                                      </p:tavLst>
                                    </p:anim>
                                  </p:childTnLst>
                                </p:cTn>
                              </p:par>
                            </p:childTnLst>
                          </p:cTn>
                        </p:par>
                        <p:par>
                          <p:cTn id="32" fill="hold">
                            <p:stCondLst>
                              <p:cond delay="450"/>
                            </p:stCondLst>
                            <p:childTnLst>
                              <p:par>
                                <p:cTn id="33" presetID="10" presetClass="exit" presetSubtype="0" fill="hold" grpId="1" nodeType="afterEffect">
                                  <p:stCondLst>
                                    <p:cond delay="0"/>
                                  </p:stCondLst>
                                  <p:childTnLst>
                                    <p:animEffect transition="out" filter="fade">
                                      <p:cBhvr>
                                        <p:cTn id="34" dur="600"/>
                                        <p:tgtEl>
                                          <p:spTgt spid="26"/>
                                        </p:tgtEl>
                                      </p:cBhvr>
                                    </p:animEffect>
                                    <p:set>
                                      <p:cBhvr>
                                        <p:cTn id="35" dur="1" fill="hold">
                                          <p:stCondLst>
                                            <p:cond delay="599"/>
                                          </p:stCondLst>
                                        </p:cTn>
                                        <p:tgtEl>
                                          <p:spTgt spid="26"/>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600"/>
                                        <p:tgtEl>
                                          <p:spTgt spid="27"/>
                                        </p:tgtEl>
                                      </p:cBhvr>
                                    </p:animEffect>
                                    <p:set>
                                      <p:cBhvr>
                                        <p:cTn id="38" dur="1" fill="hold">
                                          <p:stCondLst>
                                            <p:cond delay="599"/>
                                          </p:stCondLst>
                                        </p:cTn>
                                        <p:tgtEl>
                                          <p:spTgt spid="27"/>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600"/>
                                        <p:tgtEl>
                                          <p:spTgt spid="28"/>
                                        </p:tgtEl>
                                      </p:cBhvr>
                                    </p:animEffect>
                                    <p:set>
                                      <p:cBhvr>
                                        <p:cTn id="41" dur="1" fill="hold">
                                          <p:stCondLst>
                                            <p:cond delay="599"/>
                                          </p:stCondLst>
                                        </p:cTn>
                                        <p:tgtEl>
                                          <p:spTgt spid="28"/>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600"/>
                                        <p:tgtEl>
                                          <p:spTgt spid="29"/>
                                        </p:tgtEl>
                                      </p:cBhvr>
                                    </p:animEffect>
                                    <p:set>
                                      <p:cBhvr>
                                        <p:cTn id="44" dur="1" fill="hold">
                                          <p:stCondLst>
                                            <p:cond delay="599"/>
                                          </p:stCondLst>
                                        </p:cTn>
                                        <p:tgtEl>
                                          <p:spTgt spid="29"/>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600"/>
                                        <p:tgtEl>
                                          <p:spTgt spid="30"/>
                                        </p:tgtEl>
                                      </p:cBhvr>
                                    </p:animEffect>
                                    <p:set>
                                      <p:cBhvr>
                                        <p:cTn id="47" dur="1" fill="hold">
                                          <p:stCondLst>
                                            <p:cond delay="599"/>
                                          </p:stCondLst>
                                        </p:cTn>
                                        <p:tgtEl>
                                          <p:spTgt spid="30"/>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600"/>
                                        <p:tgtEl>
                                          <p:spTgt spid="31"/>
                                        </p:tgtEl>
                                      </p:cBhvr>
                                    </p:animEffect>
                                    <p:set>
                                      <p:cBhvr>
                                        <p:cTn id="50" dur="1" fill="hold">
                                          <p:stCondLst>
                                            <p:cond delay="599"/>
                                          </p:stCondLst>
                                        </p:cTn>
                                        <p:tgtEl>
                                          <p:spTgt spid="31"/>
                                        </p:tgtEl>
                                        <p:attrNameLst>
                                          <p:attrName>style.visibility</p:attrName>
                                        </p:attrNameLst>
                                      </p:cBhvr>
                                      <p:to>
                                        <p:strVal val="hidden"/>
                                      </p:to>
                                    </p:set>
                                  </p:childTnLst>
                                </p:cTn>
                              </p:par>
                            </p:childTnLst>
                          </p:cTn>
                        </p:par>
                        <p:par>
                          <p:cTn id="51" fill="hold">
                            <p:stCondLst>
                              <p:cond delay="1050"/>
                            </p:stCondLst>
                            <p:childTnLst>
                              <p:par>
                                <p:cTn id="52" presetID="23" presetClass="entr" presetSubtype="16" fill="hold" grpId="2" nodeType="after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p:cTn id="54" dur="350" fill="hold"/>
                                        <p:tgtEl>
                                          <p:spTgt spid="26"/>
                                        </p:tgtEl>
                                        <p:attrNameLst>
                                          <p:attrName>ppt_w</p:attrName>
                                        </p:attrNameLst>
                                      </p:cBhvr>
                                      <p:tavLst>
                                        <p:tav tm="0">
                                          <p:val>
                                            <p:fltVal val="0"/>
                                          </p:val>
                                        </p:tav>
                                        <p:tav tm="100000">
                                          <p:val>
                                            <p:strVal val="#ppt_w"/>
                                          </p:val>
                                        </p:tav>
                                      </p:tavLst>
                                    </p:anim>
                                    <p:anim calcmode="lin" valueType="num">
                                      <p:cBhvr>
                                        <p:cTn id="55" dur="350" fill="hold"/>
                                        <p:tgtEl>
                                          <p:spTgt spid="26"/>
                                        </p:tgtEl>
                                        <p:attrNameLst>
                                          <p:attrName>ppt_h</p:attrName>
                                        </p:attrNameLst>
                                      </p:cBhvr>
                                      <p:tavLst>
                                        <p:tav tm="0">
                                          <p:val>
                                            <p:fltVal val="0"/>
                                          </p:val>
                                        </p:tav>
                                        <p:tav tm="100000">
                                          <p:val>
                                            <p:strVal val="#ppt_h"/>
                                          </p:val>
                                        </p:tav>
                                      </p:tavLst>
                                    </p:anim>
                                  </p:childTnLst>
                                </p:cTn>
                              </p:par>
                              <p:par>
                                <p:cTn id="56" presetID="23" presetClass="entr" presetSubtype="16" fill="hold" grpId="2" nodeType="with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p:cTn id="58" dur="350" fill="hold"/>
                                        <p:tgtEl>
                                          <p:spTgt spid="27"/>
                                        </p:tgtEl>
                                        <p:attrNameLst>
                                          <p:attrName>ppt_w</p:attrName>
                                        </p:attrNameLst>
                                      </p:cBhvr>
                                      <p:tavLst>
                                        <p:tav tm="0">
                                          <p:val>
                                            <p:fltVal val="0"/>
                                          </p:val>
                                        </p:tav>
                                        <p:tav tm="100000">
                                          <p:val>
                                            <p:strVal val="#ppt_w"/>
                                          </p:val>
                                        </p:tav>
                                      </p:tavLst>
                                    </p:anim>
                                    <p:anim calcmode="lin" valueType="num">
                                      <p:cBhvr>
                                        <p:cTn id="59" dur="350" fill="hold"/>
                                        <p:tgtEl>
                                          <p:spTgt spid="27"/>
                                        </p:tgtEl>
                                        <p:attrNameLst>
                                          <p:attrName>ppt_h</p:attrName>
                                        </p:attrNameLst>
                                      </p:cBhvr>
                                      <p:tavLst>
                                        <p:tav tm="0">
                                          <p:val>
                                            <p:fltVal val="0"/>
                                          </p:val>
                                        </p:tav>
                                        <p:tav tm="100000">
                                          <p:val>
                                            <p:strVal val="#ppt_h"/>
                                          </p:val>
                                        </p:tav>
                                      </p:tavLst>
                                    </p:anim>
                                  </p:childTnLst>
                                </p:cTn>
                              </p:par>
                              <p:par>
                                <p:cTn id="60" presetID="23" presetClass="entr" presetSubtype="16" fill="hold" grpId="2" nodeType="withEffect">
                                  <p:stCondLst>
                                    <p:cond delay="0"/>
                                  </p:stCondLst>
                                  <p:childTnLst>
                                    <p:set>
                                      <p:cBhvr>
                                        <p:cTn id="61" dur="1" fill="hold">
                                          <p:stCondLst>
                                            <p:cond delay="0"/>
                                          </p:stCondLst>
                                        </p:cTn>
                                        <p:tgtEl>
                                          <p:spTgt spid="28"/>
                                        </p:tgtEl>
                                        <p:attrNameLst>
                                          <p:attrName>style.visibility</p:attrName>
                                        </p:attrNameLst>
                                      </p:cBhvr>
                                      <p:to>
                                        <p:strVal val="visible"/>
                                      </p:to>
                                    </p:set>
                                    <p:anim calcmode="lin" valueType="num">
                                      <p:cBhvr>
                                        <p:cTn id="62" dur="350" fill="hold"/>
                                        <p:tgtEl>
                                          <p:spTgt spid="28"/>
                                        </p:tgtEl>
                                        <p:attrNameLst>
                                          <p:attrName>ppt_w</p:attrName>
                                        </p:attrNameLst>
                                      </p:cBhvr>
                                      <p:tavLst>
                                        <p:tav tm="0">
                                          <p:val>
                                            <p:fltVal val="0"/>
                                          </p:val>
                                        </p:tav>
                                        <p:tav tm="100000">
                                          <p:val>
                                            <p:strVal val="#ppt_w"/>
                                          </p:val>
                                        </p:tav>
                                      </p:tavLst>
                                    </p:anim>
                                    <p:anim calcmode="lin" valueType="num">
                                      <p:cBhvr>
                                        <p:cTn id="63" dur="350" fill="hold"/>
                                        <p:tgtEl>
                                          <p:spTgt spid="28"/>
                                        </p:tgtEl>
                                        <p:attrNameLst>
                                          <p:attrName>ppt_h</p:attrName>
                                        </p:attrNameLst>
                                      </p:cBhvr>
                                      <p:tavLst>
                                        <p:tav tm="0">
                                          <p:val>
                                            <p:fltVal val="0"/>
                                          </p:val>
                                        </p:tav>
                                        <p:tav tm="100000">
                                          <p:val>
                                            <p:strVal val="#ppt_h"/>
                                          </p:val>
                                        </p:tav>
                                      </p:tavLst>
                                    </p:anim>
                                  </p:childTnLst>
                                </p:cTn>
                              </p:par>
                              <p:par>
                                <p:cTn id="64" presetID="23" presetClass="entr" presetSubtype="16" fill="hold" grpId="2" nodeType="withEffect">
                                  <p:stCondLst>
                                    <p:cond delay="0"/>
                                  </p:stCondLst>
                                  <p:childTnLst>
                                    <p:set>
                                      <p:cBhvr>
                                        <p:cTn id="65" dur="1" fill="hold">
                                          <p:stCondLst>
                                            <p:cond delay="0"/>
                                          </p:stCondLst>
                                        </p:cTn>
                                        <p:tgtEl>
                                          <p:spTgt spid="29"/>
                                        </p:tgtEl>
                                        <p:attrNameLst>
                                          <p:attrName>style.visibility</p:attrName>
                                        </p:attrNameLst>
                                      </p:cBhvr>
                                      <p:to>
                                        <p:strVal val="visible"/>
                                      </p:to>
                                    </p:set>
                                    <p:anim calcmode="lin" valueType="num">
                                      <p:cBhvr>
                                        <p:cTn id="66" dur="350" fill="hold"/>
                                        <p:tgtEl>
                                          <p:spTgt spid="29"/>
                                        </p:tgtEl>
                                        <p:attrNameLst>
                                          <p:attrName>ppt_w</p:attrName>
                                        </p:attrNameLst>
                                      </p:cBhvr>
                                      <p:tavLst>
                                        <p:tav tm="0">
                                          <p:val>
                                            <p:fltVal val="0"/>
                                          </p:val>
                                        </p:tav>
                                        <p:tav tm="100000">
                                          <p:val>
                                            <p:strVal val="#ppt_w"/>
                                          </p:val>
                                        </p:tav>
                                      </p:tavLst>
                                    </p:anim>
                                    <p:anim calcmode="lin" valueType="num">
                                      <p:cBhvr>
                                        <p:cTn id="67" dur="350" fill="hold"/>
                                        <p:tgtEl>
                                          <p:spTgt spid="29"/>
                                        </p:tgtEl>
                                        <p:attrNameLst>
                                          <p:attrName>ppt_h</p:attrName>
                                        </p:attrNameLst>
                                      </p:cBhvr>
                                      <p:tavLst>
                                        <p:tav tm="0">
                                          <p:val>
                                            <p:fltVal val="0"/>
                                          </p:val>
                                        </p:tav>
                                        <p:tav tm="100000">
                                          <p:val>
                                            <p:strVal val="#ppt_h"/>
                                          </p:val>
                                        </p:tav>
                                      </p:tavLst>
                                    </p:anim>
                                  </p:childTnLst>
                                </p:cTn>
                              </p:par>
                              <p:par>
                                <p:cTn id="68" presetID="23" presetClass="entr" presetSubtype="16" fill="hold" grpId="2" nodeType="withEffect">
                                  <p:stCondLst>
                                    <p:cond delay="0"/>
                                  </p:stCondLst>
                                  <p:childTnLst>
                                    <p:set>
                                      <p:cBhvr>
                                        <p:cTn id="69" dur="1" fill="hold">
                                          <p:stCondLst>
                                            <p:cond delay="0"/>
                                          </p:stCondLst>
                                        </p:cTn>
                                        <p:tgtEl>
                                          <p:spTgt spid="30"/>
                                        </p:tgtEl>
                                        <p:attrNameLst>
                                          <p:attrName>style.visibility</p:attrName>
                                        </p:attrNameLst>
                                      </p:cBhvr>
                                      <p:to>
                                        <p:strVal val="visible"/>
                                      </p:to>
                                    </p:set>
                                    <p:anim calcmode="lin" valueType="num">
                                      <p:cBhvr>
                                        <p:cTn id="70" dur="350" fill="hold"/>
                                        <p:tgtEl>
                                          <p:spTgt spid="30"/>
                                        </p:tgtEl>
                                        <p:attrNameLst>
                                          <p:attrName>ppt_w</p:attrName>
                                        </p:attrNameLst>
                                      </p:cBhvr>
                                      <p:tavLst>
                                        <p:tav tm="0">
                                          <p:val>
                                            <p:fltVal val="0"/>
                                          </p:val>
                                        </p:tav>
                                        <p:tav tm="100000">
                                          <p:val>
                                            <p:strVal val="#ppt_w"/>
                                          </p:val>
                                        </p:tav>
                                      </p:tavLst>
                                    </p:anim>
                                    <p:anim calcmode="lin" valueType="num">
                                      <p:cBhvr>
                                        <p:cTn id="71" dur="350" fill="hold"/>
                                        <p:tgtEl>
                                          <p:spTgt spid="30"/>
                                        </p:tgtEl>
                                        <p:attrNameLst>
                                          <p:attrName>ppt_h</p:attrName>
                                        </p:attrNameLst>
                                      </p:cBhvr>
                                      <p:tavLst>
                                        <p:tav tm="0">
                                          <p:val>
                                            <p:fltVal val="0"/>
                                          </p:val>
                                        </p:tav>
                                        <p:tav tm="100000">
                                          <p:val>
                                            <p:strVal val="#ppt_h"/>
                                          </p:val>
                                        </p:tav>
                                      </p:tavLst>
                                    </p:anim>
                                  </p:childTnLst>
                                </p:cTn>
                              </p:par>
                              <p:par>
                                <p:cTn id="72" presetID="23" presetClass="entr" presetSubtype="16" fill="hold" grpId="2" nodeType="withEffect">
                                  <p:stCondLst>
                                    <p:cond delay="0"/>
                                  </p:stCondLst>
                                  <p:childTnLst>
                                    <p:set>
                                      <p:cBhvr>
                                        <p:cTn id="73" dur="1" fill="hold">
                                          <p:stCondLst>
                                            <p:cond delay="0"/>
                                          </p:stCondLst>
                                        </p:cTn>
                                        <p:tgtEl>
                                          <p:spTgt spid="31"/>
                                        </p:tgtEl>
                                        <p:attrNameLst>
                                          <p:attrName>style.visibility</p:attrName>
                                        </p:attrNameLst>
                                      </p:cBhvr>
                                      <p:to>
                                        <p:strVal val="visible"/>
                                      </p:to>
                                    </p:set>
                                    <p:anim calcmode="lin" valueType="num">
                                      <p:cBhvr>
                                        <p:cTn id="74" dur="350" fill="hold"/>
                                        <p:tgtEl>
                                          <p:spTgt spid="31"/>
                                        </p:tgtEl>
                                        <p:attrNameLst>
                                          <p:attrName>ppt_w</p:attrName>
                                        </p:attrNameLst>
                                      </p:cBhvr>
                                      <p:tavLst>
                                        <p:tav tm="0">
                                          <p:val>
                                            <p:fltVal val="0"/>
                                          </p:val>
                                        </p:tav>
                                        <p:tav tm="100000">
                                          <p:val>
                                            <p:strVal val="#ppt_w"/>
                                          </p:val>
                                        </p:tav>
                                      </p:tavLst>
                                    </p:anim>
                                    <p:anim calcmode="lin" valueType="num">
                                      <p:cBhvr>
                                        <p:cTn id="75" dur="350" fill="hold"/>
                                        <p:tgtEl>
                                          <p:spTgt spid="31"/>
                                        </p:tgtEl>
                                        <p:attrNameLst>
                                          <p:attrName>ppt_h</p:attrName>
                                        </p:attrNameLst>
                                      </p:cBhvr>
                                      <p:tavLst>
                                        <p:tav tm="0">
                                          <p:val>
                                            <p:fltVal val="0"/>
                                          </p:val>
                                        </p:tav>
                                        <p:tav tm="100000">
                                          <p:val>
                                            <p:strVal val="#ppt_h"/>
                                          </p:val>
                                        </p:tav>
                                      </p:tavLst>
                                    </p:anim>
                                  </p:childTnLst>
                                </p:cTn>
                              </p:par>
                            </p:childTnLst>
                          </p:cTn>
                        </p:par>
                        <p:par>
                          <p:cTn id="76" fill="hold">
                            <p:stCondLst>
                              <p:cond delay="1400"/>
                            </p:stCondLst>
                            <p:childTnLst>
                              <p:par>
                                <p:cTn id="77" presetID="10" presetClass="exit" presetSubtype="0" fill="hold" grpId="3" nodeType="afterEffect">
                                  <p:stCondLst>
                                    <p:cond delay="0"/>
                                  </p:stCondLst>
                                  <p:childTnLst>
                                    <p:animEffect transition="out" filter="fade">
                                      <p:cBhvr>
                                        <p:cTn id="78" dur="600"/>
                                        <p:tgtEl>
                                          <p:spTgt spid="26"/>
                                        </p:tgtEl>
                                      </p:cBhvr>
                                    </p:animEffect>
                                    <p:set>
                                      <p:cBhvr>
                                        <p:cTn id="79" dur="1" fill="hold">
                                          <p:stCondLst>
                                            <p:cond delay="599"/>
                                          </p:stCondLst>
                                        </p:cTn>
                                        <p:tgtEl>
                                          <p:spTgt spid="26"/>
                                        </p:tgtEl>
                                        <p:attrNameLst>
                                          <p:attrName>style.visibility</p:attrName>
                                        </p:attrNameLst>
                                      </p:cBhvr>
                                      <p:to>
                                        <p:strVal val="hidden"/>
                                      </p:to>
                                    </p:set>
                                  </p:childTnLst>
                                </p:cTn>
                              </p:par>
                              <p:par>
                                <p:cTn id="80" presetID="10" presetClass="exit" presetSubtype="0" fill="hold" grpId="3" nodeType="withEffect">
                                  <p:stCondLst>
                                    <p:cond delay="0"/>
                                  </p:stCondLst>
                                  <p:childTnLst>
                                    <p:animEffect transition="out" filter="fade">
                                      <p:cBhvr>
                                        <p:cTn id="81" dur="600"/>
                                        <p:tgtEl>
                                          <p:spTgt spid="27"/>
                                        </p:tgtEl>
                                      </p:cBhvr>
                                    </p:animEffect>
                                    <p:set>
                                      <p:cBhvr>
                                        <p:cTn id="82" dur="1" fill="hold">
                                          <p:stCondLst>
                                            <p:cond delay="599"/>
                                          </p:stCondLst>
                                        </p:cTn>
                                        <p:tgtEl>
                                          <p:spTgt spid="27"/>
                                        </p:tgtEl>
                                        <p:attrNameLst>
                                          <p:attrName>style.visibility</p:attrName>
                                        </p:attrNameLst>
                                      </p:cBhvr>
                                      <p:to>
                                        <p:strVal val="hidden"/>
                                      </p:to>
                                    </p:set>
                                  </p:childTnLst>
                                </p:cTn>
                              </p:par>
                              <p:par>
                                <p:cTn id="83" presetID="10" presetClass="exit" presetSubtype="0" fill="hold" grpId="3" nodeType="withEffect">
                                  <p:stCondLst>
                                    <p:cond delay="0"/>
                                  </p:stCondLst>
                                  <p:childTnLst>
                                    <p:animEffect transition="out" filter="fade">
                                      <p:cBhvr>
                                        <p:cTn id="84" dur="600"/>
                                        <p:tgtEl>
                                          <p:spTgt spid="28"/>
                                        </p:tgtEl>
                                      </p:cBhvr>
                                    </p:animEffect>
                                    <p:set>
                                      <p:cBhvr>
                                        <p:cTn id="85" dur="1" fill="hold">
                                          <p:stCondLst>
                                            <p:cond delay="599"/>
                                          </p:stCondLst>
                                        </p:cTn>
                                        <p:tgtEl>
                                          <p:spTgt spid="28"/>
                                        </p:tgtEl>
                                        <p:attrNameLst>
                                          <p:attrName>style.visibility</p:attrName>
                                        </p:attrNameLst>
                                      </p:cBhvr>
                                      <p:to>
                                        <p:strVal val="hidden"/>
                                      </p:to>
                                    </p:set>
                                  </p:childTnLst>
                                </p:cTn>
                              </p:par>
                              <p:par>
                                <p:cTn id="86" presetID="10" presetClass="exit" presetSubtype="0" fill="hold" grpId="3" nodeType="withEffect">
                                  <p:stCondLst>
                                    <p:cond delay="0"/>
                                  </p:stCondLst>
                                  <p:childTnLst>
                                    <p:animEffect transition="out" filter="fade">
                                      <p:cBhvr>
                                        <p:cTn id="87" dur="600"/>
                                        <p:tgtEl>
                                          <p:spTgt spid="29"/>
                                        </p:tgtEl>
                                      </p:cBhvr>
                                    </p:animEffect>
                                    <p:set>
                                      <p:cBhvr>
                                        <p:cTn id="88" dur="1" fill="hold">
                                          <p:stCondLst>
                                            <p:cond delay="599"/>
                                          </p:stCondLst>
                                        </p:cTn>
                                        <p:tgtEl>
                                          <p:spTgt spid="29"/>
                                        </p:tgtEl>
                                        <p:attrNameLst>
                                          <p:attrName>style.visibility</p:attrName>
                                        </p:attrNameLst>
                                      </p:cBhvr>
                                      <p:to>
                                        <p:strVal val="hidden"/>
                                      </p:to>
                                    </p:set>
                                  </p:childTnLst>
                                </p:cTn>
                              </p:par>
                              <p:par>
                                <p:cTn id="89" presetID="10" presetClass="exit" presetSubtype="0" fill="hold" grpId="3" nodeType="withEffect">
                                  <p:stCondLst>
                                    <p:cond delay="0"/>
                                  </p:stCondLst>
                                  <p:childTnLst>
                                    <p:animEffect transition="out" filter="fade">
                                      <p:cBhvr>
                                        <p:cTn id="90" dur="600"/>
                                        <p:tgtEl>
                                          <p:spTgt spid="30"/>
                                        </p:tgtEl>
                                      </p:cBhvr>
                                    </p:animEffect>
                                    <p:set>
                                      <p:cBhvr>
                                        <p:cTn id="91" dur="1" fill="hold">
                                          <p:stCondLst>
                                            <p:cond delay="599"/>
                                          </p:stCondLst>
                                        </p:cTn>
                                        <p:tgtEl>
                                          <p:spTgt spid="30"/>
                                        </p:tgtEl>
                                        <p:attrNameLst>
                                          <p:attrName>style.visibility</p:attrName>
                                        </p:attrNameLst>
                                      </p:cBhvr>
                                      <p:to>
                                        <p:strVal val="hidden"/>
                                      </p:to>
                                    </p:set>
                                  </p:childTnLst>
                                </p:cTn>
                              </p:par>
                              <p:par>
                                <p:cTn id="92" presetID="10" presetClass="exit" presetSubtype="0" fill="hold" grpId="3" nodeType="withEffect">
                                  <p:stCondLst>
                                    <p:cond delay="0"/>
                                  </p:stCondLst>
                                  <p:childTnLst>
                                    <p:animEffect transition="out" filter="fade">
                                      <p:cBhvr>
                                        <p:cTn id="93" dur="600"/>
                                        <p:tgtEl>
                                          <p:spTgt spid="31"/>
                                        </p:tgtEl>
                                      </p:cBhvr>
                                    </p:animEffect>
                                    <p:set>
                                      <p:cBhvr>
                                        <p:cTn id="94" dur="1" fill="hold">
                                          <p:stCondLst>
                                            <p:cond delay="599"/>
                                          </p:stCondLst>
                                        </p:cTn>
                                        <p:tgtEl>
                                          <p:spTgt spid="31"/>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fade">
                                      <p:cBhvr>
                                        <p:cTn id="99" dur="450"/>
                                        <p:tgtEl>
                                          <p:spTgt spid="62"/>
                                        </p:tgtEl>
                                      </p:cBhvr>
                                    </p:animEffect>
                                  </p:childTnLst>
                                </p:cTn>
                              </p:par>
                              <p:par>
                                <p:cTn id="100" presetID="23" presetClass="entr" presetSubtype="16" fill="hold" grpId="0" nodeType="withEffect">
                                  <p:stCondLst>
                                    <p:cond delay="0"/>
                                  </p:stCondLst>
                                  <p:childTnLst>
                                    <p:set>
                                      <p:cBhvr>
                                        <p:cTn id="101" dur="1" fill="hold">
                                          <p:stCondLst>
                                            <p:cond delay="0"/>
                                          </p:stCondLst>
                                        </p:cTn>
                                        <p:tgtEl>
                                          <p:spTgt spid="54"/>
                                        </p:tgtEl>
                                        <p:attrNameLst>
                                          <p:attrName>style.visibility</p:attrName>
                                        </p:attrNameLst>
                                      </p:cBhvr>
                                      <p:to>
                                        <p:strVal val="visible"/>
                                      </p:to>
                                    </p:set>
                                    <p:anim calcmode="lin" valueType="num">
                                      <p:cBhvr>
                                        <p:cTn id="102" dur="400" fill="hold"/>
                                        <p:tgtEl>
                                          <p:spTgt spid="54"/>
                                        </p:tgtEl>
                                        <p:attrNameLst>
                                          <p:attrName>ppt_w</p:attrName>
                                        </p:attrNameLst>
                                      </p:cBhvr>
                                      <p:tavLst>
                                        <p:tav tm="0">
                                          <p:val>
                                            <p:fltVal val="0"/>
                                          </p:val>
                                        </p:tav>
                                        <p:tav tm="100000">
                                          <p:val>
                                            <p:strVal val="#ppt_w"/>
                                          </p:val>
                                        </p:tav>
                                      </p:tavLst>
                                    </p:anim>
                                    <p:anim calcmode="lin" valueType="num">
                                      <p:cBhvr>
                                        <p:cTn id="103" dur="400" fill="hold"/>
                                        <p:tgtEl>
                                          <p:spTgt spid="54"/>
                                        </p:tgtEl>
                                        <p:attrNameLst>
                                          <p:attrName>ppt_h</p:attrName>
                                        </p:attrNameLst>
                                      </p:cBhvr>
                                      <p:tavLst>
                                        <p:tav tm="0">
                                          <p:val>
                                            <p:fltVal val="0"/>
                                          </p:val>
                                        </p:tav>
                                        <p:tav tm="100000">
                                          <p:val>
                                            <p:strVal val="#ppt_h"/>
                                          </p:val>
                                        </p:tav>
                                      </p:tavLst>
                                    </p:anim>
                                  </p:childTnLst>
                                </p:cTn>
                              </p:par>
                            </p:childTnLst>
                          </p:cTn>
                        </p:par>
                        <p:par>
                          <p:cTn id="104" fill="hold">
                            <p:stCondLst>
                              <p:cond delay="450"/>
                            </p:stCondLst>
                            <p:childTnLst>
                              <p:par>
                                <p:cTn id="105" presetID="22" presetClass="entr" presetSubtype="8" fill="hold" nodeType="after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wipe(left)">
                                      <p:cBhvr>
                                        <p:cTn id="107" dur="350"/>
                                        <p:tgtEl>
                                          <p:spTgt spid="32"/>
                                        </p:tgtEl>
                                      </p:cBhvr>
                                    </p:animEffect>
                                  </p:childTnLst>
                                </p:cTn>
                              </p:par>
                            </p:childTnLst>
                          </p:cTn>
                        </p:par>
                        <p:par>
                          <p:cTn id="108" fill="hold">
                            <p:stCondLst>
                              <p:cond delay="800"/>
                            </p:stCondLst>
                            <p:childTnLst>
                              <p:par>
                                <p:cTn id="109" presetID="22" presetClass="entr" presetSubtype="8" fill="hold" nodeType="after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wipe(left)">
                                      <p:cBhvr>
                                        <p:cTn id="111" dur="350"/>
                                        <p:tgtEl>
                                          <p:spTgt spid="33"/>
                                        </p:tgtEl>
                                      </p:cBhvr>
                                    </p:animEffect>
                                  </p:childTnLst>
                                </p:cTn>
                              </p:par>
                            </p:childTnLst>
                          </p:cTn>
                        </p:par>
                        <p:par>
                          <p:cTn id="112" fill="hold">
                            <p:stCondLst>
                              <p:cond delay="1150"/>
                            </p:stCondLst>
                            <p:childTnLst>
                              <p:par>
                                <p:cTn id="113" presetID="22" presetClass="entr" presetSubtype="8" fill="hold" nodeType="afterEffect">
                                  <p:stCondLst>
                                    <p:cond delay="0"/>
                                  </p:stCondLst>
                                  <p:childTnLst>
                                    <p:set>
                                      <p:cBhvr>
                                        <p:cTn id="114" dur="1" fill="hold">
                                          <p:stCondLst>
                                            <p:cond delay="0"/>
                                          </p:stCondLst>
                                        </p:cTn>
                                        <p:tgtEl>
                                          <p:spTgt spid="34"/>
                                        </p:tgtEl>
                                        <p:attrNameLst>
                                          <p:attrName>style.visibility</p:attrName>
                                        </p:attrNameLst>
                                      </p:cBhvr>
                                      <p:to>
                                        <p:strVal val="visible"/>
                                      </p:to>
                                    </p:set>
                                    <p:animEffect transition="in" filter="wipe(left)">
                                      <p:cBhvr>
                                        <p:cTn id="115" dur="350"/>
                                        <p:tgtEl>
                                          <p:spTgt spid="34"/>
                                        </p:tgtEl>
                                      </p:cBhvr>
                                    </p:animEffect>
                                  </p:childTnLst>
                                </p:cTn>
                              </p:par>
                            </p:childTnLst>
                          </p:cTn>
                        </p:par>
                        <p:par>
                          <p:cTn id="116" fill="hold">
                            <p:stCondLst>
                              <p:cond delay="1500"/>
                            </p:stCondLst>
                            <p:childTnLst>
                              <p:par>
                                <p:cTn id="117" presetID="22" presetClass="entr" presetSubtype="8" fill="hold" nodeType="afterEffect">
                                  <p:stCondLst>
                                    <p:cond delay="0"/>
                                  </p:stCondLst>
                                  <p:childTnLst>
                                    <p:set>
                                      <p:cBhvr>
                                        <p:cTn id="118" dur="1" fill="hold">
                                          <p:stCondLst>
                                            <p:cond delay="0"/>
                                          </p:stCondLst>
                                        </p:cTn>
                                        <p:tgtEl>
                                          <p:spTgt spid="35"/>
                                        </p:tgtEl>
                                        <p:attrNameLst>
                                          <p:attrName>style.visibility</p:attrName>
                                        </p:attrNameLst>
                                      </p:cBhvr>
                                      <p:to>
                                        <p:strVal val="visible"/>
                                      </p:to>
                                    </p:set>
                                    <p:animEffect transition="in" filter="wipe(left)">
                                      <p:cBhvr>
                                        <p:cTn id="119" dur="350"/>
                                        <p:tgtEl>
                                          <p:spTgt spid="35"/>
                                        </p:tgtEl>
                                      </p:cBhvr>
                                    </p:animEffect>
                                  </p:childTnLst>
                                </p:cTn>
                              </p:par>
                            </p:childTnLst>
                          </p:cTn>
                        </p:par>
                        <p:par>
                          <p:cTn id="120" fill="hold">
                            <p:stCondLst>
                              <p:cond delay="1850"/>
                            </p:stCondLst>
                            <p:childTnLst>
                              <p:par>
                                <p:cTn id="121" presetID="6" presetClass="emph" presetSubtype="0" autoRev="1" fill="hold" grpId="0" nodeType="afterEffect">
                                  <p:stCondLst>
                                    <p:cond delay="0"/>
                                  </p:stCondLst>
                                  <p:childTnLst>
                                    <p:animScale>
                                      <p:cBhvr>
                                        <p:cTn id="122" dur="300" fill="hold"/>
                                        <p:tgtEl>
                                          <p:spTgt spid="51"/>
                                        </p:tgtEl>
                                      </p:cBhvr>
                                      <p:by x="118000" y="118000"/>
                                    </p:animScale>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66"/>
                                        </p:tgtEl>
                                        <p:attrNameLst>
                                          <p:attrName>style.visibility</p:attrName>
                                        </p:attrNameLst>
                                      </p:cBhvr>
                                      <p:to>
                                        <p:strVal val="visible"/>
                                      </p:to>
                                    </p:set>
                                    <p:animEffect transition="in" filter="fade">
                                      <p:cBhvr>
                                        <p:cTn id="127" dur="450"/>
                                        <p:tgtEl>
                                          <p:spTgt spid="66"/>
                                        </p:tgtEl>
                                      </p:cBhvr>
                                    </p:animEffect>
                                  </p:childTnLst>
                                </p:cTn>
                              </p:par>
                              <p:par>
                                <p:cTn id="128" presetID="23" presetClass="entr" presetSubtype="16" fill="hold" nodeType="withEffect">
                                  <p:stCondLst>
                                    <p:cond delay="0"/>
                                  </p:stCondLst>
                                  <p:childTnLst>
                                    <p:set>
                                      <p:cBhvr>
                                        <p:cTn id="129" dur="1" fill="hold">
                                          <p:stCondLst>
                                            <p:cond delay="0"/>
                                          </p:stCondLst>
                                        </p:cTn>
                                        <p:tgtEl>
                                          <p:spTgt spid="55"/>
                                        </p:tgtEl>
                                        <p:attrNameLst>
                                          <p:attrName>style.visibility</p:attrName>
                                        </p:attrNameLst>
                                      </p:cBhvr>
                                      <p:to>
                                        <p:strVal val="visible"/>
                                      </p:to>
                                    </p:set>
                                    <p:anim calcmode="lin" valueType="num">
                                      <p:cBhvr>
                                        <p:cTn id="130" dur="400" fill="hold"/>
                                        <p:tgtEl>
                                          <p:spTgt spid="55"/>
                                        </p:tgtEl>
                                        <p:attrNameLst>
                                          <p:attrName>ppt_w</p:attrName>
                                        </p:attrNameLst>
                                      </p:cBhvr>
                                      <p:tavLst>
                                        <p:tav tm="0">
                                          <p:val>
                                            <p:fltVal val="0"/>
                                          </p:val>
                                        </p:tav>
                                        <p:tav tm="100000">
                                          <p:val>
                                            <p:strVal val="#ppt_w"/>
                                          </p:val>
                                        </p:tav>
                                      </p:tavLst>
                                    </p:anim>
                                    <p:anim calcmode="lin" valueType="num">
                                      <p:cBhvr>
                                        <p:cTn id="131" dur="400" fill="hold"/>
                                        <p:tgtEl>
                                          <p:spTgt spid="55"/>
                                        </p:tgtEl>
                                        <p:attrNameLst>
                                          <p:attrName>ppt_h</p:attrName>
                                        </p:attrNameLst>
                                      </p:cBhvr>
                                      <p:tavLst>
                                        <p:tav tm="0">
                                          <p:val>
                                            <p:fltVal val="0"/>
                                          </p:val>
                                        </p:tav>
                                        <p:tav tm="100000">
                                          <p:val>
                                            <p:strVal val="#ppt_h"/>
                                          </p:val>
                                        </p:tav>
                                      </p:tavLst>
                                    </p:anim>
                                  </p:childTnLst>
                                </p:cTn>
                              </p:par>
                            </p:childTnLst>
                          </p:cTn>
                        </p:par>
                        <p:par>
                          <p:cTn id="132" fill="hold">
                            <p:stCondLst>
                              <p:cond delay="450"/>
                            </p:stCondLst>
                            <p:childTnLst>
                              <p:par>
                                <p:cTn id="133" presetID="10" presetClass="exit" presetSubtype="0" fill="hold" nodeType="afterEffect">
                                  <p:stCondLst>
                                    <p:cond delay="0"/>
                                  </p:stCondLst>
                                  <p:childTnLst>
                                    <p:animEffect transition="out" filter="fade">
                                      <p:cBhvr>
                                        <p:cTn id="134" dur="350"/>
                                        <p:tgtEl>
                                          <p:spTgt spid="33"/>
                                        </p:tgtEl>
                                      </p:cBhvr>
                                    </p:animEffect>
                                    <p:set>
                                      <p:cBhvr>
                                        <p:cTn id="135" dur="1" fill="hold">
                                          <p:stCondLst>
                                            <p:cond delay="349"/>
                                          </p:stCondLst>
                                        </p:cTn>
                                        <p:tgtEl>
                                          <p:spTgt spid="33"/>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350"/>
                                        <p:tgtEl>
                                          <p:spTgt spid="34"/>
                                        </p:tgtEl>
                                      </p:cBhvr>
                                    </p:animEffect>
                                    <p:set>
                                      <p:cBhvr>
                                        <p:cTn id="138" dur="1" fill="hold">
                                          <p:stCondLst>
                                            <p:cond delay="349"/>
                                          </p:stCondLst>
                                        </p:cTn>
                                        <p:tgtEl>
                                          <p:spTgt spid="34"/>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350"/>
                                        <p:tgtEl>
                                          <p:spTgt spid="35"/>
                                        </p:tgtEl>
                                      </p:cBhvr>
                                    </p:animEffect>
                                    <p:set>
                                      <p:cBhvr>
                                        <p:cTn id="141" dur="1" fill="hold">
                                          <p:stCondLst>
                                            <p:cond delay="349"/>
                                          </p:stCondLst>
                                        </p:cTn>
                                        <p:tgtEl>
                                          <p:spTgt spid="35"/>
                                        </p:tgtEl>
                                        <p:attrNameLst>
                                          <p:attrName>style.visibility</p:attrName>
                                        </p:attrNameLst>
                                      </p:cBhvr>
                                      <p:to>
                                        <p:strVal val="hidden"/>
                                      </p:to>
                                    </p:set>
                                  </p:childTnLst>
                                </p:cTn>
                              </p:par>
                            </p:childTnLst>
                          </p:cTn>
                        </p:par>
                        <p:par>
                          <p:cTn id="142" fill="hold">
                            <p:stCondLst>
                              <p:cond delay="800"/>
                            </p:stCondLst>
                            <p:childTnLst>
                              <p:par>
                                <p:cTn id="143" presetID="22" presetClass="entr" presetSubtype="8" fill="hold" nodeType="afterEffect">
                                  <p:stCondLst>
                                    <p:cond delay="0"/>
                                  </p:stCondLst>
                                  <p:childTnLst>
                                    <p:set>
                                      <p:cBhvr>
                                        <p:cTn id="144" dur="1" fill="hold">
                                          <p:stCondLst>
                                            <p:cond delay="0"/>
                                          </p:stCondLst>
                                        </p:cTn>
                                        <p:tgtEl>
                                          <p:spTgt spid="36"/>
                                        </p:tgtEl>
                                        <p:attrNameLst>
                                          <p:attrName>style.visibility</p:attrName>
                                        </p:attrNameLst>
                                      </p:cBhvr>
                                      <p:to>
                                        <p:strVal val="visible"/>
                                      </p:to>
                                    </p:set>
                                    <p:animEffect transition="in" filter="wipe(left)">
                                      <p:cBhvr>
                                        <p:cTn id="145" dur="350"/>
                                        <p:tgtEl>
                                          <p:spTgt spid="36"/>
                                        </p:tgtEl>
                                      </p:cBhvr>
                                    </p:animEffect>
                                  </p:childTnLst>
                                </p:cTn>
                              </p:par>
                            </p:childTnLst>
                          </p:cTn>
                        </p:par>
                        <p:par>
                          <p:cTn id="146" fill="hold">
                            <p:stCondLst>
                              <p:cond delay="1150"/>
                            </p:stCondLst>
                            <p:childTnLst>
                              <p:par>
                                <p:cTn id="147" presetID="22" presetClass="entr" presetSubtype="8" fill="hold" nodeType="afterEffect">
                                  <p:stCondLst>
                                    <p:cond delay="0"/>
                                  </p:stCondLst>
                                  <p:childTnLst>
                                    <p:set>
                                      <p:cBhvr>
                                        <p:cTn id="148" dur="1" fill="hold">
                                          <p:stCondLst>
                                            <p:cond delay="0"/>
                                          </p:stCondLst>
                                        </p:cTn>
                                        <p:tgtEl>
                                          <p:spTgt spid="37"/>
                                        </p:tgtEl>
                                        <p:attrNameLst>
                                          <p:attrName>style.visibility</p:attrName>
                                        </p:attrNameLst>
                                      </p:cBhvr>
                                      <p:to>
                                        <p:strVal val="visible"/>
                                      </p:to>
                                    </p:set>
                                    <p:animEffect transition="in" filter="wipe(left)">
                                      <p:cBhvr>
                                        <p:cTn id="149" dur="350"/>
                                        <p:tgtEl>
                                          <p:spTgt spid="37"/>
                                        </p:tgtEl>
                                      </p:cBhvr>
                                    </p:animEffect>
                                  </p:childTnLst>
                                </p:cTn>
                              </p:par>
                            </p:childTnLst>
                          </p:cTn>
                        </p:par>
                        <p:par>
                          <p:cTn id="150" fill="hold">
                            <p:stCondLst>
                              <p:cond delay="1500"/>
                            </p:stCondLst>
                            <p:childTnLst>
                              <p:par>
                                <p:cTn id="151" presetID="22" presetClass="entr" presetSubtype="8" fill="hold" nodeType="afterEffect">
                                  <p:stCondLst>
                                    <p:cond delay="0"/>
                                  </p:stCondLst>
                                  <p:childTnLst>
                                    <p:set>
                                      <p:cBhvr>
                                        <p:cTn id="152" dur="1" fill="hold">
                                          <p:stCondLst>
                                            <p:cond delay="0"/>
                                          </p:stCondLst>
                                        </p:cTn>
                                        <p:tgtEl>
                                          <p:spTgt spid="38"/>
                                        </p:tgtEl>
                                        <p:attrNameLst>
                                          <p:attrName>style.visibility</p:attrName>
                                        </p:attrNameLst>
                                      </p:cBhvr>
                                      <p:to>
                                        <p:strVal val="visible"/>
                                      </p:to>
                                    </p:set>
                                    <p:animEffect transition="in" filter="wipe(left)">
                                      <p:cBhvr>
                                        <p:cTn id="153" dur="350"/>
                                        <p:tgtEl>
                                          <p:spTgt spid="38"/>
                                        </p:tgtEl>
                                      </p:cBhvr>
                                    </p:animEffect>
                                  </p:childTnLst>
                                </p:cTn>
                              </p:par>
                            </p:childTnLst>
                          </p:cTn>
                        </p:par>
                        <p:par>
                          <p:cTn id="154" fill="hold">
                            <p:stCondLst>
                              <p:cond delay="1850"/>
                            </p:stCondLst>
                            <p:childTnLst>
                              <p:par>
                                <p:cTn id="155" presetID="22" presetClass="entr" presetSubtype="8" fill="hold" nodeType="afterEffect">
                                  <p:stCondLst>
                                    <p:cond delay="0"/>
                                  </p:stCondLst>
                                  <p:childTnLst>
                                    <p:set>
                                      <p:cBhvr>
                                        <p:cTn id="156" dur="1" fill="hold">
                                          <p:stCondLst>
                                            <p:cond delay="0"/>
                                          </p:stCondLst>
                                        </p:cTn>
                                        <p:tgtEl>
                                          <p:spTgt spid="39"/>
                                        </p:tgtEl>
                                        <p:attrNameLst>
                                          <p:attrName>style.visibility</p:attrName>
                                        </p:attrNameLst>
                                      </p:cBhvr>
                                      <p:to>
                                        <p:strVal val="visible"/>
                                      </p:to>
                                    </p:set>
                                    <p:animEffect transition="in" filter="wipe(left)">
                                      <p:cBhvr>
                                        <p:cTn id="157" dur="350"/>
                                        <p:tgtEl>
                                          <p:spTgt spid="39"/>
                                        </p:tgtEl>
                                      </p:cBhvr>
                                    </p:animEffect>
                                  </p:childTnLst>
                                </p:cTn>
                              </p:par>
                            </p:childTnLst>
                          </p:cTn>
                        </p:par>
                        <p:par>
                          <p:cTn id="158" fill="hold">
                            <p:stCondLst>
                              <p:cond delay="2200"/>
                            </p:stCondLst>
                            <p:childTnLst>
                              <p:par>
                                <p:cTn id="159" presetID="6" presetClass="emph" presetSubtype="0" autoRev="1" fill="hold" grpId="1" nodeType="afterEffect">
                                  <p:stCondLst>
                                    <p:cond delay="0"/>
                                  </p:stCondLst>
                                  <p:childTnLst>
                                    <p:animScale>
                                      <p:cBhvr>
                                        <p:cTn id="160" dur="300" fill="hold"/>
                                        <p:tgtEl>
                                          <p:spTgt spid="51"/>
                                        </p:tgtEl>
                                      </p:cBhvr>
                                      <p:by x="118000" y="11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26" grpId="2" animBg="1"/>
      <p:bldP spid="26" grpId="3" animBg="1"/>
      <p:bldP spid="27" grpId="0" animBg="1"/>
      <p:bldP spid="27" grpId="1" animBg="1"/>
      <p:bldP spid="27" grpId="2" animBg="1"/>
      <p:bldP spid="27" grpId="3" animBg="1"/>
      <p:bldP spid="28" grpId="0" animBg="1"/>
      <p:bldP spid="28" grpId="1" animBg="1"/>
      <p:bldP spid="28" grpId="2" animBg="1"/>
      <p:bldP spid="28" grpId="3" animBg="1"/>
      <p:bldP spid="29" grpId="0" animBg="1"/>
      <p:bldP spid="29" grpId="1" animBg="1"/>
      <p:bldP spid="29" grpId="2" animBg="1"/>
      <p:bldP spid="29" grpId="3" animBg="1"/>
      <p:bldP spid="30" grpId="0" animBg="1"/>
      <p:bldP spid="30" grpId="1" animBg="1"/>
      <p:bldP spid="30" grpId="2" animBg="1"/>
      <p:bldP spid="30" grpId="3" animBg="1"/>
      <p:bldP spid="31" grpId="0" animBg="1"/>
      <p:bldP spid="31" grpId="1" animBg="1"/>
      <p:bldP spid="31" grpId="2" animBg="1"/>
      <p:bldP spid="31" grpId="3" animBg="1"/>
      <p:bldP spid="51" grpId="0" animBg="1"/>
      <p:bldP spid="51" grpId="1" animBg="1"/>
      <p:bldP spid="5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Testbed">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Methodology: a simulated disaster testbed</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A virtual LoRa mesh with no central tower</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Grid card"/>
          <p:cNvSpPr/>
          <p:nvPr/>
        </p:nvSpPr>
        <p:spPr>
          <a:xfrm>
            <a:off x="758952" y="1691640"/>
            <a:ext cx="4846320" cy="4206240"/>
          </a:xfrm>
          <a:prstGeom prst="roundRect">
            <a:avLst>
              <a:gd name="adj" fmla="val 1956"/>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7" name="Radio range"/>
          <p:cNvSpPr/>
          <p:nvPr/>
        </p:nvSpPr>
        <p:spPr>
          <a:xfrm>
            <a:off x="1783080" y="2697480"/>
            <a:ext cx="2468880" cy="2468880"/>
          </a:xfrm>
          <a:prstGeom prst="ellipse">
            <a:avLst/>
          </a:prstGeom>
          <a:solidFill>
            <a:srgbClr val="00A4C8">
              <a:alpha val="8000"/>
            </a:srgbClr>
          </a:solidFill>
          <a:ln w="19050">
            <a:solidFill>
              <a:srgbClr val="00A4C8"/>
            </a:solidFill>
            <a:prstDash val="dash"/>
          </a:ln>
        </p:spPr>
      </p:sp>
      <p:sp>
        <p:nvSpPr>
          <p:cNvPr id="8" name="N10"/>
          <p:cNvSpPr/>
          <p:nvPr/>
        </p:nvSpPr>
        <p:spPr>
          <a:xfrm>
            <a:off x="1655064" y="2569464"/>
            <a:ext cx="91440" cy="91440"/>
          </a:xfrm>
          <a:prstGeom prst="ellipse">
            <a:avLst/>
          </a:prstGeom>
          <a:solidFill>
            <a:srgbClr val="7FA3C4"/>
          </a:solidFill>
          <a:ln>
            <a:noFill/>
          </a:ln>
        </p:spPr>
      </p:sp>
      <p:sp>
        <p:nvSpPr>
          <p:cNvPr id="9" name="N20"/>
          <p:cNvSpPr/>
          <p:nvPr/>
        </p:nvSpPr>
        <p:spPr>
          <a:xfrm>
            <a:off x="1655064" y="2898648"/>
            <a:ext cx="91440" cy="91440"/>
          </a:xfrm>
          <a:prstGeom prst="ellipse">
            <a:avLst/>
          </a:prstGeom>
          <a:solidFill>
            <a:srgbClr val="7FA3C4"/>
          </a:solidFill>
          <a:ln>
            <a:noFill/>
          </a:ln>
        </p:spPr>
      </p:sp>
      <p:sp>
        <p:nvSpPr>
          <p:cNvPr id="10" name="N30"/>
          <p:cNvSpPr/>
          <p:nvPr/>
        </p:nvSpPr>
        <p:spPr>
          <a:xfrm>
            <a:off x="1655064" y="3227832"/>
            <a:ext cx="91440" cy="91440"/>
          </a:xfrm>
          <a:prstGeom prst="ellipse">
            <a:avLst/>
          </a:prstGeom>
          <a:solidFill>
            <a:srgbClr val="7FA3C4"/>
          </a:solidFill>
          <a:ln>
            <a:noFill/>
          </a:ln>
        </p:spPr>
      </p:sp>
      <p:sp>
        <p:nvSpPr>
          <p:cNvPr id="11" name="N40"/>
          <p:cNvSpPr/>
          <p:nvPr/>
        </p:nvSpPr>
        <p:spPr>
          <a:xfrm>
            <a:off x="1655064" y="3557016"/>
            <a:ext cx="91440" cy="91440"/>
          </a:xfrm>
          <a:prstGeom prst="ellipse">
            <a:avLst/>
          </a:prstGeom>
          <a:solidFill>
            <a:srgbClr val="7FA3C4"/>
          </a:solidFill>
          <a:ln>
            <a:noFill/>
          </a:ln>
        </p:spPr>
      </p:sp>
      <p:sp>
        <p:nvSpPr>
          <p:cNvPr id="12" name="N50"/>
          <p:cNvSpPr/>
          <p:nvPr/>
        </p:nvSpPr>
        <p:spPr>
          <a:xfrm>
            <a:off x="1655064" y="3886200"/>
            <a:ext cx="91440" cy="91440"/>
          </a:xfrm>
          <a:prstGeom prst="ellipse">
            <a:avLst/>
          </a:prstGeom>
          <a:solidFill>
            <a:srgbClr val="7FA3C4"/>
          </a:solidFill>
          <a:ln>
            <a:noFill/>
          </a:ln>
        </p:spPr>
      </p:sp>
      <p:sp>
        <p:nvSpPr>
          <p:cNvPr id="13" name="N60"/>
          <p:cNvSpPr/>
          <p:nvPr/>
        </p:nvSpPr>
        <p:spPr>
          <a:xfrm>
            <a:off x="1655064" y="4215384"/>
            <a:ext cx="91440" cy="91440"/>
          </a:xfrm>
          <a:prstGeom prst="ellipse">
            <a:avLst/>
          </a:prstGeom>
          <a:solidFill>
            <a:srgbClr val="7FA3C4"/>
          </a:solidFill>
          <a:ln>
            <a:noFill/>
          </a:ln>
        </p:spPr>
      </p:sp>
      <p:sp>
        <p:nvSpPr>
          <p:cNvPr id="14" name="N70"/>
          <p:cNvSpPr/>
          <p:nvPr/>
        </p:nvSpPr>
        <p:spPr>
          <a:xfrm>
            <a:off x="1655064" y="4544568"/>
            <a:ext cx="91440" cy="91440"/>
          </a:xfrm>
          <a:prstGeom prst="ellipse">
            <a:avLst/>
          </a:prstGeom>
          <a:solidFill>
            <a:srgbClr val="7FA3C4"/>
          </a:solidFill>
          <a:ln>
            <a:noFill/>
          </a:ln>
        </p:spPr>
      </p:sp>
      <p:sp>
        <p:nvSpPr>
          <p:cNvPr id="15" name="N80"/>
          <p:cNvSpPr/>
          <p:nvPr/>
        </p:nvSpPr>
        <p:spPr>
          <a:xfrm>
            <a:off x="1655064" y="4873752"/>
            <a:ext cx="91440" cy="91440"/>
          </a:xfrm>
          <a:prstGeom prst="ellipse">
            <a:avLst/>
          </a:prstGeom>
          <a:solidFill>
            <a:srgbClr val="7FA3C4"/>
          </a:solidFill>
          <a:ln>
            <a:noFill/>
          </a:ln>
        </p:spPr>
      </p:sp>
      <p:sp>
        <p:nvSpPr>
          <p:cNvPr id="16" name="N90"/>
          <p:cNvSpPr/>
          <p:nvPr/>
        </p:nvSpPr>
        <p:spPr>
          <a:xfrm>
            <a:off x="1655064" y="5202936"/>
            <a:ext cx="91440" cy="91440"/>
          </a:xfrm>
          <a:prstGeom prst="ellipse">
            <a:avLst/>
          </a:prstGeom>
          <a:solidFill>
            <a:srgbClr val="7FA3C4"/>
          </a:solidFill>
          <a:ln>
            <a:noFill/>
          </a:ln>
        </p:spPr>
      </p:sp>
      <p:sp>
        <p:nvSpPr>
          <p:cNvPr id="17" name="N01"/>
          <p:cNvSpPr/>
          <p:nvPr/>
        </p:nvSpPr>
        <p:spPr>
          <a:xfrm>
            <a:off x="1984248" y="2240280"/>
            <a:ext cx="91440" cy="91440"/>
          </a:xfrm>
          <a:prstGeom prst="ellipse">
            <a:avLst/>
          </a:prstGeom>
          <a:solidFill>
            <a:srgbClr val="7FA3C4"/>
          </a:solidFill>
          <a:ln>
            <a:noFill/>
          </a:ln>
        </p:spPr>
      </p:sp>
      <p:sp>
        <p:nvSpPr>
          <p:cNvPr id="18" name="N11"/>
          <p:cNvSpPr/>
          <p:nvPr/>
        </p:nvSpPr>
        <p:spPr>
          <a:xfrm>
            <a:off x="1984248" y="2569464"/>
            <a:ext cx="91440" cy="91440"/>
          </a:xfrm>
          <a:prstGeom prst="ellipse">
            <a:avLst/>
          </a:prstGeom>
          <a:solidFill>
            <a:srgbClr val="7FA3C4"/>
          </a:solidFill>
          <a:ln>
            <a:noFill/>
          </a:ln>
        </p:spPr>
      </p:sp>
      <p:sp>
        <p:nvSpPr>
          <p:cNvPr id="19" name="N21"/>
          <p:cNvSpPr/>
          <p:nvPr/>
        </p:nvSpPr>
        <p:spPr>
          <a:xfrm>
            <a:off x="1984248" y="2898648"/>
            <a:ext cx="91440" cy="91440"/>
          </a:xfrm>
          <a:prstGeom prst="ellipse">
            <a:avLst/>
          </a:prstGeom>
          <a:solidFill>
            <a:srgbClr val="7FA3C4"/>
          </a:solidFill>
          <a:ln>
            <a:noFill/>
          </a:ln>
        </p:spPr>
      </p:sp>
      <p:sp>
        <p:nvSpPr>
          <p:cNvPr id="20" name="N31"/>
          <p:cNvSpPr/>
          <p:nvPr/>
        </p:nvSpPr>
        <p:spPr>
          <a:xfrm>
            <a:off x="1984248" y="3227832"/>
            <a:ext cx="91440" cy="91440"/>
          </a:xfrm>
          <a:prstGeom prst="ellipse">
            <a:avLst/>
          </a:prstGeom>
          <a:solidFill>
            <a:srgbClr val="7FA3C4"/>
          </a:solidFill>
          <a:ln>
            <a:noFill/>
          </a:ln>
        </p:spPr>
      </p:sp>
      <p:sp>
        <p:nvSpPr>
          <p:cNvPr id="21" name="N41"/>
          <p:cNvSpPr/>
          <p:nvPr/>
        </p:nvSpPr>
        <p:spPr>
          <a:xfrm>
            <a:off x="1984248" y="3557016"/>
            <a:ext cx="91440" cy="91440"/>
          </a:xfrm>
          <a:prstGeom prst="ellipse">
            <a:avLst/>
          </a:prstGeom>
          <a:solidFill>
            <a:srgbClr val="7FA3C4"/>
          </a:solidFill>
          <a:ln>
            <a:noFill/>
          </a:ln>
        </p:spPr>
      </p:sp>
      <p:sp>
        <p:nvSpPr>
          <p:cNvPr id="22" name="N51"/>
          <p:cNvSpPr/>
          <p:nvPr/>
        </p:nvSpPr>
        <p:spPr>
          <a:xfrm>
            <a:off x="1984248" y="3886200"/>
            <a:ext cx="91440" cy="91440"/>
          </a:xfrm>
          <a:prstGeom prst="ellipse">
            <a:avLst/>
          </a:prstGeom>
          <a:solidFill>
            <a:srgbClr val="7FA3C4"/>
          </a:solidFill>
          <a:ln>
            <a:noFill/>
          </a:ln>
        </p:spPr>
      </p:sp>
      <p:sp>
        <p:nvSpPr>
          <p:cNvPr id="23" name="N61"/>
          <p:cNvSpPr/>
          <p:nvPr/>
        </p:nvSpPr>
        <p:spPr>
          <a:xfrm>
            <a:off x="1984248" y="4215384"/>
            <a:ext cx="91440" cy="91440"/>
          </a:xfrm>
          <a:prstGeom prst="ellipse">
            <a:avLst/>
          </a:prstGeom>
          <a:solidFill>
            <a:srgbClr val="7FA3C4"/>
          </a:solidFill>
          <a:ln>
            <a:noFill/>
          </a:ln>
        </p:spPr>
      </p:sp>
      <p:sp>
        <p:nvSpPr>
          <p:cNvPr id="24" name="N71"/>
          <p:cNvSpPr/>
          <p:nvPr/>
        </p:nvSpPr>
        <p:spPr>
          <a:xfrm>
            <a:off x="1984248" y="4544568"/>
            <a:ext cx="91440" cy="91440"/>
          </a:xfrm>
          <a:prstGeom prst="ellipse">
            <a:avLst/>
          </a:prstGeom>
          <a:solidFill>
            <a:srgbClr val="7FA3C4"/>
          </a:solidFill>
          <a:ln>
            <a:noFill/>
          </a:ln>
        </p:spPr>
      </p:sp>
      <p:sp>
        <p:nvSpPr>
          <p:cNvPr id="25" name="N81"/>
          <p:cNvSpPr/>
          <p:nvPr/>
        </p:nvSpPr>
        <p:spPr>
          <a:xfrm>
            <a:off x="1984248" y="4873752"/>
            <a:ext cx="91440" cy="91440"/>
          </a:xfrm>
          <a:prstGeom prst="ellipse">
            <a:avLst/>
          </a:prstGeom>
          <a:solidFill>
            <a:srgbClr val="7FA3C4"/>
          </a:solidFill>
          <a:ln>
            <a:noFill/>
          </a:ln>
        </p:spPr>
      </p:sp>
      <p:sp>
        <p:nvSpPr>
          <p:cNvPr id="26" name="N91"/>
          <p:cNvSpPr/>
          <p:nvPr/>
        </p:nvSpPr>
        <p:spPr>
          <a:xfrm>
            <a:off x="1984248" y="5202936"/>
            <a:ext cx="91440" cy="91440"/>
          </a:xfrm>
          <a:prstGeom prst="ellipse">
            <a:avLst/>
          </a:prstGeom>
          <a:solidFill>
            <a:srgbClr val="7FA3C4"/>
          </a:solidFill>
          <a:ln>
            <a:noFill/>
          </a:ln>
        </p:spPr>
      </p:sp>
      <p:sp>
        <p:nvSpPr>
          <p:cNvPr id="27" name="N02"/>
          <p:cNvSpPr/>
          <p:nvPr/>
        </p:nvSpPr>
        <p:spPr>
          <a:xfrm>
            <a:off x="2313432" y="2240280"/>
            <a:ext cx="91440" cy="91440"/>
          </a:xfrm>
          <a:prstGeom prst="ellipse">
            <a:avLst/>
          </a:prstGeom>
          <a:solidFill>
            <a:srgbClr val="7FA3C4"/>
          </a:solidFill>
          <a:ln>
            <a:noFill/>
          </a:ln>
        </p:spPr>
      </p:sp>
      <p:sp>
        <p:nvSpPr>
          <p:cNvPr id="28" name="N12"/>
          <p:cNvSpPr/>
          <p:nvPr/>
        </p:nvSpPr>
        <p:spPr>
          <a:xfrm>
            <a:off x="2313432" y="2569464"/>
            <a:ext cx="91440" cy="91440"/>
          </a:xfrm>
          <a:prstGeom prst="ellipse">
            <a:avLst/>
          </a:prstGeom>
          <a:solidFill>
            <a:srgbClr val="7FA3C4"/>
          </a:solidFill>
          <a:ln>
            <a:noFill/>
          </a:ln>
        </p:spPr>
      </p:sp>
      <p:sp>
        <p:nvSpPr>
          <p:cNvPr id="29" name="N22"/>
          <p:cNvSpPr/>
          <p:nvPr/>
        </p:nvSpPr>
        <p:spPr>
          <a:xfrm>
            <a:off x="2313432" y="2898648"/>
            <a:ext cx="91440" cy="91440"/>
          </a:xfrm>
          <a:prstGeom prst="ellipse">
            <a:avLst/>
          </a:prstGeom>
          <a:solidFill>
            <a:srgbClr val="7FA3C4"/>
          </a:solidFill>
          <a:ln>
            <a:noFill/>
          </a:ln>
        </p:spPr>
      </p:sp>
      <p:sp>
        <p:nvSpPr>
          <p:cNvPr id="30" name="N32"/>
          <p:cNvSpPr/>
          <p:nvPr/>
        </p:nvSpPr>
        <p:spPr>
          <a:xfrm>
            <a:off x="2313432" y="3227832"/>
            <a:ext cx="91440" cy="91440"/>
          </a:xfrm>
          <a:prstGeom prst="ellipse">
            <a:avLst/>
          </a:prstGeom>
          <a:solidFill>
            <a:srgbClr val="7FA3C4"/>
          </a:solidFill>
          <a:ln>
            <a:noFill/>
          </a:ln>
        </p:spPr>
      </p:sp>
      <p:sp>
        <p:nvSpPr>
          <p:cNvPr id="31" name="N42"/>
          <p:cNvSpPr/>
          <p:nvPr/>
        </p:nvSpPr>
        <p:spPr>
          <a:xfrm>
            <a:off x="2313432" y="3557016"/>
            <a:ext cx="91440" cy="91440"/>
          </a:xfrm>
          <a:prstGeom prst="ellipse">
            <a:avLst/>
          </a:prstGeom>
          <a:solidFill>
            <a:srgbClr val="7FA3C4"/>
          </a:solidFill>
          <a:ln>
            <a:noFill/>
          </a:ln>
        </p:spPr>
      </p:sp>
      <p:sp>
        <p:nvSpPr>
          <p:cNvPr id="32" name="N52"/>
          <p:cNvSpPr/>
          <p:nvPr/>
        </p:nvSpPr>
        <p:spPr>
          <a:xfrm>
            <a:off x="2313432" y="3886200"/>
            <a:ext cx="91440" cy="91440"/>
          </a:xfrm>
          <a:prstGeom prst="ellipse">
            <a:avLst/>
          </a:prstGeom>
          <a:solidFill>
            <a:srgbClr val="7FA3C4"/>
          </a:solidFill>
          <a:ln>
            <a:noFill/>
          </a:ln>
        </p:spPr>
      </p:sp>
      <p:sp>
        <p:nvSpPr>
          <p:cNvPr id="33" name="N62"/>
          <p:cNvSpPr/>
          <p:nvPr/>
        </p:nvSpPr>
        <p:spPr>
          <a:xfrm>
            <a:off x="2313432" y="4215384"/>
            <a:ext cx="91440" cy="91440"/>
          </a:xfrm>
          <a:prstGeom prst="ellipse">
            <a:avLst/>
          </a:prstGeom>
          <a:solidFill>
            <a:srgbClr val="7FA3C4"/>
          </a:solidFill>
          <a:ln>
            <a:noFill/>
          </a:ln>
        </p:spPr>
      </p:sp>
      <p:sp>
        <p:nvSpPr>
          <p:cNvPr id="34" name="N72"/>
          <p:cNvSpPr/>
          <p:nvPr/>
        </p:nvSpPr>
        <p:spPr>
          <a:xfrm>
            <a:off x="2313432" y="4544568"/>
            <a:ext cx="91440" cy="91440"/>
          </a:xfrm>
          <a:prstGeom prst="ellipse">
            <a:avLst/>
          </a:prstGeom>
          <a:solidFill>
            <a:srgbClr val="7FA3C4"/>
          </a:solidFill>
          <a:ln>
            <a:noFill/>
          </a:ln>
        </p:spPr>
      </p:sp>
      <p:sp>
        <p:nvSpPr>
          <p:cNvPr id="35" name="N82"/>
          <p:cNvSpPr/>
          <p:nvPr/>
        </p:nvSpPr>
        <p:spPr>
          <a:xfrm>
            <a:off x="2313432" y="4873752"/>
            <a:ext cx="91440" cy="91440"/>
          </a:xfrm>
          <a:prstGeom prst="ellipse">
            <a:avLst/>
          </a:prstGeom>
          <a:solidFill>
            <a:srgbClr val="7FA3C4"/>
          </a:solidFill>
          <a:ln>
            <a:noFill/>
          </a:ln>
        </p:spPr>
      </p:sp>
      <p:sp>
        <p:nvSpPr>
          <p:cNvPr id="36" name="N92"/>
          <p:cNvSpPr/>
          <p:nvPr/>
        </p:nvSpPr>
        <p:spPr>
          <a:xfrm>
            <a:off x="2313432" y="5202936"/>
            <a:ext cx="91440" cy="91440"/>
          </a:xfrm>
          <a:prstGeom prst="ellipse">
            <a:avLst/>
          </a:prstGeom>
          <a:solidFill>
            <a:srgbClr val="7FA3C4"/>
          </a:solidFill>
          <a:ln>
            <a:noFill/>
          </a:ln>
        </p:spPr>
      </p:sp>
      <p:sp>
        <p:nvSpPr>
          <p:cNvPr id="37" name="N03"/>
          <p:cNvSpPr/>
          <p:nvPr/>
        </p:nvSpPr>
        <p:spPr>
          <a:xfrm>
            <a:off x="2642616" y="2240280"/>
            <a:ext cx="91440" cy="91440"/>
          </a:xfrm>
          <a:prstGeom prst="ellipse">
            <a:avLst/>
          </a:prstGeom>
          <a:solidFill>
            <a:srgbClr val="7FA3C4"/>
          </a:solidFill>
          <a:ln>
            <a:noFill/>
          </a:ln>
        </p:spPr>
      </p:sp>
      <p:sp>
        <p:nvSpPr>
          <p:cNvPr id="38" name="N13"/>
          <p:cNvSpPr/>
          <p:nvPr/>
        </p:nvSpPr>
        <p:spPr>
          <a:xfrm>
            <a:off x="2642616" y="2569464"/>
            <a:ext cx="91440" cy="91440"/>
          </a:xfrm>
          <a:prstGeom prst="ellipse">
            <a:avLst/>
          </a:prstGeom>
          <a:solidFill>
            <a:srgbClr val="7FA3C4"/>
          </a:solidFill>
          <a:ln>
            <a:noFill/>
          </a:ln>
        </p:spPr>
      </p:sp>
      <p:sp>
        <p:nvSpPr>
          <p:cNvPr id="39" name="N23"/>
          <p:cNvSpPr/>
          <p:nvPr/>
        </p:nvSpPr>
        <p:spPr>
          <a:xfrm>
            <a:off x="2642616" y="2898648"/>
            <a:ext cx="91440" cy="91440"/>
          </a:xfrm>
          <a:prstGeom prst="ellipse">
            <a:avLst/>
          </a:prstGeom>
          <a:solidFill>
            <a:srgbClr val="7FA3C4"/>
          </a:solidFill>
          <a:ln>
            <a:noFill/>
          </a:ln>
        </p:spPr>
      </p:sp>
      <p:sp>
        <p:nvSpPr>
          <p:cNvPr id="40" name="N33"/>
          <p:cNvSpPr/>
          <p:nvPr/>
        </p:nvSpPr>
        <p:spPr>
          <a:xfrm>
            <a:off x="2642616" y="3227832"/>
            <a:ext cx="91440" cy="91440"/>
          </a:xfrm>
          <a:prstGeom prst="ellipse">
            <a:avLst/>
          </a:prstGeom>
          <a:solidFill>
            <a:srgbClr val="7FA3C4"/>
          </a:solidFill>
          <a:ln>
            <a:noFill/>
          </a:ln>
        </p:spPr>
      </p:sp>
      <p:sp>
        <p:nvSpPr>
          <p:cNvPr id="41" name="N43"/>
          <p:cNvSpPr/>
          <p:nvPr/>
        </p:nvSpPr>
        <p:spPr>
          <a:xfrm>
            <a:off x="2642616" y="3557016"/>
            <a:ext cx="91440" cy="91440"/>
          </a:xfrm>
          <a:prstGeom prst="ellipse">
            <a:avLst/>
          </a:prstGeom>
          <a:solidFill>
            <a:srgbClr val="7FA3C4"/>
          </a:solidFill>
          <a:ln>
            <a:noFill/>
          </a:ln>
        </p:spPr>
      </p:sp>
      <p:sp>
        <p:nvSpPr>
          <p:cNvPr id="42" name="N53"/>
          <p:cNvSpPr/>
          <p:nvPr/>
        </p:nvSpPr>
        <p:spPr>
          <a:xfrm>
            <a:off x="2642616" y="3886200"/>
            <a:ext cx="91440" cy="91440"/>
          </a:xfrm>
          <a:prstGeom prst="ellipse">
            <a:avLst/>
          </a:prstGeom>
          <a:solidFill>
            <a:srgbClr val="7FA3C4"/>
          </a:solidFill>
          <a:ln>
            <a:noFill/>
          </a:ln>
        </p:spPr>
      </p:sp>
      <p:sp>
        <p:nvSpPr>
          <p:cNvPr id="43" name="N63"/>
          <p:cNvSpPr/>
          <p:nvPr/>
        </p:nvSpPr>
        <p:spPr>
          <a:xfrm>
            <a:off x="2642616" y="4215384"/>
            <a:ext cx="91440" cy="91440"/>
          </a:xfrm>
          <a:prstGeom prst="ellipse">
            <a:avLst/>
          </a:prstGeom>
          <a:solidFill>
            <a:srgbClr val="7FA3C4"/>
          </a:solidFill>
          <a:ln>
            <a:noFill/>
          </a:ln>
        </p:spPr>
      </p:sp>
      <p:sp>
        <p:nvSpPr>
          <p:cNvPr id="44" name="N73"/>
          <p:cNvSpPr/>
          <p:nvPr/>
        </p:nvSpPr>
        <p:spPr>
          <a:xfrm>
            <a:off x="2642616" y="4544568"/>
            <a:ext cx="91440" cy="91440"/>
          </a:xfrm>
          <a:prstGeom prst="ellipse">
            <a:avLst/>
          </a:prstGeom>
          <a:solidFill>
            <a:srgbClr val="7FA3C4"/>
          </a:solidFill>
          <a:ln>
            <a:noFill/>
          </a:ln>
        </p:spPr>
      </p:sp>
      <p:sp>
        <p:nvSpPr>
          <p:cNvPr id="45" name="N83"/>
          <p:cNvSpPr/>
          <p:nvPr/>
        </p:nvSpPr>
        <p:spPr>
          <a:xfrm>
            <a:off x="2642616" y="4873752"/>
            <a:ext cx="91440" cy="91440"/>
          </a:xfrm>
          <a:prstGeom prst="ellipse">
            <a:avLst/>
          </a:prstGeom>
          <a:solidFill>
            <a:srgbClr val="7FA3C4"/>
          </a:solidFill>
          <a:ln>
            <a:noFill/>
          </a:ln>
        </p:spPr>
      </p:sp>
      <p:sp>
        <p:nvSpPr>
          <p:cNvPr id="46" name="N93"/>
          <p:cNvSpPr/>
          <p:nvPr/>
        </p:nvSpPr>
        <p:spPr>
          <a:xfrm>
            <a:off x="2642616" y="5202936"/>
            <a:ext cx="91440" cy="91440"/>
          </a:xfrm>
          <a:prstGeom prst="ellipse">
            <a:avLst/>
          </a:prstGeom>
          <a:solidFill>
            <a:srgbClr val="7FA3C4"/>
          </a:solidFill>
          <a:ln>
            <a:noFill/>
          </a:ln>
        </p:spPr>
      </p:sp>
      <p:sp>
        <p:nvSpPr>
          <p:cNvPr id="47" name="N04"/>
          <p:cNvSpPr/>
          <p:nvPr/>
        </p:nvSpPr>
        <p:spPr>
          <a:xfrm>
            <a:off x="2971800" y="2240280"/>
            <a:ext cx="91440" cy="91440"/>
          </a:xfrm>
          <a:prstGeom prst="ellipse">
            <a:avLst/>
          </a:prstGeom>
          <a:solidFill>
            <a:srgbClr val="7FA3C4"/>
          </a:solidFill>
          <a:ln>
            <a:noFill/>
          </a:ln>
        </p:spPr>
      </p:sp>
      <p:sp>
        <p:nvSpPr>
          <p:cNvPr id="48" name="N14"/>
          <p:cNvSpPr/>
          <p:nvPr/>
        </p:nvSpPr>
        <p:spPr>
          <a:xfrm>
            <a:off x="2971800" y="2569464"/>
            <a:ext cx="91440" cy="91440"/>
          </a:xfrm>
          <a:prstGeom prst="ellipse">
            <a:avLst/>
          </a:prstGeom>
          <a:solidFill>
            <a:srgbClr val="7FA3C4"/>
          </a:solidFill>
          <a:ln>
            <a:noFill/>
          </a:ln>
        </p:spPr>
      </p:sp>
      <p:sp>
        <p:nvSpPr>
          <p:cNvPr id="49" name="N24"/>
          <p:cNvSpPr/>
          <p:nvPr/>
        </p:nvSpPr>
        <p:spPr>
          <a:xfrm>
            <a:off x="2971800" y="2898648"/>
            <a:ext cx="91440" cy="91440"/>
          </a:xfrm>
          <a:prstGeom prst="ellipse">
            <a:avLst/>
          </a:prstGeom>
          <a:solidFill>
            <a:srgbClr val="7FA3C4"/>
          </a:solidFill>
          <a:ln>
            <a:noFill/>
          </a:ln>
        </p:spPr>
      </p:sp>
      <p:sp>
        <p:nvSpPr>
          <p:cNvPr id="50" name="N34"/>
          <p:cNvSpPr/>
          <p:nvPr/>
        </p:nvSpPr>
        <p:spPr>
          <a:xfrm>
            <a:off x="2971800" y="3227832"/>
            <a:ext cx="91440" cy="91440"/>
          </a:xfrm>
          <a:prstGeom prst="ellipse">
            <a:avLst/>
          </a:prstGeom>
          <a:solidFill>
            <a:srgbClr val="7FA3C4"/>
          </a:solidFill>
          <a:ln>
            <a:noFill/>
          </a:ln>
        </p:spPr>
      </p:sp>
      <p:sp>
        <p:nvSpPr>
          <p:cNvPr id="51" name="N44"/>
          <p:cNvSpPr/>
          <p:nvPr/>
        </p:nvSpPr>
        <p:spPr>
          <a:xfrm>
            <a:off x="2971800" y="3557016"/>
            <a:ext cx="91440" cy="91440"/>
          </a:xfrm>
          <a:prstGeom prst="ellipse">
            <a:avLst/>
          </a:prstGeom>
          <a:solidFill>
            <a:srgbClr val="7FA3C4"/>
          </a:solidFill>
          <a:ln>
            <a:noFill/>
          </a:ln>
        </p:spPr>
      </p:sp>
      <p:sp>
        <p:nvSpPr>
          <p:cNvPr id="52" name="N54"/>
          <p:cNvSpPr/>
          <p:nvPr/>
        </p:nvSpPr>
        <p:spPr>
          <a:xfrm>
            <a:off x="2971800" y="3886200"/>
            <a:ext cx="91440" cy="91440"/>
          </a:xfrm>
          <a:prstGeom prst="ellipse">
            <a:avLst/>
          </a:prstGeom>
          <a:solidFill>
            <a:srgbClr val="7FA3C4"/>
          </a:solidFill>
          <a:ln>
            <a:noFill/>
          </a:ln>
        </p:spPr>
      </p:sp>
      <p:sp>
        <p:nvSpPr>
          <p:cNvPr id="53" name="N64"/>
          <p:cNvSpPr/>
          <p:nvPr/>
        </p:nvSpPr>
        <p:spPr>
          <a:xfrm>
            <a:off x="2971800" y="4215384"/>
            <a:ext cx="91440" cy="91440"/>
          </a:xfrm>
          <a:prstGeom prst="ellipse">
            <a:avLst/>
          </a:prstGeom>
          <a:solidFill>
            <a:srgbClr val="7FA3C4"/>
          </a:solidFill>
          <a:ln>
            <a:noFill/>
          </a:ln>
        </p:spPr>
      </p:sp>
      <p:sp>
        <p:nvSpPr>
          <p:cNvPr id="54" name="N74"/>
          <p:cNvSpPr/>
          <p:nvPr/>
        </p:nvSpPr>
        <p:spPr>
          <a:xfrm>
            <a:off x="2971800" y="4544568"/>
            <a:ext cx="91440" cy="91440"/>
          </a:xfrm>
          <a:prstGeom prst="ellipse">
            <a:avLst/>
          </a:prstGeom>
          <a:solidFill>
            <a:srgbClr val="7FA3C4"/>
          </a:solidFill>
          <a:ln>
            <a:noFill/>
          </a:ln>
        </p:spPr>
      </p:sp>
      <p:sp>
        <p:nvSpPr>
          <p:cNvPr id="55" name="N84"/>
          <p:cNvSpPr/>
          <p:nvPr/>
        </p:nvSpPr>
        <p:spPr>
          <a:xfrm>
            <a:off x="2971800" y="4873752"/>
            <a:ext cx="91440" cy="91440"/>
          </a:xfrm>
          <a:prstGeom prst="ellipse">
            <a:avLst/>
          </a:prstGeom>
          <a:solidFill>
            <a:srgbClr val="7FA3C4"/>
          </a:solidFill>
          <a:ln>
            <a:noFill/>
          </a:ln>
        </p:spPr>
      </p:sp>
      <p:sp>
        <p:nvSpPr>
          <p:cNvPr id="56" name="N94"/>
          <p:cNvSpPr/>
          <p:nvPr/>
        </p:nvSpPr>
        <p:spPr>
          <a:xfrm>
            <a:off x="2971800" y="5202936"/>
            <a:ext cx="91440" cy="91440"/>
          </a:xfrm>
          <a:prstGeom prst="ellipse">
            <a:avLst/>
          </a:prstGeom>
          <a:solidFill>
            <a:srgbClr val="7FA3C4"/>
          </a:solidFill>
          <a:ln>
            <a:noFill/>
          </a:ln>
        </p:spPr>
      </p:sp>
      <p:sp>
        <p:nvSpPr>
          <p:cNvPr id="57" name="N05"/>
          <p:cNvSpPr/>
          <p:nvPr/>
        </p:nvSpPr>
        <p:spPr>
          <a:xfrm>
            <a:off x="3300984" y="2240280"/>
            <a:ext cx="91440" cy="91440"/>
          </a:xfrm>
          <a:prstGeom prst="ellipse">
            <a:avLst/>
          </a:prstGeom>
          <a:solidFill>
            <a:srgbClr val="7FA3C4"/>
          </a:solidFill>
          <a:ln>
            <a:noFill/>
          </a:ln>
        </p:spPr>
      </p:sp>
      <p:sp>
        <p:nvSpPr>
          <p:cNvPr id="58" name="N15"/>
          <p:cNvSpPr/>
          <p:nvPr/>
        </p:nvSpPr>
        <p:spPr>
          <a:xfrm>
            <a:off x="3300984" y="2569464"/>
            <a:ext cx="91440" cy="91440"/>
          </a:xfrm>
          <a:prstGeom prst="ellipse">
            <a:avLst/>
          </a:prstGeom>
          <a:solidFill>
            <a:srgbClr val="7FA3C4"/>
          </a:solidFill>
          <a:ln>
            <a:noFill/>
          </a:ln>
        </p:spPr>
      </p:sp>
      <p:sp>
        <p:nvSpPr>
          <p:cNvPr id="59" name="N25"/>
          <p:cNvSpPr/>
          <p:nvPr/>
        </p:nvSpPr>
        <p:spPr>
          <a:xfrm>
            <a:off x="3300984" y="2898648"/>
            <a:ext cx="91440" cy="91440"/>
          </a:xfrm>
          <a:prstGeom prst="ellipse">
            <a:avLst/>
          </a:prstGeom>
          <a:solidFill>
            <a:srgbClr val="7FA3C4"/>
          </a:solidFill>
          <a:ln>
            <a:noFill/>
          </a:ln>
        </p:spPr>
      </p:sp>
      <p:sp>
        <p:nvSpPr>
          <p:cNvPr id="60" name="N35"/>
          <p:cNvSpPr/>
          <p:nvPr/>
        </p:nvSpPr>
        <p:spPr>
          <a:xfrm>
            <a:off x="3300984" y="3227832"/>
            <a:ext cx="91440" cy="91440"/>
          </a:xfrm>
          <a:prstGeom prst="ellipse">
            <a:avLst/>
          </a:prstGeom>
          <a:solidFill>
            <a:srgbClr val="7FA3C4"/>
          </a:solidFill>
          <a:ln>
            <a:noFill/>
          </a:ln>
        </p:spPr>
      </p:sp>
      <p:sp>
        <p:nvSpPr>
          <p:cNvPr id="61" name="N45"/>
          <p:cNvSpPr/>
          <p:nvPr/>
        </p:nvSpPr>
        <p:spPr>
          <a:xfrm>
            <a:off x="3300984" y="3557016"/>
            <a:ext cx="91440" cy="91440"/>
          </a:xfrm>
          <a:prstGeom prst="ellipse">
            <a:avLst/>
          </a:prstGeom>
          <a:solidFill>
            <a:srgbClr val="7FA3C4"/>
          </a:solidFill>
          <a:ln>
            <a:noFill/>
          </a:ln>
        </p:spPr>
      </p:sp>
      <p:sp>
        <p:nvSpPr>
          <p:cNvPr id="62" name="N55"/>
          <p:cNvSpPr/>
          <p:nvPr/>
        </p:nvSpPr>
        <p:spPr>
          <a:xfrm>
            <a:off x="3300984" y="3886200"/>
            <a:ext cx="91440" cy="91440"/>
          </a:xfrm>
          <a:prstGeom prst="ellipse">
            <a:avLst/>
          </a:prstGeom>
          <a:solidFill>
            <a:srgbClr val="7FA3C4"/>
          </a:solidFill>
          <a:ln>
            <a:noFill/>
          </a:ln>
        </p:spPr>
      </p:sp>
      <p:sp>
        <p:nvSpPr>
          <p:cNvPr id="63" name="N65"/>
          <p:cNvSpPr/>
          <p:nvPr/>
        </p:nvSpPr>
        <p:spPr>
          <a:xfrm>
            <a:off x="3300984" y="4215384"/>
            <a:ext cx="91440" cy="91440"/>
          </a:xfrm>
          <a:prstGeom prst="ellipse">
            <a:avLst/>
          </a:prstGeom>
          <a:solidFill>
            <a:srgbClr val="7FA3C4"/>
          </a:solidFill>
          <a:ln>
            <a:noFill/>
          </a:ln>
        </p:spPr>
      </p:sp>
      <p:sp>
        <p:nvSpPr>
          <p:cNvPr id="64" name="N75"/>
          <p:cNvSpPr/>
          <p:nvPr/>
        </p:nvSpPr>
        <p:spPr>
          <a:xfrm>
            <a:off x="3300984" y="4544568"/>
            <a:ext cx="91440" cy="91440"/>
          </a:xfrm>
          <a:prstGeom prst="ellipse">
            <a:avLst/>
          </a:prstGeom>
          <a:solidFill>
            <a:srgbClr val="7FA3C4"/>
          </a:solidFill>
          <a:ln>
            <a:noFill/>
          </a:ln>
        </p:spPr>
      </p:sp>
      <p:sp>
        <p:nvSpPr>
          <p:cNvPr id="65" name="N85"/>
          <p:cNvSpPr/>
          <p:nvPr/>
        </p:nvSpPr>
        <p:spPr>
          <a:xfrm>
            <a:off x="3300984" y="4873752"/>
            <a:ext cx="91440" cy="91440"/>
          </a:xfrm>
          <a:prstGeom prst="ellipse">
            <a:avLst/>
          </a:prstGeom>
          <a:solidFill>
            <a:srgbClr val="7FA3C4"/>
          </a:solidFill>
          <a:ln>
            <a:noFill/>
          </a:ln>
        </p:spPr>
      </p:sp>
      <p:sp>
        <p:nvSpPr>
          <p:cNvPr id="66" name="N95"/>
          <p:cNvSpPr/>
          <p:nvPr/>
        </p:nvSpPr>
        <p:spPr>
          <a:xfrm>
            <a:off x="3300984" y="5202936"/>
            <a:ext cx="91440" cy="91440"/>
          </a:xfrm>
          <a:prstGeom prst="ellipse">
            <a:avLst/>
          </a:prstGeom>
          <a:solidFill>
            <a:srgbClr val="7FA3C4"/>
          </a:solidFill>
          <a:ln>
            <a:noFill/>
          </a:ln>
        </p:spPr>
      </p:sp>
      <p:sp>
        <p:nvSpPr>
          <p:cNvPr id="67" name="N06"/>
          <p:cNvSpPr/>
          <p:nvPr/>
        </p:nvSpPr>
        <p:spPr>
          <a:xfrm>
            <a:off x="3630168" y="2240280"/>
            <a:ext cx="91440" cy="91440"/>
          </a:xfrm>
          <a:prstGeom prst="ellipse">
            <a:avLst/>
          </a:prstGeom>
          <a:solidFill>
            <a:srgbClr val="7FA3C4"/>
          </a:solidFill>
          <a:ln>
            <a:noFill/>
          </a:ln>
        </p:spPr>
      </p:sp>
      <p:sp>
        <p:nvSpPr>
          <p:cNvPr id="68" name="N16"/>
          <p:cNvSpPr/>
          <p:nvPr/>
        </p:nvSpPr>
        <p:spPr>
          <a:xfrm>
            <a:off x="3630168" y="2569464"/>
            <a:ext cx="91440" cy="91440"/>
          </a:xfrm>
          <a:prstGeom prst="ellipse">
            <a:avLst/>
          </a:prstGeom>
          <a:solidFill>
            <a:srgbClr val="7FA3C4"/>
          </a:solidFill>
          <a:ln>
            <a:noFill/>
          </a:ln>
        </p:spPr>
      </p:sp>
      <p:sp>
        <p:nvSpPr>
          <p:cNvPr id="69" name="N26"/>
          <p:cNvSpPr/>
          <p:nvPr/>
        </p:nvSpPr>
        <p:spPr>
          <a:xfrm>
            <a:off x="3630168" y="2898648"/>
            <a:ext cx="91440" cy="91440"/>
          </a:xfrm>
          <a:prstGeom prst="ellipse">
            <a:avLst/>
          </a:prstGeom>
          <a:solidFill>
            <a:srgbClr val="7FA3C4"/>
          </a:solidFill>
          <a:ln>
            <a:noFill/>
          </a:ln>
        </p:spPr>
      </p:sp>
      <p:sp>
        <p:nvSpPr>
          <p:cNvPr id="70" name="N36"/>
          <p:cNvSpPr/>
          <p:nvPr/>
        </p:nvSpPr>
        <p:spPr>
          <a:xfrm>
            <a:off x="3630168" y="3227832"/>
            <a:ext cx="91440" cy="91440"/>
          </a:xfrm>
          <a:prstGeom prst="ellipse">
            <a:avLst/>
          </a:prstGeom>
          <a:solidFill>
            <a:srgbClr val="7FA3C4"/>
          </a:solidFill>
          <a:ln>
            <a:noFill/>
          </a:ln>
        </p:spPr>
      </p:sp>
      <p:sp>
        <p:nvSpPr>
          <p:cNvPr id="71" name="N46"/>
          <p:cNvSpPr/>
          <p:nvPr/>
        </p:nvSpPr>
        <p:spPr>
          <a:xfrm>
            <a:off x="3630168" y="3557016"/>
            <a:ext cx="91440" cy="91440"/>
          </a:xfrm>
          <a:prstGeom prst="ellipse">
            <a:avLst/>
          </a:prstGeom>
          <a:solidFill>
            <a:srgbClr val="7FA3C4"/>
          </a:solidFill>
          <a:ln>
            <a:noFill/>
          </a:ln>
        </p:spPr>
      </p:sp>
      <p:sp>
        <p:nvSpPr>
          <p:cNvPr id="72" name="N56"/>
          <p:cNvSpPr/>
          <p:nvPr/>
        </p:nvSpPr>
        <p:spPr>
          <a:xfrm>
            <a:off x="3630168" y="3886200"/>
            <a:ext cx="91440" cy="91440"/>
          </a:xfrm>
          <a:prstGeom prst="ellipse">
            <a:avLst/>
          </a:prstGeom>
          <a:solidFill>
            <a:srgbClr val="7FA3C4"/>
          </a:solidFill>
          <a:ln>
            <a:noFill/>
          </a:ln>
        </p:spPr>
      </p:sp>
      <p:sp>
        <p:nvSpPr>
          <p:cNvPr id="73" name="N66"/>
          <p:cNvSpPr/>
          <p:nvPr/>
        </p:nvSpPr>
        <p:spPr>
          <a:xfrm>
            <a:off x="3630168" y="4215384"/>
            <a:ext cx="91440" cy="91440"/>
          </a:xfrm>
          <a:prstGeom prst="ellipse">
            <a:avLst/>
          </a:prstGeom>
          <a:solidFill>
            <a:srgbClr val="7FA3C4"/>
          </a:solidFill>
          <a:ln>
            <a:noFill/>
          </a:ln>
        </p:spPr>
      </p:sp>
      <p:sp>
        <p:nvSpPr>
          <p:cNvPr id="74" name="N76"/>
          <p:cNvSpPr/>
          <p:nvPr/>
        </p:nvSpPr>
        <p:spPr>
          <a:xfrm>
            <a:off x="3630168" y="4544568"/>
            <a:ext cx="91440" cy="91440"/>
          </a:xfrm>
          <a:prstGeom prst="ellipse">
            <a:avLst/>
          </a:prstGeom>
          <a:solidFill>
            <a:srgbClr val="7FA3C4"/>
          </a:solidFill>
          <a:ln>
            <a:noFill/>
          </a:ln>
        </p:spPr>
      </p:sp>
      <p:sp>
        <p:nvSpPr>
          <p:cNvPr id="75" name="N86"/>
          <p:cNvSpPr/>
          <p:nvPr/>
        </p:nvSpPr>
        <p:spPr>
          <a:xfrm>
            <a:off x="3630168" y="4873752"/>
            <a:ext cx="91440" cy="91440"/>
          </a:xfrm>
          <a:prstGeom prst="ellipse">
            <a:avLst/>
          </a:prstGeom>
          <a:solidFill>
            <a:srgbClr val="7FA3C4"/>
          </a:solidFill>
          <a:ln>
            <a:noFill/>
          </a:ln>
        </p:spPr>
      </p:sp>
      <p:sp>
        <p:nvSpPr>
          <p:cNvPr id="76" name="N96"/>
          <p:cNvSpPr/>
          <p:nvPr/>
        </p:nvSpPr>
        <p:spPr>
          <a:xfrm>
            <a:off x="3630168" y="5202936"/>
            <a:ext cx="91440" cy="91440"/>
          </a:xfrm>
          <a:prstGeom prst="ellipse">
            <a:avLst/>
          </a:prstGeom>
          <a:solidFill>
            <a:srgbClr val="7FA3C4"/>
          </a:solidFill>
          <a:ln>
            <a:noFill/>
          </a:ln>
        </p:spPr>
      </p:sp>
      <p:sp>
        <p:nvSpPr>
          <p:cNvPr id="77" name="N07"/>
          <p:cNvSpPr/>
          <p:nvPr/>
        </p:nvSpPr>
        <p:spPr>
          <a:xfrm>
            <a:off x="3959352" y="2240280"/>
            <a:ext cx="91440" cy="91440"/>
          </a:xfrm>
          <a:prstGeom prst="ellipse">
            <a:avLst/>
          </a:prstGeom>
          <a:solidFill>
            <a:srgbClr val="7FA3C4"/>
          </a:solidFill>
          <a:ln>
            <a:noFill/>
          </a:ln>
        </p:spPr>
      </p:sp>
      <p:sp>
        <p:nvSpPr>
          <p:cNvPr id="78" name="N17"/>
          <p:cNvSpPr/>
          <p:nvPr/>
        </p:nvSpPr>
        <p:spPr>
          <a:xfrm>
            <a:off x="3959352" y="2569464"/>
            <a:ext cx="91440" cy="91440"/>
          </a:xfrm>
          <a:prstGeom prst="ellipse">
            <a:avLst/>
          </a:prstGeom>
          <a:solidFill>
            <a:srgbClr val="7FA3C4"/>
          </a:solidFill>
          <a:ln>
            <a:noFill/>
          </a:ln>
        </p:spPr>
      </p:sp>
      <p:sp>
        <p:nvSpPr>
          <p:cNvPr id="79" name="N27"/>
          <p:cNvSpPr/>
          <p:nvPr/>
        </p:nvSpPr>
        <p:spPr>
          <a:xfrm>
            <a:off x="3959352" y="2898648"/>
            <a:ext cx="91440" cy="91440"/>
          </a:xfrm>
          <a:prstGeom prst="ellipse">
            <a:avLst/>
          </a:prstGeom>
          <a:solidFill>
            <a:srgbClr val="7FA3C4"/>
          </a:solidFill>
          <a:ln>
            <a:noFill/>
          </a:ln>
        </p:spPr>
      </p:sp>
      <p:sp>
        <p:nvSpPr>
          <p:cNvPr id="80" name="N37"/>
          <p:cNvSpPr/>
          <p:nvPr/>
        </p:nvSpPr>
        <p:spPr>
          <a:xfrm>
            <a:off x="3959352" y="3227832"/>
            <a:ext cx="91440" cy="91440"/>
          </a:xfrm>
          <a:prstGeom prst="ellipse">
            <a:avLst/>
          </a:prstGeom>
          <a:solidFill>
            <a:srgbClr val="7FA3C4"/>
          </a:solidFill>
          <a:ln>
            <a:noFill/>
          </a:ln>
        </p:spPr>
      </p:sp>
      <p:sp>
        <p:nvSpPr>
          <p:cNvPr id="81" name="N47"/>
          <p:cNvSpPr/>
          <p:nvPr/>
        </p:nvSpPr>
        <p:spPr>
          <a:xfrm>
            <a:off x="3959352" y="3557016"/>
            <a:ext cx="91440" cy="91440"/>
          </a:xfrm>
          <a:prstGeom prst="ellipse">
            <a:avLst/>
          </a:prstGeom>
          <a:solidFill>
            <a:srgbClr val="7FA3C4"/>
          </a:solidFill>
          <a:ln>
            <a:noFill/>
          </a:ln>
        </p:spPr>
      </p:sp>
      <p:sp>
        <p:nvSpPr>
          <p:cNvPr id="82" name="N57"/>
          <p:cNvSpPr/>
          <p:nvPr/>
        </p:nvSpPr>
        <p:spPr>
          <a:xfrm>
            <a:off x="3959352" y="3886200"/>
            <a:ext cx="91440" cy="91440"/>
          </a:xfrm>
          <a:prstGeom prst="ellipse">
            <a:avLst/>
          </a:prstGeom>
          <a:solidFill>
            <a:srgbClr val="7FA3C4"/>
          </a:solidFill>
          <a:ln>
            <a:noFill/>
          </a:ln>
        </p:spPr>
      </p:sp>
      <p:sp>
        <p:nvSpPr>
          <p:cNvPr id="83" name="N67"/>
          <p:cNvSpPr/>
          <p:nvPr/>
        </p:nvSpPr>
        <p:spPr>
          <a:xfrm>
            <a:off x="3959352" y="4215384"/>
            <a:ext cx="91440" cy="91440"/>
          </a:xfrm>
          <a:prstGeom prst="ellipse">
            <a:avLst/>
          </a:prstGeom>
          <a:solidFill>
            <a:srgbClr val="7FA3C4"/>
          </a:solidFill>
          <a:ln>
            <a:noFill/>
          </a:ln>
        </p:spPr>
      </p:sp>
      <p:sp>
        <p:nvSpPr>
          <p:cNvPr id="84" name="N77"/>
          <p:cNvSpPr/>
          <p:nvPr/>
        </p:nvSpPr>
        <p:spPr>
          <a:xfrm>
            <a:off x="3959352" y="4544568"/>
            <a:ext cx="91440" cy="91440"/>
          </a:xfrm>
          <a:prstGeom prst="ellipse">
            <a:avLst/>
          </a:prstGeom>
          <a:solidFill>
            <a:srgbClr val="7FA3C4"/>
          </a:solidFill>
          <a:ln>
            <a:noFill/>
          </a:ln>
        </p:spPr>
      </p:sp>
      <p:sp>
        <p:nvSpPr>
          <p:cNvPr id="85" name="N87"/>
          <p:cNvSpPr/>
          <p:nvPr/>
        </p:nvSpPr>
        <p:spPr>
          <a:xfrm>
            <a:off x="3959352" y="4873752"/>
            <a:ext cx="91440" cy="91440"/>
          </a:xfrm>
          <a:prstGeom prst="ellipse">
            <a:avLst/>
          </a:prstGeom>
          <a:solidFill>
            <a:srgbClr val="7FA3C4"/>
          </a:solidFill>
          <a:ln>
            <a:noFill/>
          </a:ln>
        </p:spPr>
      </p:sp>
      <p:sp>
        <p:nvSpPr>
          <p:cNvPr id="86" name="N97"/>
          <p:cNvSpPr/>
          <p:nvPr/>
        </p:nvSpPr>
        <p:spPr>
          <a:xfrm>
            <a:off x="3959352" y="5202936"/>
            <a:ext cx="91440" cy="91440"/>
          </a:xfrm>
          <a:prstGeom prst="ellipse">
            <a:avLst/>
          </a:prstGeom>
          <a:solidFill>
            <a:srgbClr val="7FA3C4"/>
          </a:solidFill>
          <a:ln>
            <a:noFill/>
          </a:ln>
        </p:spPr>
      </p:sp>
      <p:sp>
        <p:nvSpPr>
          <p:cNvPr id="87" name="N08"/>
          <p:cNvSpPr/>
          <p:nvPr/>
        </p:nvSpPr>
        <p:spPr>
          <a:xfrm>
            <a:off x="4288536" y="2240280"/>
            <a:ext cx="91440" cy="91440"/>
          </a:xfrm>
          <a:prstGeom prst="ellipse">
            <a:avLst/>
          </a:prstGeom>
          <a:solidFill>
            <a:srgbClr val="7FA3C4"/>
          </a:solidFill>
          <a:ln>
            <a:noFill/>
          </a:ln>
        </p:spPr>
      </p:sp>
      <p:sp>
        <p:nvSpPr>
          <p:cNvPr id="88" name="N18"/>
          <p:cNvSpPr/>
          <p:nvPr/>
        </p:nvSpPr>
        <p:spPr>
          <a:xfrm>
            <a:off x="4288536" y="2569464"/>
            <a:ext cx="91440" cy="91440"/>
          </a:xfrm>
          <a:prstGeom prst="ellipse">
            <a:avLst/>
          </a:prstGeom>
          <a:solidFill>
            <a:srgbClr val="7FA3C4"/>
          </a:solidFill>
          <a:ln>
            <a:noFill/>
          </a:ln>
        </p:spPr>
      </p:sp>
      <p:sp>
        <p:nvSpPr>
          <p:cNvPr id="89" name="N28"/>
          <p:cNvSpPr/>
          <p:nvPr/>
        </p:nvSpPr>
        <p:spPr>
          <a:xfrm>
            <a:off x="4288536" y="2898648"/>
            <a:ext cx="91440" cy="91440"/>
          </a:xfrm>
          <a:prstGeom prst="ellipse">
            <a:avLst/>
          </a:prstGeom>
          <a:solidFill>
            <a:srgbClr val="7FA3C4"/>
          </a:solidFill>
          <a:ln>
            <a:noFill/>
          </a:ln>
        </p:spPr>
      </p:sp>
      <p:sp>
        <p:nvSpPr>
          <p:cNvPr id="90" name="N38"/>
          <p:cNvSpPr/>
          <p:nvPr/>
        </p:nvSpPr>
        <p:spPr>
          <a:xfrm>
            <a:off x="4288536" y="3227832"/>
            <a:ext cx="91440" cy="91440"/>
          </a:xfrm>
          <a:prstGeom prst="ellipse">
            <a:avLst/>
          </a:prstGeom>
          <a:solidFill>
            <a:srgbClr val="7FA3C4"/>
          </a:solidFill>
          <a:ln>
            <a:noFill/>
          </a:ln>
        </p:spPr>
      </p:sp>
      <p:sp>
        <p:nvSpPr>
          <p:cNvPr id="91" name="N48"/>
          <p:cNvSpPr/>
          <p:nvPr/>
        </p:nvSpPr>
        <p:spPr>
          <a:xfrm>
            <a:off x="4288536" y="3557016"/>
            <a:ext cx="91440" cy="91440"/>
          </a:xfrm>
          <a:prstGeom prst="ellipse">
            <a:avLst/>
          </a:prstGeom>
          <a:solidFill>
            <a:srgbClr val="7FA3C4"/>
          </a:solidFill>
          <a:ln>
            <a:noFill/>
          </a:ln>
        </p:spPr>
      </p:sp>
      <p:sp>
        <p:nvSpPr>
          <p:cNvPr id="92" name="N58"/>
          <p:cNvSpPr/>
          <p:nvPr/>
        </p:nvSpPr>
        <p:spPr>
          <a:xfrm>
            <a:off x="4288536" y="3886200"/>
            <a:ext cx="91440" cy="91440"/>
          </a:xfrm>
          <a:prstGeom prst="ellipse">
            <a:avLst/>
          </a:prstGeom>
          <a:solidFill>
            <a:srgbClr val="7FA3C4"/>
          </a:solidFill>
          <a:ln>
            <a:noFill/>
          </a:ln>
        </p:spPr>
      </p:sp>
      <p:sp>
        <p:nvSpPr>
          <p:cNvPr id="93" name="N68"/>
          <p:cNvSpPr/>
          <p:nvPr/>
        </p:nvSpPr>
        <p:spPr>
          <a:xfrm>
            <a:off x="4288536" y="4215384"/>
            <a:ext cx="91440" cy="91440"/>
          </a:xfrm>
          <a:prstGeom prst="ellipse">
            <a:avLst/>
          </a:prstGeom>
          <a:solidFill>
            <a:srgbClr val="7FA3C4"/>
          </a:solidFill>
          <a:ln>
            <a:noFill/>
          </a:ln>
        </p:spPr>
      </p:sp>
      <p:sp>
        <p:nvSpPr>
          <p:cNvPr id="94" name="N78"/>
          <p:cNvSpPr/>
          <p:nvPr/>
        </p:nvSpPr>
        <p:spPr>
          <a:xfrm>
            <a:off x="4288536" y="4544568"/>
            <a:ext cx="91440" cy="91440"/>
          </a:xfrm>
          <a:prstGeom prst="ellipse">
            <a:avLst/>
          </a:prstGeom>
          <a:solidFill>
            <a:srgbClr val="7FA3C4"/>
          </a:solidFill>
          <a:ln>
            <a:noFill/>
          </a:ln>
        </p:spPr>
      </p:sp>
      <p:sp>
        <p:nvSpPr>
          <p:cNvPr id="95" name="N88"/>
          <p:cNvSpPr/>
          <p:nvPr/>
        </p:nvSpPr>
        <p:spPr>
          <a:xfrm>
            <a:off x="4288536" y="4873752"/>
            <a:ext cx="91440" cy="91440"/>
          </a:xfrm>
          <a:prstGeom prst="ellipse">
            <a:avLst/>
          </a:prstGeom>
          <a:solidFill>
            <a:srgbClr val="7FA3C4"/>
          </a:solidFill>
          <a:ln>
            <a:noFill/>
          </a:ln>
        </p:spPr>
      </p:sp>
      <p:sp>
        <p:nvSpPr>
          <p:cNvPr id="96" name="N98"/>
          <p:cNvSpPr/>
          <p:nvPr/>
        </p:nvSpPr>
        <p:spPr>
          <a:xfrm>
            <a:off x="4288536" y="5202936"/>
            <a:ext cx="91440" cy="91440"/>
          </a:xfrm>
          <a:prstGeom prst="ellipse">
            <a:avLst/>
          </a:prstGeom>
          <a:solidFill>
            <a:srgbClr val="7FA3C4"/>
          </a:solidFill>
          <a:ln>
            <a:noFill/>
          </a:ln>
        </p:spPr>
      </p:sp>
      <p:sp>
        <p:nvSpPr>
          <p:cNvPr id="97" name="N19"/>
          <p:cNvSpPr/>
          <p:nvPr/>
        </p:nvSpPr>
        <p:spPr>
          <a:xfrm>
            <a:off x="4617720" y="2569464"/>
            <a:ext cx="91440" cy="91440"/>
          </a:xfrm>
          <a:prstGeom prst="ellipse">
            <a:avLst/>
          </a:prstGeom>
          <a:solidFill>
            <a:srgbClr val="7FA3C4"/>
          </a:solidFill>
          <a:ln>
            <a:noFill/>
          </a:ln>
        </p:spPr>
      </p:sp>
      <p:sp>
        <p:nvSpPr>
          <p:cNvPr id="98" name="N29"/>
          <p:cNvSpPr/>
          <p:nvPr/>
        </p:nvSpPr>
        <p:spPr>
          <a:xfrm>
            <a:off x="4617720" y="2898648"/>
            <a:ext cx="91440" cy="91440"/>
          </a:xfrm>
          <a:prstGeom prst="ellipse">
            <a:avLst/>
          </a:prstGeom>
          <a:solidFill>
            <a:srgbClr val="7FA3C4"/>
          </a:solidFill>
          <a:ln>
            <a:noFill/>
          </a:ln>
        </p:spPr>
      </p:sp>
      <p:sp>
        <p:nvSpPr>
          <p:cNvPr id="99" name="N39"/>
          <p:cNvSpPr/>
          <p:nvPr/>
        </p:nvSpPr>
        <p:spPr>
          <a:xfrm>
            <a:off x="4617720" y="3227832"/>
            <a:ext cx="91440" cy="91440"/>
          </a:xfrm>
          <a:prstGeom prst="ellipse">
            <a:avLst/>
          </a:prstGeom>
          <a:solidFill>
            <a:srgbClr val="7FA3C4"/>
          </a:solidFill>
          <a:ln>
            <a:noFill/>
          </a:ln>
        </p:spPr>
      </p:sp>
      <p:sp>
        <p:nvSpPr>
          <p:cNvPr id="100" name="N49"/>
          <p:cNvSpPr/>
          <p:nvPr/>
        </p:nvSpPr>
        <p:spPr>
          <a:xfrm>
            <a:off x="4617720" y="3557016"/>
            <a:ext cx="91440" cy="91440"/>
          </a:xfrm>
          <a:prstGeom prst="ellipse">
            <a:avLst/>
          </a:prstGeom>
          <a:solidFill>
            <a:srgbClr val="7FA3C4"/>
          </a:solidFill>
          <a:ln>
            <a:noFill/>
          </a:ln>
        </p:spPr>
      </p:sp>
      <p:sp>
        <p:nvSpPr>
          <p:cNvPr id="101" name="N59"/>
          <p:cNvSpPr/>
          <p:nvPr/>
        </p:nvSpPr>
        <p:spPr>
          <a:xfrm>
            <a:off x="4617720" y="3886200"/>
            <a:ext cx="91440" cy="91440"/>
          </a:xfrm>
          <a:prstGeom prst="ellipse">
            <a:avLst/>
          </a:prstGeom>
          <a:solidFill>
            <a:srgbClr val="7FA3C4"/>
          </a:solidFill>
          <a:ln>
            <a:noFill/>
          </a:ln>
        </p:spPr>
      </p:sp>
      <p:sp>
        <p:nvSpPr>
          <p:cNvPr id="102" name="N69"/>
          <p:cNvSpPr/>
          <p:nvPr/>
        </p:nvSpPr>
        <p:spPr>
          <a:xfrm>
            <a:off x="4617720" y="4215384"/>
            <a:ext cx="91440" cy="91440"/>
          </a:xfrm>
          <a:prstGeom prst="ellipse">
            <a:avLst/>
          </a:prstGeom>
          <a:solidFill>
            <a:srgbClr val="7FA3C4"/>
          </a:solidFill>
          <a:ln>
            <a:noFill/>
          </a:ln>
        </p:spPr>
      </p:sp>
      <p:sp>
        <p:nvSpPr>
          <p:cNvPr id="103" name="N79"/>
          <p:cNvSpPr/>
          <p:nvPr/>
        </p:nvSpPr>
        <p:spPr>
          <a:xfrm>
            <a:off x="4617720" y="4544568"/>
            <a:ext cx="91440" cy="91440"/>
          </a:xfrm>
          <a:prstGeom prst="ellipse">
            <a:avLst/>
          </a:prstGeom>
          <a:solidFill>
            <a:srgbClr val="7FA3C4"/>
          </a:solidFill>
          <a:ln>
            <a:noFill/>
          </a:ln>
        </p:spPr>
      </p:sp>
      <p:sp>
        <p:nvSpPr>
          <p:cNvPr id="104" name="N89"/>
          <p:cNvSpPr/>
          <p:nvPr/>
        </p:nvSpPr>
        <p:spPr>
          <a:xfrm>
            <a:off x="4617720" y="4873752"/>
            <a:ext cx="91440" cy="91440"/>
          </a:xfrm>
          <a:prstGeom prst="ellipse">
            <a:avLst/>
          </a:prstGeom>
          <a:solidFill>
            <a:srgbClr val="7FA3C4"/>
          </a:solidFill>
          <a:ln>
            <a:noFill/>
          </a:ln>
        </p:spPr>
      </p:sp>
      <p:sp>
        <p:nvSpPr>
          <p:cNvPr id="105" name="N99"/>
          <p:cNvSpPr/>
          <p:nvPr/>
        </p:nvSpPr>
        <p:spPr>
          <a:xfrm>
            <a:off x="4617720" y="5202936"/>
            <a:ext cx="91440" cy="91440"/>
          </a:xfrm>
          <a:prstGeom prst="ellipse">
            <a:avLst/>
          </a:prstGeom>
          <a:solidFill>
            <a:srgbClr val="7FA3C4"/>
          </a:solidFill>
          <a:ln>
            <a:noFill/>
          </a:ln>
        </p:spPr>
      </p:sp>
      <p:sp>
        <p:nvSpPr>
          <p:cNvPr id="106" name="Example node"/>
          <p:cNvSpPr/>
          <p:nvPr/>
        </p:nvSpPr>
        <p:spPr>
          <a:xfrm>
            <a:off x="2944368" y="3858768"/>
            <a:ext cx="146304" cy="146304"/>
          </a:xfrm>
          <a:prstGeom prst="ellipse">
            <a:avLst/>
          </a:prstGeom>
          <a:solidFill>
            <a:srgbClr val="EB6834"/>
          </a:solidFill>
          <a:ln>
            <a:noFill/>
          </a:ln>
        </p:spPr>
      </p:sp>
      <p:sp>
        <p:nvSpPr>
          <p:cNvPr id="107" name="Safe zone"/>
          <p:cNvSpPr/>
          <p:nvPr/>
        </p:nvSpPr>
        <p:spPr>
          <a:xfrm>
            <a:off x="1572768" y="2157984"/>
            <a:ext cx="256032" cy="256032"/>
          </a:xfrm>
          <a:prstGeom prst="ellipse">
            <a:avLst/>
          </a:prstGeom>
          <a:solidFill>
            <a:srgbClr val="1E9E6A"/>
          </a:solidFill>
          <a:ln w="19050">
            <a:solidFill>
              <a:srgbClr val="FFFFFF"/>
            </a:solidFill>
          </a:ln>
        </p:spPr>
      </p:sp>
      <p:sp>
        <p:nvSpPr>
          <p:cNvPr id="108" name="Shape 108"/>
          <p:cNvSpPr txBox="1"/>
          <p:nvPr/>
        </p:nvSpPr>
        <p:spPr>
          <a:xfrm>
            <a:off x="1060704" y="1847088"/>
            <a:ext cx="1280160" cy="256032"/>
          </a:xfrm>
          <a:prstGeom prst="rect">
            <a:avLst/>
          </a:prstGeom>
          <a:noFill/>
          <a:ln>
            <a:noFill/>
          </a:ln>
        </p:spPr>
        <p:txBody>
          <a:bodyPr wrap="square" lIns="0" tIns="0" rIns="0" bIns="0" rtlCol="0" anchor="ctr">
            <a:noAutofit/>
          </a:bodyPr>
          <a:lstStyle/>
          <a:p>
            <a:pPr marL="0" indent="0" algn="ctr">
              <a:buNone/>
            </a:pPr>
            <a:r>
              <a:rPr lang="en-US" sz="1050" b="1" dirty="0">
                <a:solidFill>
                  <a:srgbClr val="1E9E6A"/>
                </a:solidFill>
                <a:latin typeface="Tahoma"/>
                <a:ea typeface="Tahoma"/>
                <a:cs typeface="Tahoma"/>
              </a:rPr>
              <a:t>Safe zone</a:t>
            </a:r>
            <a:endParaRPr lang="en-US" sz="1050" dirty="0"/>
          </a:p>
        </p:txBody>
      </p:sp>
      <p:sp>
        <p:nvSpPr>
          <p:cNvPr id="109" name="Safe zone"/>
          <p:cNvSpPr/>
          <p:nvPr/>
        </p:nvSpPr>
        <p:spPr>
          <a:xfrm>
            <a:off x="4535424" y="2157984"/>
            <a:ext cx="256032" cy="256032"/>
          </a:xfrm>
          <a:prstGeom prst="ellipse">
            <a:avLst/>
          </a:prstGeom>
          <a:solidFill>
            <a:srgbClr val="1E9E6A"/>
          </a:solidFill>
          <a:ln w="19050">
            <a:solidFill>
              <a:srgbClr val="FFFFFF"/>
            </a:solidFill>
          </a:ln>
        </p:spPr>
      </p:sp>
      <p:sp>
        <p:nvSpPr>
          <p:cNvPr id="110" name="Shape 110"/>
          <p:cNvSpPr txBox="1"/>
          <p:nvPr/>
        </p:nvSpPr>
        <p:spPr>
          <a:xfrm>
            <a:off x="4023360" y="1847088"/>
            <a:ext cx="1280160" cy="256032"/>
          </a:xfrm>
          <a:prstGeom prst="rect">
            <a:avLst/>
          </a:prstGeom>
          <a:noFill/>
          <a:ln>
            <a:noFill/>
          </a:ln>
        </p:spPr>
        <p:txBody>
          <a:bodyPr wrap="square" lIns="0" tIns="0" rIns="0" bIns="0" rtlCol="0" anchor="ctr">
            <a:noAutofit/>
          </a:bodyPr>
          <a:lstStyle/>
          <a:p>
            <a:pPr marL="0" indent="0" algn="ctr">
              <a:buNone/>
            </a:pPr>
            <a:r>
              <a:rPr lang="en-US" sz="1050" b="1" dirty="0">
                <a:solidFill>
                  <a:srgbClr val="1E9E6A"/>
                </a:solidFill>
                <a:latin typeface="Tahoma"/>
                <a:ea typeface="Tahoma"/>
                <a:cs typeface="Tahoma"/>
              </a:rPr>
              <a:t>Safe zone</a:t>
            </a:r>
            <a:endParaRPr lang="en-US" sz="1050" dirty="0"/>
          </a:p>
        </p:txBody>
      </p:sp>
      <p:sp>
        <p:nvSpPr>
          <p:cNvPr id="111" name="Shape 111"/>
          <p:cNvSpPr txBox="1"/>
          <p:nvPr/>
        </p:nvSpPr>
        <p:spPr>
          <a:xfrm>
            <a:off x="914400" y="5330952"/>
            <a:ext cx="4526280" cy="274320"/>
          </a:xfrm>
          <a:prstGeom prst="rect">
            <a:avLst/>
          </a:prstGeom>
          <a:noFill/>
          <a:ln>
            <a:noFill/>
          </a:ln>
        </p:spPr>
        <p:txBody>
          <a:bodyPr wrap="square" lIns="0" tIns="0" rIns="0" bIns="0" rtlCol="0" anchor="ctr">
            <a:noAutofit/>
          </a:bodyPr>
          <a:lstStyle/>
          <a:p>
            <a:pPr marL="0" indent="0" algn="ctr">
              <a:buNone/>
            </a:pPr>
            <a:r>
              <a:rPr lang="en-US" sz="1250" b="1" dirty="0">
                <a:solidFill>
                  <a:srgbClr val="08325F"/>
                </a:solidFill>
                <a:latin typeface="Tahoma"/>
                <a:ea typeface="Tahoma"/>
                <a:cs typeface="Tahoma"/>
              </a:rPr>
              <a:t>10 × 10 grid · 100 nodes · 400 m apart</a:t>
            </a:r>
            <a:endParaRPr lang="en-US" sz="1250" dirty="0"/>
          </a:p>
        </p:txBody>
      </p:sp>
      <p:sp>
        <p:nvSpPr>
          <p:cNvPr id="112" name="Shape 112"/>
          <p:cNvSpPr txBox="1"/>
          <p:nvPr/>
        </p:nvSpPr>
        <p:spPr>
          <a:xfrm>
            <a:off x="914400" y="5577840"/>
            <a:ext cx="4526280" cy="246888"/>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Dashed circle: the 1.5 km radio range of one node</a:t>
            </a:r>
            <a:endParaRPr lang="en-US" sz="1050" dirty="0"/>
          </a:p>
        </p:txBody>
      </p:sp>
      <p:sp>
        <p:nvSpPr>
          <p:cNvPr id="113" name="Fact 1"/>
          <p:cNvSpPr txBox="1"/>
          <p:nvPr/>
        </p:nvSpPr>
        <p:spPr>
          <a:xfrm>
            <a:off x="5989320" y="1783080"/>
            <a:ext cx="5440680" cy="502920"/>
          </a:xfrm>
          <a:prstGeom prst="rect">
            <a:avLst/>
          </a:prstGeom>
          <a:noFill/>
          <a:ln>
            <a:noFill/>
          </a:ln>
        </p:spPr>
        <p:txBody>
          <a:bodyPr wrap="square" lIns="0" tIns="0" rIns="0" bIns="0" rtlCol="0" anchor="ctr">
            <a:noAutofit/>
          </a:bodyPr>
          <a:lstStyle/>
          <a:p>
            <a:pPr marL="274320" indent="-274320" algn="l">
              <a:buClr>
                <a:srgbClr val="FF9100"/>
              </a:buClr>
              <a:buSzPct val="100000"/>
              <a:buFont typeface="Arial"/>
              <a:buChar char="•"/>
            </a:pPr>
            <a:r>
              <a:rPr lang="en-US" sz="1500" dirty="0">
                <a:solidFill>
                  <a:srgbClr val="08325F"/>
                </a:solidFill>
                <a:latin typeface="Tahoma"/>
                <a:ea typeface="Tahoma"/>
                <a:cs typeface="Tahoma"/>
              </a:rPr>
              <a:t>Scale-up runs: 15 × 15 and up to 30 × 30 (900 nodes)</a:t>
            </a:r>
            <a:endParaRPr lang="en-US" sz="1500" dirty="0"/>
          </a:p>
        </p:txBody>
      </p:sp>
      <p:sp>
        <p:nvSpPr>
          <p:cNvPr id="114" name="Fact 2"/>
          <p:cNvSpPr txBox="1"/>
          <p:nvPr/>
        </p:nvSpPr>
        <p:spPr>
          <a:xfrm>
            <a:off x="5989320" y="2350008"/>
            <a:ext cx="5440680" cy="502920"/>
          </a:xfrm>
          <a:prstGeom prst="rect">
            <a:avLst/>
          </a:prstGeom>
          <a:noFill/>
          <a:ln>
            <a:noFill/>
          </a:ln>
        </p:spPr>
        <p:txBody>
          <a:bodyPr wrap="square" lIns="0" tIns="0" rIns="0" bIns="0" rtlCol="0" anchor="ctr">
            <a:noAutofit/>
          </a:bodyPr>
          <a:lstStyle/>
          <a:p>
            <a:pPr marL="274320" indent="-274320" algn="l">
              <a:buClr>
                <a:srgbClr val="FF9100"/>
              </a:buClr>
              <a:buSzPct val="100000"/>
              <a:buFont typeface="Arial"/>
              <a:buChar char="•"/>
            </a:pPr>
            <a:r>
              <a:rPr lang="en-US" sz="1500" dirty="0">
                <a:solidFill>
                  <a:srgbClr val="08325F"/>
                </a:solidFill>
                <a:latin typeface="Tahoma"/>
                <a:ea typeface="Tahoma"/>
                <a:cs typeface="Tahoma"/>
              </a:rPr>
              <a:t>Two safe zones at the corners: the goal for every message</a:t>
            </a:r>
            <a:endParaRPr lang="en-US" sz="1500" dirty="0"/>
          </a:p>
        </p:txBody>
      </p:sp>
      <p:grpSp>
        <p:nvGrpSpPr>
          <p:cNvPr id="115" name="Damage presets"/>
          <p:cNvGrpSpPr/>
          <p:nvPr/>
        </p:nvGrpSpPr>
        <p:grpSpPr>
          <a:xfrm>
            <a:off x="5989320" y="2971800"/>
            <a:ext cx="5440680" cy="786384"/>
            <a:chOff x="5989320" y="2971800"/>
            <a:chExt cx="5440680" cy="786384"/>
          </a:xfrm>
        </p:grpSpPr>
        <p:sp>
          <p:nvSpPr>
            <p:cNvPr id="116" name="Shape 116"/>
            <p:cNvSpPr txBox="1"/>
            <p:nvPr/>
          </p:nvSpPr>
          <p:spPr>
            <a:xfrm>
              <a:off x="5989320" y="2971800"/>
              <a:ext cx="5440680" cy="365760"/>
            </a:xfrm>
            <a:prstGeom prst="rect">
              <a:avLst/>
            </a:prstGeom>
            <a:noFill/>
            <a:ln>
              <a:noFill/>
            </a:ln>
          </p:spPr>
          <p:txBody>
            <a:bodyPr wrap="square" lIns="0" tIns="0" rIns="0" bIns="0" rtlCol="0" anchor="ctr">
              <a:noAutofit/>
            </a:bodyPr>
            <a:lstStyle/>
            <a:p>
              <a:pPr marL="274320" indent="-274320" algn="l">
                <a:buClr>
                  <a:srgbClr val="FF9100"/>
                </a:buClr>
                <a:buSzPct val="100000"/>
                <a:buFont typeface="Arial"/>
                <a:buChar char="•"/>
              </a:pPr>
              <a:r>
                <a:rPr lang="en-US" sz="1500" dirty="0">
                  <a:solidFill>
                    <a:srgbClr val="08325F"/>
                  </a:solidFill>
                  <a:latin typeface="Tahoma"/>
                  <a:ea typeface="Tahoma"/>
                  <a:cs typeface="Tahoma"/>
                </a:rPr>
                <a:t>Five damage-severity presets </a:t>
              </a:r>
              <a:r>
                <a:rPr lang="en-US" sz="1300" dirty="0">
                  <a:solidFill>
                    <a:srgbClr val="66788A"/>
                  </a:solidFill>
                  <a:latin typeface="Tahoma"/>
                  <a:ea typeface="Tahoma"/>
                  <a:cs typeface="Tahoma"/>
                </a:rPr>
                <a:t>(default: heavy)</a:t>
              </a:r>
              <a:endParaRPr lang="en-US" sz="1500" dirty="0"/>
            </a:p>
          </p:txBody>
        </p:sp>
        <p:grpSp>
          <p:nvGrpSpPr>
            <p:cNvPr id="117" name="Chip intact"/>
            <p:cNvGrpSpPr/>
            <p:nvPr/>
          </p:nvGrpSpPr>
          <p:grpSpPr>
            <a:xfrm>
              <a:off x="6263640" y="3429000"/>
              <a:ext cx="905256" cy="329184"/>
              <a:chOff x="6263640" y="3429000"/>
              <a:chExt cx="905256" cy="329184"/>
            </a:xfrm>
          </p:grpSpPr>
          <p:sp>
            <p:nvSpPr>
              <p:cNvPr id="118" name="Shape 118"/>
              <p:cNvSpPr/>
              <p:nvPr/>
            </p:nvSpPr>
            <p:spPr>
              <a:xfrm>
                <a:off x="6263640" y="3429000"/>
                <a:ext cx="905256" cy="329184"/>
              </a:xfrm>
              <a:prstGeom prst="roundRect">
                <a:avLst>
                  <a:gd name="adj" fmla="val 50000"/>
                </a:avLst>
              </a:prstGeom>
              <a:solidFill>
                <a:srgbClr val="FFFFFF"/>
              </a:solidFill>
              <a:ln w="12700">
                <a:solidFill>
                  <a:srgbClr val="D3EAF6"/>
                </a:solidFill>
              </a:ln>
            </p:spPr>
          </p:sp>
          <p:sp>
            <p:nvSpPr>
              <p:cNvPr id="119" name="Shape 119"/>
              <p:cNvSpPr/>
              <p:nvPr/>
            </p:nvSpPr>
            <p:spPr>
              <a:xfrm>
                <a:off x="6377940" y="3525012"/>
                <a:ext cx="137160" cy="137160"/>
              </a:xfrm>
              <a:prstGeom prst="ellipse">
                <a:avLst/>
              </a:prstGeom>
              <a:solidFill>
                <a:srgbClr val="1A9850"/>
              </a:solidFill>
              <a:ln>
                <a:noFill/>
              </a:ln>
            </p:spPr>
          </p:sp>
          <p:sp>
            <p:nvSpPr>
              <p:cNvPr id="120" name="Shape 120"/>
              <p:cNvSpPr txBox="1"/>
              <p:nvPr/>
            </p:nvSpPr>
            <p:spPr>
              <a:xfrm>
                <a:off x="6583680" y="3429000"/>
                <a:ext cx="539496" cy="329184"/>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intact</a:t>
                </a:r>
                <a:endParaRPr lang="en-US" sz="1100" dirty="0"/>
              </a:p>
            </p:txBody>
          </p:sp>
        </p:grpSp>
        <p:grpSp>
          <p:nvGrpSpPr>
            <p:cNvPr id="121" name="Chip moderate"/>
            <p:cNvGrpSpPr/>
            <p:nvPr/>
          </p:nvGrpSpPr>
          <p:grpSpPr>
            <a:xfrm>
              <a:off x="7260336" y="3429000"/>
              <a:ext cx="1097280" cy="329184"/>
              <a:chOff x="7260336" y="3429000"/>
              <a:chExt cx="1097280" cy="329184"/>
            </a:xfrm>
          </p:grpSpPr>
          <p:sp>
            <p:nvSpPr>
              <p:cNvPr id="122" name="Shape 122"/>
              <p:cNvSpPr/>
              <p:nvPr/>
            </p:nvSpPr>
            <p:spPr>
              <a:xfrm>
                <a:off x="7260336" y="3429000"/>
                <a:ext cx="1097280" cy="329184"/>
              </a:xfrm>
              <a:prstGeom prst="roundRect">
                <a:avLst>
                  <a:gd name="adj" fmla="val 50000"/>
                </a:avLst>
              </a:prstGeom>
              <a:solidFill>
                <a:srgbClr val="FFFFFF"/>
              </a:solidFill>
              <a:ln w="12700">
                <a:solidFill>
                  <a:srgbClr val="D3EAF6"/>
                </a:solidFill>
              </a:ln>
            </p:spPr>
          </p:sp>
          <p:sp>
            <p:nvSpPr>
              <p:cNvPr id="123" name="Shape 123"/>
              <p:cNvSpPr/>
              <p:nvPr/>
            </p:nvSpPr>
            <p:spPr>
              <a:xfrm>
                <a:off x="7374636" y="3525012"/>
                <a:ext cx="137160" cy="137160"/>
              </a:xfrm>
              <a:prstGeom prst="ellipse">
                <a:avLst/>
              </a:prstGeom>
              <a:solidFill>
                <a:srgbClr val="66BD63"/>
              </a:solidFill>
              <a:ln>
                <a:noFill/>
              </a:ln>
            </p:spPr>
          </p:sp>
          <p:sp>
            <p:nvSpPr>
              <p:cNvPr id="124" name="Shape 124"/>
              <p:cNvSpPr txBox="1"/>
              <p:nvPr/>
            </p:nvSpPr>
            <p:spPr>
              <a:xfrm>
                <a:off x="7580376" y="3429000"/>
                <a:ext cx="731520" cy="329184"/>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moderate</a:t>
                </a:r>
                <a:endParaRPr lang="en-US" sz="1100" dirty="0"/>
              </a:p>
            </p:txBody>
          </p:sp>
        </p:grpSp>
        <p:grpSp>
          <p:nvGrpSpPr>
            <p:cNvPr id="125" name="Chip heavy"/>
            <p:cNvGrpSpPr/>
            <p:nvPr/>
          </p:nvGrpSpPr>
          <p:grpSpPr>
            <a:xfrm>
              <a:off x="8449056" y="3429000"/>
              <a:ext cx="809244" cy="329184"/>
              <a:chOff x="8449056" y="3429000"/>
              <a:chExt cx="809244" cy="329184"/>
            </a:xfrm>
          </p:grpSpPr>
          <p:sp>
            <p:nvSpPr>
              <p:cNvPr id="126" name="Shape 126"/>
              <p:cNvSpPr/>
              <p:nvPr/>
            </p:nvSpPr>
            <p:spPr>
              <a:xfrm>
                <a:off x="8449056" y="3429000"/>
                <a:ext cx="809244" cy="329184"/>
              </a:xfrm>
              <a:prstGeom prst="roundRect">
                <a:avLst>
                  <a:gd name="adj" fmla="val 50000"/>
                </a:avLst>
              </a:prstGeom>
              <a:solidFill>
                <a:srgbClr val="FFFFFF"/>
              </a:solidFill>
              <a:ln w="12700">
                <a:solidFill>
                  <a:srgbClr val="D3EAF6"/>
                </a:solidFill>
              </a:ln>
            </p:spPr>
          </p:sp>
          <p:sp>
            <p:nvSpPr>
              <p:cNvPr id="127" name="Shape 127"/>
              <p:cNvSpPr/>
              <p:nvPr/>
            </p:nvSpPr>
            <p:spPr>
              <a:xfrm>
                <a:off x="8563356" y="3525012"/>
                <a:ext cx="137160" cy="137160"/>
              </a:xfrm>
              <a:prstGeom prst="ellipse">
                <a:avLst/>
              </a:prstGeom>
              <a:solidFill>
                <a:srgbClr val="E6B422"/>
              </a:solidFill>
              <a:ln>
                <a:noFill/>
              </a:ln>
            </p:spPr>
          </p:sp>
          <p:sp>
            <p:nvSpPr>
              <p:cNvPr id="128" name="Shape 128"/>
              <p:cNvSpPr txBox="1"/>
              <p:nvPr/>
            </p:nvSpPr>
            <p:spPr>
              <a:xfrm>
                <a:off x="8769096" y="3429000"/>
                <a:ext cx="443484" cy="329184"/>
              </a:xfrm>
              <a:prstGeom prst="rect">
                <a:avLst/>
              </a:prstGeom>
              <a:noFill/>
              <a:ln>
                <a:noFill/>
              </a:ln>
            </p:spPr>
            <p:txBody>
              <a:bodyPr wrap="square" lIns="0" tIns="0" rIns="0" bIns="0" rtlCol="0" anchor="ctr">
                <a:noAutofit/>
              </a:bodyPr>
              <a:lstStyle/>
              <a:p>
                <a:pPr marL="0" indent="0" algn="l">
                  <a:buNone/>
                </a:pPr>
                <a:r>
                  <a:rPr lang="en-US" sz="1100" b="1" dirty="0">
                    <a:solidFill>
                      <a:srgbClr val="08325F"/>
                    </a:solidFill>
                    <a:latin typeface="Tahoma"/>
                    <a:ea typeface="Tahoma"/>
                    <a:cs typeface="Tahoma"/>
                  </a:rPr>
                  <a:t>heavy</a:t>
                </a:r>
                <a:endParaRPr lang="en-US" sz="1100" dirty="0"/>
              </a:p>
            </p:txBody>
          </p:sp>
        </p:grpSp>
        <p:grpSp>
          <p:nvGrpSpPr>
            <p:cNvPr id="129" name="Chip severe"/>
            <p:cNvGrpSpPr/>
            <p:nvPr/>
          </p:nvGrpSpPr>
          <p:grpSpPr>
            <a:xfrm>
              <a:off x="9349740" y="3429000"/>
              <a:ext cx="905256" cy="329184"/>
              <a:chOff x="9349740" y="3429000"/>
              <a:chExt cx="905256" cy="329184"/>
            </a:xfrm>
          </p:grpSpPr>
          <p:sp>
            <p:nvSpPr>
              <p:cNvPr id="130" name="Shape 130"/>
              <p:cNvSpPr/>
              <p:nvPr/>
            </p:nvSpPr>
            <p:spPr>
              <a:xfrm>
                <a:off x="9349740" y="3429000"/>
                <a:ext cx="905256" cy="329184"/>
              </a:xfrm>
              <a:prstGeom prst="roundRect">
                <a:avLst>
                  <a:gd name="adj" fmla="val 50000"/>
                </a:avLst>
              </a:prstGeom>
              <a:solidFill>
                <a:srgbClr val="FFFFFF"/>
              </a:solidFill>
              <a:ln w="12700">
                <a:solidFill>
                  <a:srgbClr val="D3EAF6"/>
                </a:solidFill>
              </a:ln>
            </p:spPr>
          </p:sp>
          <p:sp>
            <p:nvSpPr>
              <p:cNvPr id="131" name="Shape 131"/>
              <p:cNvSpPr/>
              <p:nvPr/>
            </p:nvSpPr>
            <p:spPr>
              <a:xfrm>
                <a:off x="9464040" y="3525012"/>
                <a:ext cx="137160" cy="137160"/>
              </a:xfrm>
              <a:prstGeom prst="ellipse">
                <a:avLst/>
              </a:prstGeom>
              <a:solidFill>
                <a:srgbClr val="F46D43"/>
              </a:solidFill>
              <a:ln>
                <a:noFill/>
              </a:ln>
            </p:spPr>
          </p:sp>
          <p:sp>
            <p:nvSpPr>
              <p:cNvPr id="132" name="Shape 132"/>
              <p:cNvSpPr txBox="1"/>
              <p:nvPr/>
            </p:nvSpPr>
            <p:spPr>
              <a:xfrm>
                <a:off x="9669780" y="3429000"/>
                <a:ext cx="539496" cy="329184"/>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severe</a:t>
                </a:r>
                <a:endParaRPr lang="en-US" sz="1100" dirty="0"/>
              </a:p>
            </p:txBody>
          </p:sp>
        </p:grpSp>
        <p:grpSp>
          <p:nvGrpSpPr>
            <p:cNvPr id="133" name="Chip extreme"/>
            <p:cNvGrpSpPr/>
            <p:nvPr/>
          </p:nvGrpSpPr>
          <p:grpSpPr>
            <a:xfrm>
              <a:off x="10346436" y="3429000"/>
              <a:ext cx="1001268" cy="329184"/>
              <a:chOff x="10346436" y="3429000"/>
              <a:chExt cx="1001268" cy="329184"/>
            </a:xfrm>
          </p:grpSpPr>
          <p:sp>
            <p:nvSpPr>
              <p:cNvPr id="134" name="Shape 134"/>
              <p:cNvSpPr/>
              <p:nvPr/>
            </p:nvSpPr>
            <p:spPr>
              <a:xfrm>
                <a:off x="10346436" y="3429000"/>
                <a:ext cx="1001268" cy="329184"/>
              </a:xfrm>
              <a:prstGeom prst="roundRect">
                <a:avLst>
                  <a:gd name="adj" fmla="val 50000"/>
                </a:avLst>
              </a:prstGeom>
              <a:solidFill>
                <a:srgbClr val="FFFFFF"/>
              </a:solidFill>
              <a:ln w="12700">
                <a:solidFill>
                  <a:srgbClr val="D3EAF6"/>
                </a:solidFill>
              </a:ln>
            </p:spPr>
          </p:sp>
          <p:sp>
            <p:nvSpPr>
              <p:cNvPr id="135" name="Shape 135"/>
              <p:cNvSpPr/>
              <p:nvPr/>
            </p:nvSpPr>
            <p:spPr>
              <a:xfrm>
                <a:off x="10460736" y="3525012"/>
                <a:ext cx="137160" cy="137160"/>
              </a:xfrm>
              <a:prstGeom prst="ellipse">
                <a:avLst/>
              </a:prstGeom>
              <a:solidFill>
                <a:srgbClr val="D73027"/>
              </a:solidFill>
              <a:ln>
                <a:noFill/>
              </a:ln>
            </p:spPr>
          </p:sp>
          <p:sp>
            <p:nvSpPr>
              <p:cNvPr id="136" name="Shape 136"/>
              <p:cNvSpPr txBox="1"/>
              <p:nvPr/>
            </p:nvSpPr>
            <p:spPr>
              <a:xfrm>
                <a:off x="10666476" y="3429000"/>
                <a:ext cx="635508" cy="329184"/>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extreme</a:t>
                </a:r>
                <a:endParaRPr lang="en-US" sz="1100" dirty="0"/>
              </a:p>
            </p:txBody>
          </p:sp>
        </p:grpSp>
      </p:grpSp>
      <p:sp>
        <p:nvSpPr>
          <p:cNvPr id="137" name="Fact collisions"/>
          <p:cNvSpPr txBox="1"/>
          <p:nvPr/>
        </p:nvSpPr>
        <p:spPr>
          <a:xfrm>
            <a:off x="5989320" y="4023360"/>
            <a:ext cx="5440680" cy="548640"/>
          </a:xfrm>
          <a:prstGeom prst="rect">
            <a:avLst/>
          </a:prstGeom>
          <a:noFill/>
          <a:ln>
            <a:noFill/>
          </a:ln>
        </p:spPr>
        <p:txBody>
          <a:bodyPr wrap="square" lIns="0" tIns="0" rIns="0" bIns="0" rtlCol="0" anchor="ctr">
            <a:noAutofit/>
          </a:bodyPr>
          <a:lstStyle/>
          <a:p>
            <a:pPr marL="274320" indent="-274320" algn="l">
              <a:buClr>
                <a:srgbClr val="FF9100"/>
              </a:buClr>
              <a:buSzPct val="100000"/>
              <a:buFont typeface="Arial"/>
              <a:buChar char="•"/>
            </a:pPr>
            <a:r>
              <a:rPr lang="en-US" sz="1500" dirty="0">
                <a:solidFill>
                  <a:srgbClr val="08325F"/>
                </a:solidFill>
                <a:latin typeface="Tahoma"/>
                <a:ea typeface="Tahoma"/>
                <a:cs typeface="Tahoma"/>
              </a:rPr>
              <a:t>Radio collisions: a sufficiently stronger signal wins (6 dB capture)</a:t>
            </a:r>
            <a:endParaRPr lang="en-US" sz="1500" dirty="0"/>
          </a:p>
        </p:txBody>
      </p:sp>
      <p:sp>
        <p:nvSpPr>
          <p:cNvPr id="138" name="Fact failures"/>
          <p:cNvSpPr txBox="1"/>
          <p:nvPr/>
        </p:nvSpPr>
        <p:spPr>
          <a:xfrm>
            <a:off x="5989320" y="4709160"/>
            <a:ext cx="5440680" cy="548640"/>
          </a:xfrm>
          <a:prstGeom prst="rect">
            <a:avLst/>
          </a:prstGeom>
          <a:noFill/>
          <a:ln>
            <a:noFill/>
          </a:ln>
        </p:spPr>
        <p:txBody>
          <a:bodyPr wrap="square" lIns="0" tIns="0" rIns="0" bIns="0" rtlCol="0" anchor="ctr">
            <a:noAutofit/>
          </a:bodyPr>
          <a:lstStyle/>
          <a:p>
            <a:pPr marL="274320" indent="-274320" algn="l">
              <a:buClr>
                <a:srgbClr val="FF9100"/>
              </a:buClr>
              <a:buSzPct val="100000"/>
              <a:buFont typeface="Arial"/>
              <a:buChar char="•"/>
            </a:pPr>
            <a:r>
              <a:rPr lang="en-US" sz="1500" dirty="0">
                <a:solidFill>
                  <a:srgbClr val="08325F"/>
                </a:solidFill>
                <a:latin typeface="Tahoma"/>
                <a:ea typeface="Tahoma"/>
                <a:cs typeface="Tahoma"/>
              </a:rPr>
              <a:t>Node failures: sudden, or gradual as batteries drain</a:t>
            </a:r>
            <a:endParaRPr lang="en-US" sz="1500" dirty="0"/>
          </a:p>
        </p:txBody>
      </p:sp>
      <p:cxnSp>
        <p:nvCxnSpPr>
          <p:cNvPr id="139" name="Footer rule"/>
          <p:cNvCxnSpPr/>
          <p:nvPr/>
        </p:nvCxnSpPr>
        <p:spPr>
          <a:xfrm>
            <a:off x="502920" y="6199632"/>
            <a:ext cx="11155680" cy="0"/>
          </a:xfrm>
          <a:prstGeom prst="line">
            <a:avLst/>
          </a:prstGeom>
          <a:ln w="12700">
            <a:solidFill>
              <a:srgbClr val="003E82">
                <a:alpha val="25000"/>
              </a:srgbClr>
            </a:solidFill>
          </a:ln>
        </p:spPr>
      </p:cxnSp>
      <p:pic>
        <p:nvPicPr>
          <p:cNvPr id="140"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141"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142"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10</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45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7"/>
                                        </p:tgtEl>
                                        <p:attrNameLst>
                                          <p:attrName>style.visibility</p:attrName>
                                        </p:attrNameLst>
                                      </p:cBhvr>
                                      <p:to>
                                        <p:strVal val="visible"/>
                                      </p:to>
                                    </p:set>
                                    <p:animEffect transition="in" filter="fade">
                                      <p:cBhvr>
                                        <p:cTn id="12" dur="450"/>
                                        <p:tgtEl>
                                          <p:spTgt spid="1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fade">
                                      <p:cBhvr>
                                        <p:cTn id="17" dur="45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Pipeline">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Methodology: from protocol to benchmark</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How every experiment is put together</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grpSp>
        <p:nvGrpSpPr>
          <p:cNvPr id="6" name="Pipeline step 1"/>
          <p:cNvGrpSpPr/>
          <p:nvPr/>
        </p:nvGrpSpPr>
        <p:grpSpPr>
          <a:xfrm>
            <a:off x="758952" y="1737360"/>
            <a:ext cx="2194560" cy="3291840"/>
            <a:chOff x="758952" y="1737360"/>
            <a:chExt cx="2194560" cy="3291840"/>
          </a:xfrm>
        </p:grpSpPr>
        <p:sp>
          <p:nvSpPr>
            <p:cNvPr id="7" name="Shape 7"/>
            <p:cNvSpPr/>
            <p:nvPr/>
          </p:nvSpPr>
          <p:spPr>
            <a:xfrm>
              <a:off x="758952" y="1737360"/>
              <a:ext cx="2194560" cy="658368"/>
            </a:xfrm>
            <a:prstGeom prst="homePlate">
              <a:avLst>
                <a:gd name="adj" fmla="val 32000"/>
              </a:avLst>
            </a:prstGeom>
            <a:solidFill>
              <a:srgbClr val="003E82"/>
            </a:solidFill>
            <a:ln>
              <a:noFill/>
            </a:ln>
            <a:effectLst>
              <a:outerShdw blurRad="50800" dist="25400" dir="5400000" algn="t" rotWithShape="0">
                <a:srgbClr val="0A2E5C">
                  <a:alpha val="24000"/>
                </a:srgbClr>
              </a:outerShdw>
            </a:effectLst>
          </p:spPr>
          <p:txBody>
            <a:bodyPr wrap="square" lIns="73152" tIns="0" rIns="91440" bIns="0" rtlCol="0" anchor="ctr">
              <a:noAutofit/>
            </a:bodyPr>
            <a:lstStyle/>
            <a:p>
              <a:pPr marL="0" indent="0" algn="ctr">
                <a:buNone/>
              </a:pPr>
              <a:r>
                <a:rPr lang="en-US" sz="1300" b="1" dirty="0">
                  <a:solidFill>
                    <a:srgbClr val="F7B500"/>
                  </a:solidFill>
                  <a:latin typeface="Tahoma"/>
                  <a:ea typeface="Tahoma"/>
                  <a:cs typeface="Tahoma"/>
                </a:rPr>
                <a:t>1  </a:t>
              </a:r>
              <a:r>
                <a:rPr lang="en-US" sz="1300" b="1" dirty="0">
                  <a:solidFill>
                    <a:srgbClr val="FFFFFF"/>
                  </a:solidFill>
                  <a:latin typeface="Tahoma"/>
                  <a:ea typeface="Tahoma"/>
                  <a:cs typeface="Tahoma"/>
                </a:rPr>
                <a:t>Protocol</a:t>
              </a:r>
              <a:endParaRPr lang="en-US" sz="1300" dirty="0"/>
            </a:p>
          </p:txBody>
        </p:sp>
        <p:sp>
          <p:nvSpPr>
            <p:cNvPr id="8" name="Shape 8"/>
            <p:cNvSpPr/>
            <p:nvPr/>
          </p:nvSpPr>
          <p:spPr>
            <a:xfrm>
              <a:off x="795528" y="2651760"/>
              <a:ext cx="1993392" cy="2377440"/>
            </a:xfrm>
            <a:prstGeom prst="roundRect">
              <a:avLst>
                <a:gd name="adj" fmla="val 321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9" name="Shape 9"/>
            <p:cNvSpPr txBox="1"/>
            <p:nvPr/>
          </p:nvSpPr>
          <p:spPr>
            <a:xfrm>
              <a:off x="941832" y="2834640"/>
              <a:ext cx="1719072" cy="2103120"/>
            </a:xfrm>
            <a:prstGeom prst="rect">
              <a:avLst/>
            </a:prstGeom>
            <a:noFill/>
            <a:ln>
              <a:noFill/>
            </a:ln>
          </p:spPr>
          <p:txBody>
            <a:bodyPr wrap="square" lIns="0" tIns="0" rIns="0" bIns="0" rtlCol="0" anchor="t">
              <a:noAutofit/>
            </a:bodyPr>
            <a:lstStyle/>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Beacon every 30 s</a:t>
              </a:r>
              <a:endParaRPr lang="en-US" sz="1300" dirty="0"/>
            </a:p>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Link score: PDR over the last 50 packets</a:t>
              </a:r>
              <a:endParaRPr lang="en-US" sz="1300" dirty="0"/>
            </a:p>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Gossip3: forward 75%, stay quiet after 3 copies</a:t>
              </a:r>
              <a:endParaRPr lang="en-US" sz="1300" dirty="0"/>
            </a:p>
          </p:txBody>
        </p:sp>
      </p:grpSp>
      <p:grpSp>
        <p:nvGrpSpPr>
          <p:cNvPr id="10" name="Pipeline step 2"/>
          <p:cNvGrpSpPr/>
          <p:nvPr/>
        </p:nvGrpSpPr>
        <p:grpSpPr>
          <a:xfrm>
            <a:off x="2894076" y="1737360"/>
            <a:ext cx="2194560" cy="3291840"/>
            <a:chOff x="2894076" y="1737360"/>
            <a:chExt cx="2194560" cy="3291840"/>
          </a:xfrm>
        </p:grpSpPr>
        <p:sp>
          <p:nvSpPr>
            <p:cNvPr id="11" name="Shape 11"/>
            <p:cNvSpPr/>
            <p:nvPr/>
          </p:nvSpPr>
          <p:spPr>
            <a:xfrm>
              <a:off x="2894076" y="1737360"/>
              <a:ext cx="2194560" cy="658368"/>
            </a:xfrm>
            <a:prstGeom prst="chevron">
              <a:avLst>
                <a:gd name="adj" fmla="val 32000"/>
              </a:avLst>
            </a:prstGeom>
            <a:solidFill>
              <a:srgbClr val="FF9100"/>
            </a:solidFill>
            <a:ln>
              <a:noFill/>
            </a:ln>
            <a:effectLst>
              <a:outerShdw blurRad="50800" dist="25400" dir="5400000" algn="t" rotWithShape="0">
                <a:srgbClr val="0A2E5C">
                  <a:alpha val="24000"/>
                </a:srgbClr>
              </a:outerShdw>
            </a:effectLst>
          </p:spPr>
          <p:txBody>
            <a:bodyPr wrap="square" lIns="274320" tIns="0" rIns="91440" bIns="0" rtlCol="0" anchor="ctr">
              <a:noAutofit/>
            </a:bodyPr>
            <a:lstStyle/>
            <a:p>
              <a:pPr marL="0" indent="0" algn="ctr">
                <a:buNone/>
              </a:pPr>
              <a:r>
                <a:rPr lang="en-US" sz="1300" b="1" dirty="0">
                  <a:solidFill>
                    <a:srgbClr val="003E82"/>
                  </a:solidFill>
                  <a:latin typeface="Tahoma"/>
                  <a:ea typeface="Tahoma"/>
                  <a:cs typeface="Tahoma"/>
                </a:rPr>
                <a:t>2  </a:t>
              </a:r>
              <a:r>
                <a:rPr lang="en-US" sz="1300" b="1" dirty="0">
                  <a:solidFill>
                    <a:srgbClr val="FFFFFF"/>
                  </a:solidFill>
                  <a:latin typeface="Tahoma"/>
                  <a:ea typeface="Tahoma"/>
                  <a:cs typeface="Tahoma"/>
                </a:rPr>
                <a:t>Routing task</a:t>
              </a:r>
              <a:endParaRPr lang="en-US" sz="1300" dirty="0"/>
            </a:p>
          </p:txBody>
        </p:sp>
        <p:sp>
          <p:nvSpPr>
            <p:cNvPr id="12" name="Shape 12"/>
            <p:cNvSpPr/>
            <p:nvPr/>
          </p:nvSpPr>
          <p:spPr>
            <a:xfrm>
              <a:off x="2930652" y="2651760"/>
              <a:ext cx="1993392" cy="2377440"/>
            </a:xfrm>
            <a:prstGeom prst="roundRect">
              <a:avLst>
                <a:gd name="adj" fmla="val 321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3" name="Shape 13"/>
            <p:cNvSpPr txBox="1"/>
            <p:nvPr/>
          </p:nvSpPr>
          <p:spPr>
            <a:xfrm>
              <a:off x="3076956" y="2834640"/>
              <a:ext cx="1719072" cy="2103120"/>
            </a:xfrm>
            <a:prstGeom prst="rect">
              <a:avLst/>
            </a:prstGeom>
            <a:noFill/>
            <a:ln>
              <a:noFill/>
            </a:ln>
          </p:spPr>
          <p:txBody>
            <a:bodyPr wrap="square" lIns="0" tIns="0" rIns="0" bIns="0" rtlCol="0" anchor="t">
              <a:noAutofit/>
            </a:bodyPr>
            <a:lstStyle/>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Random start → a safe zone</a:t>
              </a:r>
              <a:endParaRPr lang="en-US" sz="1300" dirty="0"/>
            </a:p>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1 hop = 10 s of simulated time</a:t>
              </a:r>
              <a:endParaRPr lang="en-US" sz="1300" dirty="0"/>
            </a:p>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Seeded, reproducible trials</a:t>
              </a:r>
              <a:endParaRPr lang="en-US" sz="1300" dirty="0"/>
            </a:p>
          </p:txBody>
        </p:sp>
      </p:grpSp>
      <p:grpSp>
        <p:nvGrpSpPr>
          <p:cNvPr id="14" name="Pipeline step 3"/>
          <p:cNvGrpSpPr/>
          <p:nvPr/>
        </p:nvGrpSpPr>
        <p:grpSpPr>
          <a:xfrm>
            <a:off x="5029200" y="1737360"/>
            <a:ext cx="2194560" cy="3291840"/>
            <a:chOff x="5029200" y="1737360"/>
            <a:chExt cx="2194560" cy="3291840"/>
          </a:xfrm>
        </p:grpSpPr>
        <p:sp>
          <p:nvSpPr>
            <p:cNvPr id="15" name="Shape 15"/>
            <p:cNvSpPr/>
            <p:nvPr/>
          </p:nvSpPr>
          <p:spPr>
            <a:xfrm>
              <a:off x="5029200" y="1737360"/>
              <a:ext cx="2194560" cy="658368"/>
            </a:xfrm>
            <a:prstGeom prst="chevron">
              <a:avLst>
                <a:gd name="adj" fmla="val 32000"/>
              </a:avLst>
            </a:prstGeom>
            <a:solidFill>
              <a:srgbClr val="003E82"/>
            </a:solidFill>
            <a:ln>
              <a:noFill/>
            </a:ln>
            <a:effectLst>
              <a:outerShdw blurRad="50800" dist="25400" dir="5400000" algn="t" rotWithShape="0">
                <a:srgbClr val="0A2E5C">
                  <a:alpha val="24000"/>
                </a:srgbClr>
              </a:outerShdw>
            </a:effectLst>
          </p:spPr>
          <p:txBody>
            <a:bodyPr wrap="square" lIns="274320" tIns="0" rIns="91440" bIns="0" rtlCol="0" anchor="ctr">
              <a:noAutofit/>
            </a:bodyPr>
            <a:lstStyle/>
            <a:p>
              <a:pPr marL="0" indent="0" algn="ctr">
                <a:buNone/>
              </a:pPr>
              <a:r>
                <a:rPr lang="en-US" sz="1300" b="1" dirty="0">
                  <a:solidFill>
                    <a:srgbClr val="F7B500"/>
                  </a:solidFill>
                  <a:latin typeface="Tahoma"/>
                  <a:ea typeface="Tahoma"/>
                  <a:cs typeface="Tahoma"/>
                </a:rPr>
                <a:t>3  </a:t>
              </a:r>
              <a:r>
                <a:rPr lang="en-US" sz="1300" b="1" dirty="0">
                  <a:solidFill>
                    <a:srgbClr val="FFFFFF"/>
                  </a:solidFill>
                  <a:latin typeface="Tahoma"/>
                  <a:ea typeface="Tahoma"/>
                  <a:cs typeface="Tahoma"/>
                </a:rPr>
                <a:t>Simulators</a:t>
              </a:r>
              <a:endParaRPr lang="en-US" sz="1300" dirty="0"/>
            </a:p>
          </p:txBody>
        </p:sp>
        <p:sp>
          <p:nvSpPr>
            <p:cNvPr id="16" name="Shape 16"/>
            <p:cNvSpPr/>
            <p:nvPr/>
          </p:nvSpPr>
          <p:spPr>
            <a:xfrm>
              <a:off x="5065776" y="2651760"/>
              <a:ext cx="1993392" cy="2377440"/>
            </a:xfrm>
            <a:prstGeom prst="roundRect">
              <a:avLst>
                <a:gd name="adj" fmla="val 321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7" name="Shape 17"/>
            <p:cNvSpPr txBox="1"/>
            <p:nvPr/>
          </p:nvSpPr>
          <p:spPr>
            <a:xfrm>
              <a:off x="5212080" y="2834640"/>
              <a:ext cx="1719072" cy="2103120"/>
            </a:xfrm>
            <a:prstGeom prst="rect">
              <a:avLst/>
            </a:prstGeom>
            <a:noFill/>
            <a:ln>
              <a:noFill/>
            </a:ln>
          </p:spPr>
          <p:txBody>
            <a:bodyPr wrap="square" lIns="0" tIns="0" rIns="0" bIns="0" rtlCol="0" anchor="t">
              <a:noAutofit/>
            </a:bodyPr>
            <a:lstStyle/>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SimPy reference: one event at a time</a:t>
              </a:r>
              <a:endParaRPr lang="en-US" sz="1300" dirty="0"/>
            </a:p>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Time-stepped: all radios together, built for AI training</a:t>
              </a:r>
              <a:endParaRPr lang="en-US" sz="1300" dirty="0"/>
            </a:p>
          </p:txBody>
        </p:sp>
      </p:grpSp>
      <p:grpSp>
        <p:nvGrpSpPr>
          <p:cNvPr id="18" name="Pipeline step 4"/>
          <p:cNvGrpSpPr/>
          <p:nvPr/>
        </p:nvGrpSpPr>
        <p:grpSpPr>
          <a:xfrm>
            <a:off x="7164324" y="1737360"/>
            <a:ext cx="2194560" cy="3291840"/>
            <a:chOff x="7164324" y="1737360"/>
            <a:chExt cx="2194560" cy="3291840"/>
          </a:xfrm>
        </p:grpSpPr>
        <p:sp>
          <p:nvSpPr>
            <p:cNvPr id="19" name="Shape 19"/>
            <p:cNvSpPr/>
            <p:nvPr/>
          </p:nvSpPr>
          <p:spPr>
            <a:xfrm>
              <a:off x="7164324" y="1737360"/>
              <a:ext cx="2194560" cy="658368"/>
            </a:xfrm>
            <a:prstGeom prst="chevron">
              <a:avLst>
                <a:gd name="adj" fmla="val 32000"/>
              </a:avLst>
            </a:prstGeom>
            <a:solidFill>
              <a:srgbClr val="FF9100"/>
            </a:solidFill>
            <a:ln>
              <a:noFill/>
            </a:ln>
            <a:effectLst>
              <a:outerShdw blurRad="50800" dist="25400" dir="5400000" algn="t" rotWithShape="0">
                <a:srgbClr val="0A2E5C">
                  <a:alpha val="24000"/>
                </a:srgbClr>
              </a:outerShdw>
            </a:effectLst>
          </p:spPr>
          <p:txBody>
            <a:bodyPr wrap="square" lIns="274320" tIns="0" rIns="91440" bIns="0" rtlCol="0" anchor="ctr">
              <a:noAutofit/>
            </a:bodyPr>
            <a:lstStyle/>
            <a:p>
              <a:pPr marL="0" indent="0" algn="ctr">
                <a:buNone/>
              </a:pPr>
              <a:r>
                <a:rPr lang="en-US" sz="1300" b="1" dirty="0">
                  <a:solidFill>
                    <a:srgbClr val="003E82"/>
                  </a:solidFill>
                  <a:latin typeface="Tahoma"/>
                  <a:ea typeface="Tahoma"/>
                  <a:cs typeface="Tahoma"/>
                </a:rPr>
                <a:t>4  </a:t>
              </a:r>
              <a:r>
                <a:rPr lang="en-US" sz="1300" b="1" dirty="0">
                  <a:solidFill>
                    <a:srgbClr val="FFFFFF"/>
                  </a:solidFill>
                  <a:latin typeface="Tahoma"/>
                  <a:ea typeface="Tahoma"/>
                  <a:cs typeface="Tahoma"/>
                </a:rPr>
                <a:t>PPO router</a:t>
              </a:r>
              <a:endParaRPr lang="en-US" sz="1300" dirty="0"/>
            </a:p>
          </p:txBody>
        </p:sp>
        <p:sp>
          <p:nvSpPr>
            <p:cNvPr id="20" name="Shape 20"/>
            <p:cNvSpPr/>
            <p:nvPr/>
          </p:nvSpPr>
          <p:spPr>
            <a:xfrm>
              <a:off x="7200900" y="2651760"/>
              <a:ext cx="1993392" cy="2377440"/>
            </a:xfrm>
            <a:prstGeom prst="roundRect">
              <a:avLst>
                <a:gd name="adj" fmla="val 321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1" name="Shape 21"/>
            <p:cNvSpPr txBox="1"/>
            <p:nvPr/>
          </p:nvSpPr>
          <p:spPr>
            <a:xfrm>
              <a:off x="7347204" y="2834640"/>
              <a:ext cx="1719072" cy="2103120"/>
            </a:xfrm>
            <a:prstGeom prst="rect">
              <a:avLst/>
            </a:prstGeom>
            <a:noFill/>
            <a:ln>
              <a:noFill/>
            </a:ln>
          </p:spPr>
          <p:txBody>
            <a:bodyPr wrap="square" lIns="0" tIns="0" rIns="0" bIns="0" rtlCol="0" anchor="t">
              <a:noAutofit/>
            </a:bodyPr>
            <a:lstStyle/>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Picks the next neighbour</a:t>
              </a:r>
              <a:endParaRPr lang="en-US" sz="1300" dirty="0"/>
            </a:p>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3 training runs × 200,000 steps</a:t>
              </a:r>
              <a:endParaRPr lang="en-US" sz="1300" dirty="0"/>
            </a:p>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Default settings</a:t>
              </a:r>
              <a:endParaRPr lang="en-US" sz="1300" dirty="0"/>
            </a:p>
          </p:txBody>
        </p:sp>
      </p:grpSp>
      <p:grpSp>
        <p:nvGrpSpPr>
          <p:cNvPr id="22" name="Pipeline step 5"/>
          <p:cNvGrpSpPr/>
          <p:nvPr/>
        </p:nvGrpSpPr>
        <p:grpSpPr>
          <a:xfrm>
            <a:off x="9299448" y="1737360"/>
            <a:ext cx="2194560" cy="3291840"/>
            <a:chOff x="9299448" y="1737360"/>
            <a:chExt cx="2194560" cy="3291840"/>
          </a:xfrm>
        </p:grpSpPr>
        <p:sp>
          <p:nvSpPr>
            <p:cNvPr id="23" name="Shape 23"/>
            <p:cNvSpPr/>
            <p:nvPr/>
          </p:nvSpPr>
          <p:spPr>
            <a:xfrm>
              <a:off x="9299448" y="1737360"/>
              <a:ext cx="2194560" cy="658368"/>
            </a:xfrm>
            <a:prstGeom prst="chevron">
              <a:avLst>
                <a:gd name="adj" fmla="val 32000"/>
              </a:avLst>
            </a:prstGeom>
            <a:solidFill>
              <a:srgbClr val="003E82"/>
            </a:solidFill>
            <a:ln>
              <a:noFill/>
            </a:ln>
            <a:effectLst>
              <a:outerShdw blurRad="50800" dist="25400" dir="5400000" algn="t" rotWithShape="0">
                <a:srgbClr val="0A2E5C">
                  <a:alpha val="24000"/>
                </a:srgbClr>
              </a:outerShdw>
            </a:effectLst>
          </p:spPr>
          <p:txBody>
            <a:bodyPr wrap="square" lIns="274320" tIns="0" rIns="91440" bIns="0" rtlCol="0" anchor="ctr">
              <a:noAutofit/>
            </a:bodyPr>
            <a:lstStyle/>
            <a:p>
              <a:pPr marL="0" indent="0" algn="ctr">
                <a:buNone/>
              </a:pPr>
              <a:r>
                <a:rPr lang="en-US" sz="1300" b="1" dirty="0">
                  <a:solidFill>
                    <a:srgbClr val="F7B500"/>
                  </a:solidFill>
                  <a:latin typeface="Tahoma"/>
                  <a:ea typeface="Tahoma"/>
                  <a:cs typeface="Tahoma"/>
                </a:rPr>
                <a:t>5  </a:t>
              </a:r>
              <a:r>
                <a:rPr lang="en-US" sz="1300" b="1" dirty="0">
                  <a:solidFill>
                    <a:srgbClr val="FFFFFF"/>
                  </a:solidFill>
                  <a:latin typeface="Tahoma"/>
                  <a:ea typeface="Tahoma"/>
                  <a:cs typeface="Tahoma"/>
                </a:rPr>
                <a:t>Benchmark</a:t>
              </a:r>
              <a:endParaRPr lang="en-US" sz="1300" dirty="0"/>
            </a:p>
          </p:txBody>
        </p:sp>
        <p:sp>
          <p:nvSpPr>
            <p:cNvPr id="24" name="Shape 24"/>
            <p:cNvSpPr/>
            <p:nvPr/>
          </p:nvSpPr>
          <p:spPr>
            <a:xfrm>
              <a:off x="9336024" y="2651760"/>
              <a:ext cx="1993392" cy="2377440"/>
            </a:xfrm>
            <a:prstGeom prst="roundRect">
              <a:avLst>
                <a:gd name="adj" fmla="val 3211"/>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5" name="Shape 25"/>
            <p:cNvSpPr txBox="1"/>
            <p:nvPr/>
          </p:nvSpPr>
          <p:spPr>
            <a:xfrm>
              <a:off x="9482328" y="2834640"/>
              <a:ext cx="1719072" cy="2103120"/>
            </a:xfrm>
            <a:prstGeom prst="rect">
              <a:avLst/>
            </a:prstGeom>
            <a:noFill/>
            <a:ln>
              <a:noFill/>
            </a:ln>
          </p:spPr>
          <p:txBody>
            <a:bodyPr wrap="square" lIns="0" tIns="0" rIns="0" bIns="0" rtlCol="0" anchor="t">
              <a:noAutofit/>
            </a:bodyPr>
            <a:lstStyle/>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Classical planners: Dijkstra and A*</a:t>
              </a:r>
              <a:endParaRPr lang="en-US" sz="1300" dirty="0"/>
            </a:p>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Static and dynamic versions</a:t>
              </a:r>
              <a:endParaRPr lang="en-US" sz="1300" dirty="0"/>
            </a:p>
            <a:p>
              <a:pPr marL="155448" indent="-155448" algn="l">
                <a:lnSpc>
                  <a:spcPct val="100000"/>
                </a:lnSpc>
                <a:spcAft>
                  <a:spcPts val="900"/>
                </a:spcAft>
                <a:buClr>
                  <a:srgbClr val="FF9100"/>
                </a:buClr>
                <a:buSzPct val="100000"/>
                <a:buFont typeface="Arial"/>
                <a:buChar char="•"/>
              </a:pPr>
              <a:r>
                <a:rPr lang="en-US" sz="1300" dirty="0">
                  <a:solidFill>
                    <a:srgbClr val="44546A"/>
                  </a:solidFill>
                  <a:latin typeface="Tahoma"/>
                  <a:ea typeface="Tahoma"/>
                  <a:cs typeface="Tahoma"/>
                </a:rPr>
                <a:t>Same setup, five damage levels</a:t>
              </a:r>
              <a:endParaRPr lang="en-US" sz="1300" dirty="0"/>
            </a:p>
          </p:txBody>
        </p:sp>
      </p:grpSp>
      <p:sp>
        <p:nvSpPr>
          <p:cNvPr id="26" name="Same framework"/>
          <p:cNvSpPr/>
          <p:nvPr/>
        </p:nvSpPr>
        <p:spPr>
          <a:xfrm>
            <a:off x="758952" y="5257800"/>
            <a:ext cx="10671048" cy="502920"/>
          </a:xfrm>
          <a:prstGeom prst="roundRect">
            <a:avLst>
              <a:gd name="adj" fmla="val 14545"/>
            </a:avLst>
          </a:prstGeom>
          <a:solidFill>
            <a:srgbClr val="EAF7FF"/>
          </a:solidFill>
          <a:ln w="12700">
            <a:solidFill>
              <a:srgbClr val="C7EAFE"/>
            </a:solidFill>
          </a:ln>
        </p:spPr>
        <p:txBody>
          <a:bodyPr wrap="square" lIns="0" tIns="0" rIns="0" bIns="0" rtlCol="0" anchor="ctr">
            <a:noAutofit/>
          </a:bodyPr>
          <a:lstStyle/>
          <a:p>
            <a:pPr marL="0" indent="0" algn="ctr">
              <a:buNone/>
            </a:pPr>
            <a:r>
              <a:rPr lang="en-US" sz="1400" b="1" dirty="0">
                <a:solidFill>
                  <a:srgbClr val="003E82"/>
                </a:solidFill>
                <a:latin typeface="Tahoma"/>
                <a:ea typeface="Tahoma"/>
                <a:cs typeface="Tahoma"/>
              </a:rPr>
              <a:t>Every routing approach runs in the same framework, across the same damage levels</a:t>
            </a:r>
            <a:endParaRPr lang="en-US" sz="1400" dirty="0"/>
          </a:p>
        </p:txBody>
      </p:sp>
      <p:cxnSp>
        <p:nvCxnSpPr>
          <p:cNvPr id="27" name="Footer rule"/>
          <p:cNvCxnSpPr/>
          <p:nvPr/>
        </p:nvCxnSpPr>
        <p:spPr>
          <a:xfrm>
            <a:off x="502920" y="6199632"/>
            <a:ext cx="11155680" cy="0"/>
          </a:xfrm>
          <a:prstGeom prst="line">
            <a:avLst/>
          </a:prstGeom>
          <a:ln w="12700">
            <a:solidFill>
              <a:srgbClr val="003E82">
                <a:alpha val="25000"/>
              </a:srgbClr>
            </a:solidFill>
          </a:ln>
        </p:spPr>
      </p:cxnSp>
      <p:pic>
        <p:nvPicPr>
          <p:cNvPr id="28"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29"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0"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11</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450"/>
                                        <p:tgtEl>
                                          <p:spTgt spid="22"/>
                                        </p:tgtEl>
                                      </p:cBhvr>
                                    </p:animEffect>
                                  </p:childTnLst>
                                </p:cTn>
                              </p:par>
                            </p:childTnLst>
                          </p:cTn>
                        </p:par>
                        <p:par>
                          <p:cTn id="28" fill="hold">
                            <p:stCondLst>
                              <p:cond delay="4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Architecture">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System design: four layers</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Paper Fig. 1  ·  The architecture of every ABOT node, inside a simulation harness</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Figure card"/>
          <p:cNvSpPr/>
          <p:nvPr/>
        </p:nvSpPr>
        <p:spPr>
          <a:xfrm>
            <a:off x="758952" y="1691640"/>
            <a:ext cx="7589520" cy="4206240"/>
          </a:xfrm>
          <a:prstGeom prst="roundRect">
            <a:avLst>
              <a:gd name="adj" fmla="val 1956"/>
            </a:avLst>
          </a:prstGeom>
          <a:solidFill>
            <a:srgbClr val="FFFFFF"/>
          </a:solidFill>
          <a:ln w="12700">
            <a:solidFill>
              <a:srgbClr val="D3EAF6"/>
            </a:solidFill>
          </a:ln>
          <a:effectLst>
            <a:outerShdw blurRad="76200" dist="19050" dir="5400000" algn="t" rotWithShape="0">
              <a:srgbClr val="0A2E5C">
                <a:alpha val="13000"/>
              </a:srgbClr>
            </a:outerShdw>
          </a:effectLst>
        </p:spPr>
      </p:sp>
      <p:pic>
        <p:nvPicPr>
          <p:cNvPr id="7" name="Paper Fig. 1" descr="ABOT's four layers, from bottom to top: physical LoRa radio, MAC and forwarding, link-state monitoring, routing and evacuation, inside a dashed simulation-harness box"/>
          <p:cNvPicPr>
            <a:picLocks noChangeAspect="1"/>
          </p:cNvPicPr>
          <p:nvPr/>
        </p:nvPicPr>
        <p:blipFill>
          <a:blip r:embed="rId4"/>
          <a:stretch>
            <a:fillRect/>
          </a:stretch>
        </p:blipFill>
        <p:spPr>
          <a:xfrm>
            <a:off x="896112" y="1879209"/>
            <a:ext cx="7315200" cy="3831102"/>
          </a:xfrm>
          <a:prstGeom prst="rect">
            <a:avLst/>
          </a:prstGeom>
        </p:spPr>
      </p:pic>
      <p:sp>
        <p:nvSpPr>
          <p:cNvPr id="8" name="Frame: decisions down"/>
          <p:cNvSpPr/>
          <p:nvPr/>
        </p:nvSpPr>
        <p:spPr>
          <a:xfrm>
            <a:off x="1057046" y="2817829"/>
            <a:ext cx="1097280" cy="2145417"/>
          </a:xfrm>
          <a:prstGeom prst="roundRect">
            <a:avLst>
              <a:gd name="adj" fmla="val 8000"/>
            </a:avLst>
          </a:prstGeom>
          <a:noFill/>
          <a:ln w="34925">
            <a:solidFill>
              <a:srgbClr val="FF9100"/>
            </a:solidFill>
          </a:ln>
        </p:spPr>
      </p:sp>
      <p:sp>
        <p:nvSpPr>
          <p:cNvPr id="9" name="Frame: measurements up"/>
          <p:cNvSpPr/>
          <p:nvPr/>
        </p:nvSpPr>
        <p:spPr>
          <a:xfrm>
            <a:off x="6397142" y="2856140"/>
            <a:ext cx="1580083" cy="2107106"/>
          </a:xfrm>
          <a:prstGeom prst="roundRect">
            <a:avLst>
              <a:gd name="adj" fmla="val 8000"/>
            </a:avLst>
          </a:prstGeom>
          <a:noFill/>
          <a:ln w="34925">
            <a:solidFill>
              <a:srgbClr val="FF9100"/>
            </a:solidFill>
          </a:ln>
        </p:spPr>
      </p:sp>
      <p:sp>
        <p:nvSpPr>
          <p:cNvPr id="10" name="Frame: harness"/>
          <p:cNvSpPr/>
          <p:nvPr/>
        </p:nvSpPr>
        <p:spPr>
          <a:xfrm>
            <a:off x="983894" y="1986480"/>
            <a:ext cx="7139635" cy="3639546"/>
          </a:xfrm>
          <a:prstGeom prst="roundRect">
            <a:avLst>
              <a:gd name="adj" fmla="val 8000"/>
            </a:avLst>
          </a:prstGeom>
          <a:noFill/>
          <a:ln w="34925">
            <a:solidFill>
              <a:srgbClr val="FF9100"/>
            </a:solidFill>
          </a:ln>
        </p:spPr>
      </p:sp>
      <p:sp>
        <p:nvSpPr>
          <p:cNvPr id="11" name="Tip 1"/>
          <p:cNvSpPr/>
          <p:nvPr/>
        </p:nvSpPr>
        <p:spPr>
          <a:xfrm>
            <a:off x="8613648" y="1691640"/>
            <a:ext cx="2816352" cy="1298448"/>
          </a:xfrm>
          <a:prstGeom prst="roundRect">
            <a:avLst>
              <a:gd name="adj" fmla="val 6338"/>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182880" tIns="73152" rIns="137160" bIns="73152" rtlCol="0" anchor="ctr">
            <a:noAutofit/>
          </a:bodyPr>
          <a:lstStyle/>
          <a:p>
            <a:pPr marL="0" indent="0" algn="l">
              <a:lnSpc>
                <a:spcPct val="102000"/>
              </a:lnSpc>
              <a:spcAft>
                <a:spcPts val="400"/>
              </a:spcAft>
              <a:buNone/>
            </a:pPr>
            <a:r>
              <a:rPr lang="en-US" sz="1400" b="1" dirty="0">
                <a:solidFill>
                  <a:srgbClr val="003E82"/>
                </a:solidFill>
                <a:latin typeface="Tahoma"/>
                <a:ea typeface="Tahoma"/>
                <a:cs typeface="Tahoma"/>
              </a:rPr>
              <a:t>↓  Decisions go down</a:t>
            </a:r>
            <a:endParaRPr lang="en-US" sz="1400" dirty="0"/>
          </a:p>
          <a:p>
            <a:pPr marL="0" indent="0" algn="l">
              <a:lnSpc>
                <a:spcPct val="102000"/>
              </a:lnSpc>
              <a:buNone/>
            </a:pPr>
            <a:r>
              <a:rPr lang="en-US" sz="1200" dirty="0">
                <a:solidFill>
                  <a:srgbClr val="44546A"/>
                </a:solidFill>
                <a:latin typeface="Tahoma"/>
                <a:ea typeface="Tahoma"/>
                <a:cs typeface="Tahoma"/>
              </a:rPr>
              <a:t>Layer 4 picks the next hop; Layer 2 sends it as a LoRa transmission</a:t>
            </a:r>
            <a:endParaRPr lang="en-US" sz="1200" dirty="0"/>
          </a:p>
        </p:txBody>
      </p:sp>
      <p:sp>
        <p:nvSpPr>
          <p:cNvPr id="12" name="Tip 2"/>
          <p:cNvSpPr/>
          <p:nvPr/>
        </p:nvSpPr>
        <p:spPr>
          <a:xfrm>
            <a:off x="8613648" y="3127248"/>
            <a:ext cx="2816352" cy="1298448"/>
          </a:xfrm>
          <a:prstGeom prst="roundRect">
            <a:avLst>
              <a:gd name="adj" fmla="val 6338"/>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182880" tIns="73152" rIns="137160" bIns="73152" rtlCol="0" anchor="ctr">
            <a:noAutofit/>
          </a:bodyPr>
          <a:lstStyle/>
          <a:p>
            <a:pPr marL="0" indent="0" algn="l">
              <a:lnSpc>
                <a:spcPct val="102000"/>
              </a:lnSpc>
              <a:spcAft>
                <a:spcPts val="400"/>
              </a:spcAft>
              <a:buNone/>
            </a:pPr>
            <a:r>
              <a:rPr lang="en-US" sz="1400" b="1" dirty="0">
                <a:solidFill>
                  <a:srgbClr val="003E82"/>
                </a:solidFill>
                <a:latin typeface="Tahoma"/>
                <a:ea typeface="Tahoma"/>
                <a:cs typeface="Tahoma"/>
              </a:rPr>
              <a:t>↑  Measurements go up</a:t>
            </a:r>
            <a:endParaRPr lang="en-US" sz="1400" dirty="0"/>
          </a:p>
          <a:p>
            <a:pPr marL="0" indent="0" algn="l">
              <a:lnSpc>
                <a:spcPct val="102000"/>
              </a:lnSpc>
              <a:buNone/>
            </a:pPr>
            <a:r>
              <a:rPr lang="en-US" sz="1200" dirty="0">
                <a:solidFill>
                  <a:srgbClr val="44546A"/>
                </a:solidFill>
                <a:latin typeface="Tahoma"/>
                <a:ea typeface="Tahoma"/>
                <a:cs typeface="Tahoma"/>
              </a:rPr>
              <a:t>Received frames → de-duplicated beacons → PDR, RSSI and reachability for routing</a:t>
            </a:r>
            <a:endParaRPr lang="en-US" sz="1200" dirty="0"/>
          </a:p>
        </p:txBody>
      </p:sp>
      <p:sp>
        <p:nvSpPr>
          <p:cNvPr id="13" name="Tip 3"/>
          <p:cNvSpPr/>
          <p:nvPr/>
        </p:nvSpPr>
        <p:spPr>
          <a:xfrm>
            <a:off x="8613648" y="4562856"/>
            <a:ext cx="2816352" cy="1298448"/>
          </a:xfrm>
          <a:prstGeom prst="roundRect">
            <a:avLst>
              <a:gd name="adj" fmla="val 6338"/>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182880" tIns="73152" rIns="137160" bIns="73152" rtlCol="0" anchor="ctr">
            <a:noAutofit/>
          </a:bodyPr>
          <a:lstStyle/>
          <a:p>
            <a:pPr marL="0" indent="0" algn="l">
              <a:lnSpc>
                <a:spcPct val="102000"/>
              </a:lnSpc>
              <a:spcAft>
                <a:spcPts val="400"/>
              </a:spcAft>
              <a:buNone/>
            </a:pPr>
            <a:r>
              <a:rPr lang="en-US" sz="1400" b="1" dirty="0">
                <a:solidFill>
                  <a:srgbClr val="003E82"/>
                </a:solidFill>
                <a:latin typeface="Tahoma"/>
                <a:ea typeface="Tahoma"/>
                <a:cs typeface="Tahoma"/>
              </a:rPr>
              <a:t>Dashed box: the harness</a:t>
            </a:r>
            <a:endParaRPr lang="en-US" sz="1400" dirty="0"/>
          </a:p>
          <a:p>
            <a:pPr marL="0" indent="0" algn="l">
              <a:lnSpc>
                <a:spcPct val="102000"/>
              </a:lnSpc>
              <a:buNone/>
            </a:pPr>
            <a:r>
              <a:rPr lang="en-US" sz="1200" dirty="0">
                <a:solidFill>
                  <a:srgbClr val="44546A"/>
                </a:solidFill>
                <a:latin typeface="Tahoma"/>
                <a:ea typeface="Tahoma"/>
                <a:cs typeface="Tahoma"/>
              </a:rPr>
              <a:t>Used only to train and evaluate; not part of a deployed node</a:t>
            </a:r>
            <a:endParaRPr lang="en-US" sz="1200" dirty="0"/>
          </a:p>
        </p:txBody>
      </p:sp>
      <p:cxnSp>
        <p:nvCxnSpPr>
          <p:cNvPr id="14" name="Footer rule"/>
          <p:cNvCxnSpPr/>
          <p:nvPr/>
        </p:nvCxnSpPr>
        <p:spPr>
          <a:xfrm>
            <a:off x="502920" y="6199632"/>
            <a:ext cx="11155680" cy="0"/>
          </a:xfrm>
          <a:prstGeom prst="line">
            <a:avLst/>
          </a:prstGeom>
          <a:ln w="12700">
            <a:solidFill>
              <a:srgbClr val="003E82">
                <a:alpha val="25000"/>
              </a:srgbClr>
            </a:solidFill>
          </a:ln>
        </p:spPr>
      </p:cxnSp>
      <p:pic>
        <p:nvPicPr>
          <p:cNvPr id="15" name="HTC 2026 logo" descr="IEEE R10 HTC 2026 logo"/>
          <p:cNvPicPr>
            <a:picLocks noChangeAspect="1"/>
          </p:cNvPicPr>
          <p:nvPr/>
        </p:nvPicPr>
        <p:blipFill>
          <a:blip r:embed="rId5"/>
          <a:stretch>
            <a:fillRect/>
          </a:stretch>
        </p:blipFill>
        <p:spPr>
          <a:xfrm>
            <a:off x="724845" y="6291072"/>
            <a:ext cx="790682" cy="411480"/>
          </a:xfrm>
          <a:prstGeom prst="rect">
            <a:avLst/>
          </a:prstGeom>
        </p:spPr>
      </p:pic>
      <p:sp>
        <p:nvSpPr>
          <p:cNvPr id="16"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17"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12</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50"/>
                                        <p:tgtEl>
                                          <p:spTgt spid="8"/>
                                        </p:tgtEl>
                                      </p:cBhvr>
                                    </p:animEffect>
                                    <p:set>
                                      <p:cBhvr>
                                        <p:cTn id="15" dur="1" fill="hold">
                                          <p:stCondLst>
                                            <p:cond delay="349"/>
                                          </p:stCondLst>
                                        </p:cTn>
                                        <p:tgtEl>
                                          <p:spTgt spid="8"/>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350"/>
                                        <p:tgtEl>
                                          <p:spTgt spid="9"/>
                                        </p:tgtEl>
                                      </p:cBhvr>
                                    </p:animEffect>
                                    <p:set>
                                      <p:cBhvr>
                                        <p:cTn id="26" dur="1" fill="hold">
                                          <p:stCondLst>
                                            <p:cond delay="349"/>
                                          </p:stCondLst>
                                        </p:cTn>
                                        <p:tgtEl>
                                          <p:spTgt spid="9"/>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Four layers">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System design: layer by layer</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Each layer handles one part of communication</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Layer 4 (base)"/>
          <p:cNvSpPr/>
          <p:nvPr/>
        </p:nvSpPr>
        <p:spPr>
          <a:xfrm>
            <a:off x="758952" y="1691640"/>
            <a:ext cx="4754880" cy="758952"/>
          </a:xfrm>
          <a:prstGeom prst="roundRect">
            <a:avLst>
              <a:gd name="adj" fmla="val 10000"/>
            </a:avLst>
          </a:prstGeom>
          <a:solidFill>
            <a:srgbClr val="E5E0F5"/>
          </a:solidFill>
          <a:ln w="19050">
            <a:solidFill>
              <a:srgbClr val="5B45B0"/>
            </a:solidFill>
          </a:ln>
        </p:spPr>
      </p:sp>
      <p:sp>
        <p:nvSpPr>
          <p:cNvPr id="7" name="Shape 7"/>
          <p:cNvSpPr/>
          <p:nvPr/>
        </p:nvSpPr>
        <p:spPr>
          <a:xfrm>
            <a:off x="914400" y="1842516"/>
            <a:ext cx="502920" cy="457200"/>
          </a:xfrm>
          <a:prstGeom prst="roundRect">
            <a:avLst>
              <a:gd name="adj" fmla="val 18000"/>
            </a:avLst>
          </a:prstGeom>
          <a:solidFill>
            <a:srgbClr val="5B45B0"/>
          </a:solid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L4</a:t>
            </a:r>
            <a:endParaRPr lang="en-US" sz="1300" dirty="0"/>
          </a:p>
        </p:txBody>
      </p:sp>
      <p:sp>
        <p:nvSpPr>
          <p:cNvPr id="8" name="Shape 8"/>
          <p:cNvSpPr txBox="1"/>
          <p:nvPr/>
        </p:nvSpPr>
        <p:spPr>
          <a:xfrm>
            <a:off x="1600200" y="1691640"/>
            <a:ext cx="3749040" cy="758952"/>
          </a:xfrm>
          <a:prstGeom prst="rect">
            <a:avLst/>
          </a:prstGeom>
          <a:noFill/>
          <a:ln>
            <a:noFill/>
          </a:ln>
        </p:spPr>
        <p:txBody>
          <a:bodyPr wrap="square" lIns="0" tIns="0" rIns="0" bIns="0" rtlCol="0" anchor="ctr">
            <a:noAutofit/>
          </a:bodyPr>
          <a:lstStyle/>
          <a:p>
            <a:pPr marL="0" indent="0" algn="l">
              <a:buNone/>
            </a:pPr>
            <a:r>
              <a:rPr lang="en-US" sz="1600" b="1" dirty="0">
                <a:solidFill>
                  <a:srgbClr val="08325F"/>
                </a:solidFill>
                <a:latin typeface="Tahoma"/>
                <a:ea typeface="Tahoma"/>
                <a:cs typeface="Tahoma"/>
              </a:rPr>
              <a:t>Routing &amp; evacuation</a:t>
            </a:r>
            <a:endParaRPr lang="en-US" sz="1600" dirty="0"/>
          </a:p>
        </p:txBody>
      </p:sp>
      <p:grpSp>
        <p:nvGrpSpPr>
          <p:cNvPr id="9" name="Layer 4 (highlight)"/>
          <p:cNvGrpSpPr/>
          <p:nvPr/>
        </p:nvGrpSpPr>
        <p:grpSpPr>
          <a:xfrm>
            <a:off x="758952" y="1691640"/>
            <a:ext cx="5138928" cy="758952"/>
            <a:chOff x="758952" y="1691640"/>
            <a:chExt cx="5138928" cy="758952"/>
          </a:xfrm>
        </p:grpSpPr>
        <p:sp>
          <p:nvSpPr>
            <p:cNvPr id="10" name="Shape 10"/>
            <p:cNvSpPr/>
            <p:nvPr/>
          </p:nvSpPr>
          <p:spPr>
            <a:xfrm>
              <a:off x="758952" y="1691640"/>
              <a:ext cx="5138928" cy="758952"/>
            </a:xfrm>
            <a:prstGeom prst="homePlate">
              <a:avLst>
                <a:gd name="adj" fmla="val 42000"/>
              </a:avLst>
            </a:prstGeom>
            <a:solidFill>
              <a:srgbClr val="5B45B0"/>
            </a:solidFill>
            <a:ln w="19050">
              <a:solidFill>
                <a:srgbClr val="5B45B0"/>
              </a:solidFill>
            </a:ln>
            <a:effectLst>
              <a:outerShdw blurRad="50800" dist="25400" dir="5400000" algn="t" rotWithShape="0">
                <a:srgbClr val="0A2E5C">
                  <a:alpha val="24000"/>
                </a:srgbClr>
              </a:outerShdw>
            </a:effectLst>
          </p:spPr>
        </p:sp>
        <p:sp>
          <p:nvSpPr>
            <p:cNvPr id="11" name="Shape 11"/>
            <p:cNvSpPr/>
            <p:nvPr/>
          </p:nvSpPr>
          <p:spPr>
            <a:xfrm>
              <a:off x="914400" y="1842516"/>
              <a:ext cx="502920" cy="457200"/>
            </a:xfrm>
            <a:prstGeom prst="roundRect">
              <a:avLst>
                <a:gd name="adj" fmla="val 18000"/>
              </a:avLst>
            </a:prstGeom>
            <a:solidFill>
              <a:srgbClr val="FFFFFF"/>
            </a:solidFill>
            <a:ln>
              <a:noFill/>
            </a:ln>
          </p:spPr>
          <p:txBody>
            <a:bodyPr wrap="square" lIns="0" tIns="0" rIns="0" bIns="0" rtlCol="0" anchor="ctr">
              <a:noAutofit/>
            </a:bodyPr>
            <a:lstStyle/>
            <a:p>
              <a:pPr marL="0" indent="0" algn="ctr">
                <a:buNone/>
              </a:pPr>
              <a:r>
                <a:rPr lang="en-US" sz="1300" b="1" dirty="0">
                  <a:solidFill>
                    <a:srgbClr val="5B45B0"/>
                  </a:solidFill>
                  <a:latin typeface="Tahoma"/>
                  <a:ea typeface="Tahoma"/>
                  <a:cs typeface="Tahoma"/>
                </a:rPr>
                <a:t>L4</a:t>
              </a:r>
              <a:endParaRPr lang="en-US" sz="1300" dirty="0"/>
            </a:p>
          </p:txBody>
        </p:sp>
        <p:sp>
          <p:nvSpPr>
            <p:cNvPr id="12" name="Shape 12"/>
            <p:cNvSpPr txBox="1"/>
            <p:nvPr/>
          </p:nvSpPr>
          <p:spPr>
            <a:xfrm>
              <a:off x="1600200" y="1691640"/>
              <a:ext cx="3749040" cy="758952"/>
            </a:xfrm>
            <a:prstGeom prst="rect">
              <a:avLst/>
            </a:prstGeom>
            <a:noFill/>
            <a:ln>
              <a:noFill/>
            </a:ln>
          </p:spPr>
          <p:txBody>
            <a:bodyPr wrap="square" lIns="0" tIns="0" rIns="0" bIns="0" rtlCol="0" anchor="ctr">
              <a:noAutofit/>
            </a:bodyPr>
            <a:lstStyle/>
            <a:p>
              <a:pPr marL="0" indent="0" algn="l">
                <a:buNone/>
              </a:pPr>
              <a:r>
                <a:rPr lang="en-US" sz="1600" b="1" dirty="0">
                  <a:solidFill>
                    <a:srgbClr val="FFFFFF"/>
                  </a:solidFill>
                  <a:latin typeface="Tahoma"/>
                  <a:ea typeface="Tahoma"/>
                  <a:cs typeface="Tahoma"/>
                </a:rPr>
                <a:t>Routing &amp; evacuation</a:t>
              </a:r>
              <a:endParaRPr lang="en-US" sz="1600" dirty="0"/>
            </a:p>
          </p:txBody>
        </p:sp>
      </p:grpSp>
      <p:sp>
        <p:nvSpPr>
          <p:cNvPr id="13" name="Layer 3 (base)"/>
          <p:cNvSpPr/>
          <p:nvPr/>
        </p:nvSpPr>
        <p:spPr>
          <a:xfrm>
            <a:off x="758952" y="2587752"/>
            <a:ext cx="4754880" cy="758952"/>
          </a:xfrm>
          <a:prstGeom prst="roundRect">
            <a:avLst>
              <a:gd name="adj" fmla="val 10000"/>
            </a:avLst>
          </a:prstGeom>
          <a:solidFill>
            <a:srgbClr val="D7F2E8"/>
          </a:solidFill>
          <a:ln w="19050">
            <a:solidFill>
              <a:srgbClr val="1FA37A"/>
            </a:solidFill>
          </a:ln>
        </p:spPr>
      </p:sp>
      <p:sp>
        <p:nvSpPr>
          <p:cNvPr id="14" name="Shape 14"/>
          <p:cNvSpPr/>
          <p:nvPr/>
        </p:nvSpPr>
        <p:spPr>
          <a:xfrm>
            <a:off x="914400" y="2738628"/>
            <a:ext cx="502920" cy="457200"/>
          </a:xfrm>
          <a:prstGeom prst="roundRect">
            <a:avLst>
              <a:gd name="adj" fmla="val 18000"/>
            </a:avLst>
          </a:prstGeom>
          <a:solidFill>
            <a:srgbClr val="1FA37A"/>
          </a:solid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L3</a:t>
            </a:r>
            <a:endParaRPr lang="en-US" sz="1300" dirty="0"/>
          </a:p>
        </p:txBody>
      </p:sp>
      <p:sp>
        <p:nvSpPr>
          <p:cNvPr id="15" name="Shape 15"/>
          <p:cNvSpPr txBox="1"/>
          <p:nvPr/>
        </p:nvSpPr>
        <p:spPr>
          <a:xfrm>
            <a:off x="1600200" y="2587752"/>
            <a:ext cx="3749040" cy="758952"/>
          </a:xfrm>
          <a:prstGeom prst="rect">
            <a:avLst/>
          </a:prstGeom>
          <a:noFill/>
          <a:ln>
            <a:noFill/>
          </a:ln>
        </p:spPr>
        <p:txBody>
          <a:bodyPr wrap="square" lIns="0" tIns="0" rIns="0" bIns="0" rtlCol="0" anchor="ctr">
            <a:noAutofit/>
          </a:bodyPr>
          <a:lstStyle/>
          <a:p>
            <a:pPr marL="0" indent="0" algn="l">
              <a:buNone/>
            </a:pPr>
            <a:r>
              <a:rPr lang="en-US" sz="1600" b="1" dirty="0">
                <a:solidFill>
                  <a:srgbClr val="08325F"/>
                </a:solidFill>
                <a:latin typeface="Tahoma"/>
                <a:ea typeface="Tahoma"/>
                <a:cs typeface="Tahoma"/>
              </a:rPr>
              <a:t>Link-state monitoring</a:t>
            </a:r>
            <a:endParaRPr lang="en-US" sz="1600" dirty="0"/>
          </a:p>
        </p:txBody>
      </p:sp>
      <p:grpSp>
        <p:nvGrpSpPr>
          <p:cNvPr id="16" name="Layer 3 (highlight)"/>
          <p:cNvGrpSpPr/>
          <p:nvPr/>
        </p:nvGrpSpPr>
        <p:grpSpPr>
          <a:xfrm>
            <a:off x="758952" y="2587752"/>
            <a:ext cx="5138928" cy="758952"/>
            <a:chOff x="758952" y="2587752"/>
            <a:chExt cx="5138928" cy="758952"/>
          </a:xfrm>
        </p:grpSpPr>
        <p:sp>
          <p:nvSpPr>
            <p:cNvPr id="17" name="Shape 17"/>
            <p:cNvSpPr/>
            <p:nvPr/>
          </p:nvSpPr>
          <p:spPr>
            <a:xfrm>
              <a:off x="758952" y="2587752"/>
              <a:ext cx="5138928" cy="758952"/>
            </a:xfrm>
            <a:prstGeom prst="homePlate">
              <a:avLst>
                <a:gd name="adj" fmla="val 42000"/>
              </a:avLst>
            </a:prstGeom>
            <a:solidFill>
              <a:srgbClr val="1FA37A"/>
            </a:solidFill>
            <a:ln w="19050">
              <a:solidFill>
                <a:srgbClr val="1FA37A"/>
              </a:solidFill>
            </a:ln>
            <a:effectLst>
              <a:outerShdw blurRad="50800" dist="25400" dir="5400000" algn="t" rotWithShape="0">
                <a:srgbClr val="0A2E5C">
                  <a:alpha val="24000"/>
                </a:srgbClr>
              </a:outerShdw>
            </a:effectLst>
          </p:spPr>
        </p:sp>
        <p:sp>
          <p:nvSpPr>
            <p:cNvPr id="18" name="Shape 18"/>
            <p:cNvSpPr/>
            <p:nvPr/>
          </p:nvSpPr>
          <p:spPr>
            <a:xfrm>
              <a:off x="914400" y="2738628"/>
              <a:ext cx="502920" cy="457200"/>
            </a:xfrm>
            <a:prstGeom prst="roundRect">
              <a:avLst>
                <a:gd name="adj" fmla="val 18000"/>
              </a:avLst>
            </a:prstGeom>
            <a:solidFill>
              <a:srgbClr val="FFFFFF"/>
            </a:solidFill>
            <a:ln>
              <a:noFill/>
            </a:ln>
          </p:spPr>
          <p:txBody>
            <a:bodyPr wrap="square" lIns="0" tIns="0" rIns="0" bIns="0" rtlCol="0" anchor="ctr">
              <a:noAutofit/>
            </a:bodyPr>
            <a:lstStyle/>
            <a:p>
              <a:pPr marL="0" indent="0" algn="ctr">
                <a:buNone/>
              </a:pPr>
              <a:r>
                <a:rPr lang="en-US" sz="1300" b="1" dirty="0">
                  <a:solidFill>
                    <a:srgbClr val="1FA37A"/>
                  </a:solidFill>
                  <a:latin typeface="Tahoma"/>
                  <a:ea typeface="Tahoma"/>
                  <a:cs typeface="Tahoma"/>
                </a:rPr>
                <a:t>L3</a:t>
              </a:r>
              <a:endParaRPr lang="en-US" sz="1300" dirty="0"/>
            </a:p>
          </p:txBody>
        </p:sp>
        <p:sp>
          <p:nvSpPr>
            <p:cNvPr id="19" name="Shape 19"/>
            <p:cNvSpPr txBox="1"/>
            <p:nvPr/>
          </p:nvSpPr>
          <p:spPr>
            <a:xfrm>
              <a:off x="1600200" y="2587752"/>
              <a:ext cx="3749040" cy="758952"/>
            </a:xfrm>
            <a:prstGeom prst="rect">
              <a:avLst/>
            </a:prstGeom>
            <a:noFill/>
            <a:ln>
              <a:noFill/>
            </a:ln>
          </p:spPr>
          <p:txBody>
            <a:bodyPr wrap="square" lIns="0" tIns="0" rIns="0" bIns="0" rtlCol="0" anchor="ctr">
              <a:noAutofit/>
            </a:bodyPr>
            <a:lstStyle/>
            <a:p>
              <a:pPr marL="0" indent="0" algn="l">
                <a:buNone/>
              </a:pPr>
              <a:r>
                <a:rPr lang="en-US" sz="1600" b="1" dirty="0">
                  <a:solidFill>
                    <a:srgbClr val="FFFFFF"/>
                  </a:solidFill>
                  <a:latin typeface="Tahoma"/>
                  <a:ea typeface="Tahoma"/>
                  <a:cs typeface="Tahoma"/>
                </a:rPr>
                <a:t>Link-state monitoring</a:t>
              </a:r>
              <a:endParaRPr lang="en-US" sz="1600" dirty="0"/>
            </a:p>
          </p:txBody>
        </p:sp>
      </p:grpSp>
      <p:sp>
        <p:nvSpPr>
          <p:cNvPr id="20" name="Layer 2 (base)"/>
          <p:cNvSpPr/>
          <p:nvPr/>
        </p:nvSpPr>
        <p:spPr>
          <a:xfrm>
            <a:off x="758952" y="3483864"/>
            <a:ext cx="4754880" cy="758952"/>
          </a:xfrm>
          <a:prstGeom prst="roundRect">
            <a:avLst>
              <a:gd name="adj" fmla="val 10000"/>
            </a:avLst>
          </a:prstGeom>
          <a:solidFill>
            <a:srgbClr val="FCE5D8"/>
          </a:solidFill>
          <a:ln w="19050">
            <a:solidFill>
              <a:srgbClr val="E8743B"/>
            </a:solidFill>
          </a:ln>
        </p:spPr>
      </p:sp>
      <p:sp>
        <p:nvSpPr>
          <p:cNvPr id="21" name="Shape 21"/>
          <p:cNvSpPr/>
          <p:nvPr/>
        </p:nvSpPr>
        <p:spPr>
          <a:xfrm>
            <a:off x="914400" y="3634740"/>
            <a:ext cx="502920" cy="457200"/>
          </a:xfrm>
          <a:prstGeom prst="roundRect">
            <a:avLst>
              <a:gd name="adj" fmla="val 18000"/>
            </a:avLst>
          </a:prstGeom>
          <a:solidFill>
            <a:srgbClr val="E8743B"/>
          </a:solid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L2</a:t>
            </a:r>
            <a:endParaRPr lang="en-US" sz="1300" dirty="0"/>
          </a:p>
        </p:txBody>
      </p:sp>
      <p:sp>
        <p:nvSpPr>
          <p:cNvPr id="22" name="Shape 22"/>
          <p:cNvSpPr txBox="1"/>
          <p:nvPr/>
        </p:nvSpPr>
        <p:spPr>
          <a:xfrm>
            <a:off x="1600200" y="3483864"/>
            <a:ext cx="3749040" cy="758952"/>
          </a:xfrm>
          <a:prstGeom prst="rect">
            <a:avLst/>
          </a:prstGeom>
          <a:noFill/>
          <a:ln>
            <a:noFill/>
          </a:ln>
        </p:spPr>
        <p:txBody>
          <a:bodyPr wrap="square" lIns="0" tIns="0" rIns="0" bIns="0" rtlCol="0" anchor="ctr">
            <a:noAutofit/>
          </a:bodyPr>
          <a:lstStyle/>
          <a:p>
            <a:pPr marL="0" indent="0" algn="l">
              <a:buNone/>
            </a:pPr>
            <a:r>
              <a:rPr lang="en-US" sz="1600" b="1" dirty="0">
                <a:solidFill>
                  <a:srgbClr val="08325F"/>
                </a:solidFill>
                <a:latin typeface="Tahoma"/>
                <a:ea typeface="Tahoma"/>
                <a:cs typeface="Tahoma"/>
              </a:rPr>
              <a:t>MAC &amp; forwarding</a:t>
            </a:r>
            <a:endParaRPr lang="en-US" sz="1600" dirty="0"/>
          </a:p>
        </p:txBody>
      </p:sp>
      <p:grpSp>
        <p:nvGrpSpPr>
          <p:cNvPr id="23" name="Layer 2 (highlight)"/>
          <p:cNvGrpSpPr/>
          <p:nvPr/>
        </p:nvGrpSpPr>
        <p:grpSpPr>
          <a:xfrm>
            <a:off x="758952" y="3483864"/>
            <a:ext cx="5138928" cy="758952"/>
            <a:chOff x="758952" y="3483864"/>
            <a:chExt cx="5138928" cy="758952"/>
          </a:xfrm>
        </p:grpSpPr>
        <p:sp>
          <p:nvSpPr>
            <p:cNvPr id="24" name="Shape 24"/>
            <p:cNvSpPr/>
            <p:nvPr/>
          </p:nvSpPr>
          <p:spPr>
            <a:xfrm>
              <a:off x="758952" y="3483864"/>
              <a:ext cx="5138928" cy="758952"/>
            </a:xfrm>
            <a:prstGeom prst="homePlate">
              <a:avLst>
                <a:gd name="adj" fmla="val 42000"/>
              </a:avLst>
            </a:prstGeom>
            <a:solidFill>
              <a:srgbClr val="E8743B"/>
            </a:solidFill>
            <a:ln w="19050">
              <a:solidFill>
                <a:srgbClr val="E8743B"/>
              </a:solidFill>
            </a:ln>
            <a:effectLst>
              <a:outerShdw blurRad="50800" dist="25400" dir="5400000" algn="t" rotWithShape="0">
                <a:srgbClr val="0A2E5C">
                  <a:alpha val="24000"/>
                </a:srgbClr>
              </a:outerShdw>
            </a:effectLst>
          </p:spPr>
        </p:sp>
        <p:sp>
          <p:nvSpPr>
            <p:cNvPr id="25" name="Shape 25"/>
            <p:cNvSpPr/>
            <p:nvPr/>
          </p:nvSpPr>
          <p:spPr>
            <a:xfrm>
              <a:off x="914400" y="3634740"/>
              <a:ext cx="502920" cy="457200"/>
            </a:xfrm>
            <a:prstGeom prst="roundRect">
              <a:avLst>
                <a:gd name="adj" fmla="val 18000"/>
              </a:avLst>
            </a:prstGeom>
            <a:solidFill>
              <a:srgbClr val="FFFFFF"/>
            </a:solidFill>
            <a:ln>
              <a:noFill/>
            </a:ln>
          </p:spPr>
          <p:txBody>
            <a:bodyPr wrap="square" lIns="0" tIns="0" rIns="0" bIns="0" rtlCol="0" anchor="ctr">
              <a:noAutofit/>
            </a:bodyPr>
            <a:lstStyle/>
            <a:p>
              <a:pPr marL="0" indent="0" algn="ctr">
                <a:buNone/>
              </a:pPr>
              <a:r>
                <a:rPr lang="en-US" sz="1300" b="1" dirty="0">
                  <a:solidFill>
                    <a:srgbClr val="E8743B"/>
                  </a:solidFill>
                  <a:latin typeface="Tahoma"/>
                  <a:ea typeface="Tahoma"/>
                  <a:cs typeface="Tahoma"/>
                </a:rPr>
                <a:t>L2</a:t>
              </a:r>
              <a:endParaRPr lang="en-US" sz="1300" dirty="0"/>
            </a:p>
          </p:txBody>
        </p:sp>
        <p:sp>
          <p:nvSpPr>
            <p:cNvPr id="26" name="Shape 26"/>
            <p:cNvSpPr txBox="1"/>
            <p:nvPr/>
          </p:nvSpPr>
          <p:spPr>
            <a:xfrm>
              <a:off x="1600200" y="3483864"/>
              <a:ext cx="3749040" cy="758952"/>
            </a:xfrm>
            <a:prstGeom prst="rect">
              <a:avLst/>
            </a:prstGeom>
            <a:noFill/>
            <a:ln>
              <a:noFill/>
            </a:ln>
          </p:spPr>
          <p:txBody>
            <a:bodyPr wrap="square" lIns="0" tIns="0" rIns="0" bIns="0" rtlCol="0" anchor="ctr">
              <a:noAutofit/>
            </a:bodyPr>
            <a:lstStyle/>
            <a:p>
              <a:pPr marL="0" indent="0" algn="l">
                <a:buNone/>
              </a:pPr>
              <a:r>
                <a:rPr lang="en-US" sz="1600" b="1" dirty="0">
                  <a:solidFill>
                    <a:srgbClr val="FFFFFF"/>
                  </a:solidFill>
                  <a:latin typeface="Tahoma"/>
                  <a:ea typeface="Tahoma"/>
                  <a:cs typeface="Tahoma"/>
                </a:rPr>
                <a:t>MAC &amp; forwarding</a:t>
              </a:r>
              <a:endParaRPr lang="en-US" sz="1600" dirty="0"/>
            </a:p>
          </p:txBody>
        </p:sp>
      </p:grpSp>
      <p:sp>
        <p:nvSpPr>
          <p:cNvPr id="27" name="Layer 1 (base)"/>
          <p:cNvSpPr/>
          <p:nvPr/>
        </p:nvSpPr>
        <p:spPr>
          <a:xfrm>
            <a:off x="758952" y="4379976"/>
            <a:ext cx="4754880" cy="758952"/>
          </a:xfrm>
          <a:prstGeom prst="roundRect">
            <a:avLst>
              <a:gd name="adj" fmla="val 10000"/>
            </a:avLst>
          </a:prstGeom>
          <a:solidFill>
            <a:srgbClr val="DDEBFA"/>
          </a:solidFill>
          <a:ln w="19050">
            <a:solidFill>
              <a:srgbClr val="2A78D6"/>
            </a:solidFill>
          </a:ln>
        </p:spPr>
      </p:sp>
      <p:sp>
        <p:nvSpPr>
          <p:cNvPr id="28" name="Shape 28"/>
          <p:cNvSpPr/>
          <p:nvPr/>
        </p:nvSpPr>
        <p:spPr>
          <a:xfrm>
            <a:off x="914400" y="4530852"/>
            <a:ext cx="502920" cy="457200"/>
          </a:xfrm>
          <a:prstGeom prst="roundRect">
            <a:avLst>
              <a:gd name="adj" fmla="val 18000"/>
            </a:avLst>
          </a:prstGeom>
          <a:solidFill>
            <a:srgbClr val="2A78D6"/>
          </a:solid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L1</a:t>
            </a:r>
            <a:endParaRPr lang="en-US" sz="1300" dirty="0"/>
          </a:p>
        </p:txBody>
      </p:sp>
      <p:sp>
        <p:nvSpPr>
          <p:cNvPr id="29" name="Shape 29"/>
          <p:cNvSpPr txBox="1"/>
          <p:nvPr/>
        </p:nvSpPr>
        <p:spPr>
          <a:xfrm>
            <a:off x="1600200" y="4379976"/>
            <a:ext cx="3749040" cy="758952"/>
          </a:xfrm>
          <a:prstGeom prst="rect">
            <a:avLst/>
          </a:prstGeom>
          <a:noFill/>
          <a:ln>
            <a:noFill/>
          </a:ln>
        </p:spPr>
        <p:txBody>
          <a:bodyPr wrap="square" lIns="0" tIns="0" rIns="0" bIns="0" rtlCol="0" anchor="ctr">
            <a:noAutofit/>
          </a:bodyPr>
          <a:lstStyle/>
          <a:p>
            <a:pPr marL="0" indent="0" algn="l">
              <a:buNone/>
            </a:pPr>
            <a:r>
              <a:rPr lang="en-US" sz="1600" b="1" dirty="0">
                <a:solidFill>
                  <a:srgbClr val="08325F"/>
                </a:solidFill>
                <a:latin typeface="Tahoma"/>
                <a:ea typeface="Tahoma"/>
                <a:cs typeface="Tahoma"/>
              </a:rPr>
              <a:t>Physical (LoRa)</a:t>
            </a:r>
            <a:endParaRPr lang="en-US" sz="1600" dirty="0"/>
          </a:p>
        </p:txBody>
      </p:sp>
      <p:grpSp>
        <p:nvGrpSpPr>
          <p:cNvPr id="30" name="Layer 1 (highlight)"/>
          <p:cNvGrpSpPr/>
          <p:nvPr/>
        </p:nvGrpSpPr>
        <p:grpSpPr>
          <a:xfrm>
            <a:off x="758952" y="4379976"/>
            <a:ext cx="5138928" cy="758952"/>
            <a:chOff x="758952" y="4379976"/>
            <a:chExt cx="5138928" cy="758952"/>
          </a:xfrm>
        </p:grpSpPr>
        <p:sp>
          <p:nvSpPr>
            <p:cNvPr id="31" name="Shape 31"/>
            <p:cNvSpPr/>
            <p:nvPr/>
          </p:nvSpPr>
          <p:spPr>
            <a:xfrm>
              <a:off x="758952" y="4379976"/>
              <a:ext cx="5138928" cy="758952"/>
            </a:xfrm>
            <a:prstGeom prst="homePlate">
              <a:avLst>
                <a:gd name="adj" fmla="val 42000"/>
              </a:avLst>
            </a:prstGeom>
            <a:solidFill>
              <a:srgbClr val="2A78D6"/>
            </a:solidFill>
            <a:ln w="19050">
              <a:solidFill>
                <a:srgbClr val="2A78D6"/>
              </a:solidFill>
            </a:ln>
            <a:effectLst>
              <a:outerShdw blurRad="50800" dist="25400" dir="5400000" algn="t" rotWithShape="0">
                <a:srgbClr val="0A2E5C">
                  <a:alpha val="24000"/>
                </a:srgbClr>
              </a:outerShdw>
            </a:effectLst>
          </p:spPr>
        </p:sp>
        <p:sp>
          <p:nvSpPr>
            <p:cNvPr id="32" name="Shape 32"/>
            <p:cNvSpPr/>
            <p:nvPr/>
          </p:nvSpPr>
          <p:spPr>
            <a:xfrm>
              <a:off x="914400" y="4530852"/>
              <a:ext cx="502920" cy="457200"/>
            </a:xfrm>
            <a:prstGeom prst="roundRect">
              <a:avLst>
                <a:gd name="adj" fmla="val 18000"/>
              </a:avLst>
            </a:prstGeom>
            <a:solidFill>
              <a:srgbClr val="FFFFFF"/>
            </a:solidFill>
            <a:ln>
              <a:noFill/>
            </a:ln>
          </p:spPr>
          <p:txBody>
            <a:bodyPr wrap="square" lIns="0" tIns="0" rIns="0" bIns="0" rtlCol="0" anchor="ctr">
              <a:noAutofit/>
            </a:bodyPr>
            <a:lstStyle/>
            <a:p>
              <a:pPr marL="0" indent="0" algn="ctr">
                <a:buNone/>
              </a:pPr>
              <a:r>
                <a:rPr lang="en-US" sz="1300" b="1" dirty="0">
                  <a:solidFill>
                    <a:srgbClr val="2A78D6"/>
                  </a:solidFill>
                  <a:latin typeface="Tahoma"/>
                  <a:ea typeface="Tahoma"/>
                  <a:cs typeface="Tahoma"/>
                </a:rPr>
                <a:t>L1</a:t>
              </a:r>
              <a:endParaRPr lang="en-US" sz="1300" dirty="0"/>
            </a:p>
          </p:txBody>
        </p:sp>
        <p:sp>
          <p:nvSpPr>
            <p:cNvPr id="33" name="Shape 33"/>
            <p:cNvSpPr txBox="1"/>
            <p:nvPr/>
          </p:nvSpPr>
          <p:spPr>
            <a:xfrm>
              <a:off x="1600200" y="4379976"/>
              <a:ext cx="3749040" cy="758952"/>
            </a:xfrm>
            <a:prstGeom prst="rect">
              <a:avLst/>
            </a:prstGeom>
            <a:noFill/>
            <a:ln>
              <a:noFill/>
            </a:ln>
          </p:spPr>
          <p:txBody>
            <a:bodyPr wrap="square" lIns="0" tIns="0" rIns="0" bIns="0" rtlCol="0" anchor="ctr">
              <a:noAutofit/>
            </a:bodyPr>
            <a:lstStyle/>
            <a:p>
              <a:pPr marL="0" indent="0" algn="l">
                <a:buNone/>
              </a:pPr>
              <a:r>
                <a:rPr lang="en-US" sz="1600" b="1" dirty="0">
                  <a:solidFill>
                    <a:srgbClr val="FFFFFF"/>
                  </a:solidFill>
                  <a:latin typeface="Tahoma"/>
                  <a:ea typeface="Tahoma"/>
                  <a:cs typeface="Tahoma"/>
                </a:rPr>
                <a:t>Physical (LoRa)</a:t>
              </a:r>
              <a:endParaRPr lang="en-US" sz="1600" dirty="0"/>
            </a:p>
          </p:txBody>
        </p:sp>
      </p:grpSp>
      <p:sp>
        <p:nvSpPr>
          <p:cNvPr id="34" name="Battery (base)"/>
          <p:cNvSpPr/>
          <p:nvPr/>
        </p:nvSpPr>
        <p:spPr>
          <a:xfrm>
            <a:off x="758952" y="5303520"/>
            <a:ext cx="4754880" cy="548640"/>
          </a:xfrm>
          <a:prstGeom prst="roundRect">
            <a:avLst>
              <a:gd name="adj" fmla="val 14000"/>
            </a:avLst>
          </a:prstGeom>
          <a:solidFill>
            <a:srgbClr val="F7F9FB"/>
          </a:solidFill>
          <a:ln w="15875">
            <a:solidFill>
              <a:srgbClr val="66788A"/>
            </a:solidFill>
            <a:prstDash val="dash"/>
          </a:ln>
        </p:spPr>
        <p:txBody>
          <a:bodyPr wrap="square" lIns="274320" tIns="0" rIns="91440" bIns="0" rtlCol="0" anchor="ctr">
            <a:noAutofit/>
          </a:bodyPr>
          <a:lstStyle/>
          <a:p>
            <a:pPr marL="0" indent="0" algn="l">
              <a:buNone/>
            </a:pPr>
            <a:r>
              <a:rPr lang="en-US" sz="1400" b="1" dirty="0">
                <a:solidFill>
                  <a:srgbClr val="44546A"/>
                </a:solidFill>
                <a:latin typeface="Tahoma"/>
                <a:ea typeface="Tahoma"/>
                <a:cs typeface="Tahoma"/>
              </a:rPr>
              <a:t>Battery &amp; failure model</a:t>
            </a:r>
            <a:endParaRPr lang="en-US" sz="1400" dirty="0"/>
          </a:p>
        </p:txBody>
      </p:sp>
      <p:grpSp>
        <p:nvGrpSpPr>
          <p:cNvPr id="35" name="Battery (highlight)"/>
          <p:cNvGrpSpPr/>
          <p:nvPr/>
        </p:nvGrpSpPr>
        <p:grpSpPr>
          <a:xfrm>
            <a:off x="758952" y="5303520"/>
            <a:ext cx="5138928" cy="548640"/>
            <a:chOff x="758952" y="5303520"/>
            <a:chExt cx="5138928" cy="548640"/>
          </a:xfrm>
        </p:grpSpPr>
        <p:sp>
          <p:nvSpPr>
            <p:cNvPr id="36" name="Shape 36"/>
            <p:cNvSpPr/>
            <p:nvPr/>
          </p:nvSpPr>
          <p:spPr>
            <a:xfrm>
              <a:off x="758952" y="5303520"/>
              <a:ext cx="5138928" cy="548640"/>
            </a:xfrm>
            <a:prstGeom prst="homePlate">
              <a:avLst>
                <a:gd name="adj" fmla="val 42000"/>
              </a:avLst>
            </a:prstGeom>
            <a:solidFill>
              <a:srgbClr val="5A6B7B"/>
            </a:solidFill>
            <a:ln>
              <a:noFill/>
            </a:ln>
            <a:effectLst>
              <a:outerShdw blurRad="50800" dist="25400" dir="5400000" algn="t" rotWithShape="0">
                <a:srgbClr val="0A2E5C">
                  <a:alpha val="24000"/>
                </a:srgbClr>
              </a:outerShdw>
            </a:effectLst>
          </p:spPr>
          <p:txBody>
            <a:bodyPr wrap="square" lIns="274320" tIns="0" rIns="91440" bIns="0" rtlCol="0" anchor="ctr">
              <a:noAutofit/>
            </a:bodyPr>
            <a:lstStyle/>
            <a:p>
              <a:pPr marL="0" indent="0" algn="l">
                <a:buNone/>
              </a:pPr>
              <a:r>
                <a:rPr lang="en-US" sz="1400" b="1" dirty="0">
                  <a:solidFill>
                    <a:srgbClr val="FFFFFF"/>
                  </a:solidFill>
                  <a:latin typeface="Tahoma"/>
                  <a:ea typeface="Tahoma"/>
                  <a:cs typeface="Tahoma"/>
                </a:rPr>
                <a:t>Battery &amp; failure model</a:t>
              </a:r>
              <a:endParaRPr lang="en-US" sz="1400" dirty="0"/>
            </a:p>
          </p:txBody>
        </p:sp>
      </p:grpSp>
      <p:sp>
        <p:nvSpPr>
          <p:cNvPr id="37" name="Detail panel"/>
          <p:cNvSpPr/>
          <p:nvPr/>
        </p:nvSpPr>
        <p:spPr>
          <a:xfrm>
            <a:off x="6126480" y="1691640"/>
            <a:ext cx="5303520" cy="4160520"/>
          </a:xfrm>
          <a:prstGeom prst="roundRect">
            <a:avLst>
              <a:gd name="adj" fmla="val 1978"/>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38" name="Detail: Layer 1 · Physical (LoRa)"/>
          <p:cNvSpPr txBox="1"/>
          <p:nvPr/>
        </p:nvSpPr>
        <p:spPr>
          <a:xfrm>
            <a:off x="6446520" y="1938528"/>
            <a:ext cx="4709160" cy="3749040"/>
          </a:xfrm>
          <a:prstGeom prst="rect">
            <a:avLst/>
          </a:prstGeom>
          <a:noFill/>
          <a:ln>
            <a:noFill/>
          </a:ln>
        </p:spPr>
        <p:txBody>
          <a:bodyPr wrap="square" lIns="0" tIns="0" rIns="0" bIns="0" rtlCol="0" anchor="t">
            <a:noAutofit/>
          </a:bodyPr>
          <a:lstStyle/>
          <a:p>
            <a:pPr marL="0" indent="0" algn="l">
              <a:lnSpc>
                <a:spcPct val="102000"/>
              </a:lnSpc>
              <a:spcAft>
                <a:spcPts val="1000"/>
              </a:spcAft>
              <a:buNone/>
            </a:pPr>
            <a:r>
              <a:rPr lang="en-US" sz="1800" b="1" dirty="0">
                <a:solidFill>
                  <a:srgbClr val="2A78D6"/>
                </a:solidFill>
                <a:latin typeface="Tahoma"/>
                <a:ea typeface="Tahoma"/>
                <a:cs typeface="Tahoma"/>
              </a:rPr>
              <a:t>Layer 1 · Physical (LoRa)</a:t>
            </a:r>
            <a:endParaRPr lang="en-US" sz="1800" dirty="0"/>
          </a:p>
          <a:p>
            <a:pPr marL="219456" indent="-219456" algn="l">
              <a:lnSpc>
                <a:spcPct val="102000"/>
              </a:lnSpc>
              <a:spcAft>
                <a:spcPts val="800"/>
              </a:spcAft>
              <a:buClr>
                <a:srgbClr val="2A78D6"/>
              </a:buClr>
              <a:buSzPct val="100000"/>
              <a:buFont typeface="Arial"/>
              <a:buChar char="•"/>
            </a:pPr>
            <a:r>
              <a:rPr lang="en-US" sz="1450" dirty="0">
                <a:solidFill>
                  <a:srgbClr val="44546A"/>
                </a:solidFill>
                <a:latin typeface="Tahoma"/>
                <a:ea typeface="Tahoma"/>
                <a:cs typeface="Tahoma"/>
              </a:rPr>
              <a:t>865 MHz band · +20 dBm</a:t>
            </a:r>
            <a:endParaRPr lang="en-US" sz="1450" dirty="0"/>
          </a:p>
          <a:p>
            <a:pPr marL="219456" indent="-219456" algn="l">
              <a:lnSpc>
                <a:spcPct val="102000"/>
              </a:lnSpc>
              <a:spcAft>
                <a:spcPts val="800"/>
              </a:spcAft>
              <a:buClr>
                <a:srgbClr val="2A78D6"/>
              </a:buClr>
              <a:buSzPct val="100000"/>
              <a:buFont typeface="Arial"/>
              <a:buChar char="•"/>
            </a:pPr>
            <a:r>
              <a:rPr lang="en-US" sz="1450" dirty="0">
                <a:solidFill>
                  <a:srgbClr val="44546A"/>
                </a:solidFill>
                <a:latin typeface="Tahoma"/>
                <a:ea typeface="Tahoma"/>
                <a:cs typeface="Tahoma"/>
              </a:rPr>
              <a:t>Spreading factor 12 · 125 kHz: ≈2.5 s of airtime per frame</a:t>
            </a:r>
            <a:endParaRPr lang="en-US" sz="1450" dirty="0"/>
          </a:p>
          <a:p>
            <a:pPr marL="219456" indent="-219456" algn="l">
              <a:lnSpc>
                <a:spcPct val="102000"/>
              </a:lnSpc>
              <a:spcAft>
                <a:spcPts val="800"/>
              </a:spcAft>
              <a:buClr>
                <a:srgbClr val="2A78D6"/>
              </a:buClr>
              <a:buSzPct val="100000"/>
              <a:buFont typeface="Arial"/>
              <a:buChar char="•"/>
            </a:pPr>
            <a:r>
              <a:rPr lang="en-US" sz="1450" dirty="0">
                <a:solidFill>
                  <a:srgbClr val="44546A"/>
                </a:solidFill>
                <a:latin typeface="Tahoma"/>
                <a:ea typeface="Tahoma"/>
                <a:cs typeface="Tahoma"/>
              </a:rPr>
              <a:t>Payload of at most 51 bytes</a:t>
            </a:r>
            <a:endParaRPr lang="en-US" sz="1450" dirty="0"/>
          </a:p>
          <a:p>
            <a:pPr marL="219456" indent="-219456" algn="l">
              <a:lnSpc>
                <a:spcPct val="102000"/>
              </a:lnSpc>
              <a:spcAft>
                <a:spcPts val="800"/>
              </a:spcAft>
              <a:buClr>
                <a:srgbClr val="2A78D6"/>
              </a:buClr>
              <a:buSzPct val="100000"/>
              <a:buFont typeface="Arial"/>
              <a:buChar char="•"/>
            </a:pPr>
            <a:r>
              <a:rPr lang="en-US" sz="1450" dirty="0">
                <a:solidFill>
                  <a:srgbClr val="44546A"/>
                </a:solidFill>
                <a:latin typeface="Tahoma"/>
                <a:ea typeface="Tahoma"/>
                <a:cs typeface="Tahoma"/>
              </a:rPr>
              <a:t>Log-distance path loss plus shadowing (rubble, walls)</a:t>
            </a:r>
            <a:endParaRPr lang="en-US" sz="1450" dirty="0"/>
          </a:p>
          <a:p>
            <a:pPr marL="219456" indent="-219456" algn="l">
              <a:lnSpc>
                <a:spcPct val="102000"/>
              </a:lnSpc>
              <a:spcAft>
                <a:spcPts val="800"/>
              </a:spcAft>
              <a:buClr>
                <a:srgbClr val="2A78D6"/>
              </a:buClr>
              <a:buSzPct val="100000"/>
              <a:buFont typeface="Arial"/>
              <a:buChar char="•"/>
            </a:pPr>
            <a:r>
              <a:rPr lang="en-US" sz="1450" dirty="0">
                <a:solidFill>
                  <a:srgbClr val="44546A"/>
                </a:solidFill>
                <a:latin typeface="Tahoma"/>
                <a:ea typeface="Tahoma"/>
                <a:cs typeface="Tahoma"/>
              </a:rPr>
              <a:t>Five severity presets, intact → extreme</a:t>
            </a:r>
            <a:endParaRPr lang="en-US" sz="1450" dirty="0"/>
          </a:p>
        </p:txBody>
      </p:sp>
      <p:sp>
        <p:nvSpPr>
          <p:cNvPr id="39" name="Detail: Layer 2 · MAC &amp; forwarding"/>
          <p:cNvSpPr txBox="1"/>
          <p:nvPr/>
        </p:nvSpPr>
        <p:spPr>
          <a:xfrm>
            <a:off x="6446520" y="1938528"/>
            <a:ext cx="4709160" cy="3749040"/>
          </a:xfrm>
          <a:prstGeom prst="rect">
            <a:avLst/>
          </a:prstGeom>
          <a:noFill/>
          <a:ln>
            <a:noFill/>
          </a:ln>
        </p:spPr>
        <p:txBody>
          <a:bodyPr wrap="square" lIns="0" tIns="0" rIns="0" bIns="0" rtlCol="0" anchor="t">
            <a:noAutofit/>
          </a:bodyPr>
          <a:lstStyle/>
          <a:p>
            <a:pPr marL="0" indent="0" algn="l">
              <a:lnSpc>
                <a:spcPct val="102000"/>
              </a:lnSpc>
              <a:spcAft>
                <a:spcPts val="1000"/>
              </a:spcAft>
              <a:buNone/>
            </a:pPr>
            <a:r>
              <a:rPr lang="en-US" sz="1800" b="1" dirty="0">
                <a:solidFill>
                  <a:srgbClr val="E8743B"/>
                </a:solidFill>
                <a:latin typeface="Tahoma"/>
                <a:ea typeface="Tahoma"/>
                <a:cs typeface="Tahoma"/>
              </a:rPr>
              <a:t>Layer 2 · MAC &amp; forwarding</a:t>
            </a:r>
            <a:endParaRPr lang="en-US" sz="1800" dirty="0"/>
          </a:p>
          <a:p>
            <a:pPr marL="219456" indent="-219456" algn="l">
              <a:lnSpc>
                <a:spcPct val="102000"/>
              </a:lnSpc>
              <a:spcAft>
                <a:spcPts val="800"/>
              </a:spcAft>
              <a:buClr>
                <a:srgbClr val="E8743B"/>
              </a:buClr>
              <a:buSzPct val="100000"/>
              <a:buFont typeface="Arial"/>
              <a:buChar char="•"/>
            </a:pPr>
            <a:r>
              <a:rPr lang="en-US" sz="1450" dirty="0">
                <a:solidFill>
                  <a:srgbClr val="44546A"/>
                </a:solidFill>
                <a:latin typeface="Tahoma"/>
                <a:ea typeface="Tahoma"/>
                <a:cs typeface="Tahoma"/>
              </a:rPr>
              <a:t>Slotted ALOHA: a stronger signal survives a collision if it is 6 dB ahead</a:t>
            </a:r>
            <a:endParaRPr lang="en-US" sz="1450" dirty="0"/>
          </a:p>
          <a:p>
            <a:pPr marL="219456" indent="-219456" algn="l">
              <a:lnSpc>
                <a:spcPct val="102000"/>
              </a:lnSpc>
              <a:spcAft>
                <a:spcPts val="800"/>
              </a:spcAft>
              <a:buClr>
                <a:srgbClr val="E8743B"/>
              </a:buClr>
              <a:buSzPct val="100000"/>
              <a:buFont typeface="Arial"/>
              <a:buChar char="•"/>
            </a:pPr>
            <a:r>
              <a:rPr lang="en-US" sz="1450" dirty="0">
                <a:solidFill>
                  <a:srgbClr val="44546A"/>
                </a:solidFill>
                <a:latin typeface="Tahoma"/>
                <a:ea typeface="Tahoma"/>
                <a:cs typeface="Tahoma"/>
              </a:rPr>
              <a:t>Gossip3: forward with 75% probability; stay quiet after 3 duplicates</a:t>
            </a:r>
            <a:endParaRPr lang="en-US" sz="1450" dirty="0"/>
          </a:p>
          <a:p>
            <a:pPr marL="219456" indent="-219456" algn="l">
              <a:lnSpc>
                <a:spcPct val="102000"/>
              </a:lnSpc>
              <a:spcAft>
                <a:spcPts val="800"/>
              </a:spcAft>
              <a:buClr>
                <a:srgbClr val="E8743B"/>
              </a:buClr>
              <a:buSzPct val="100000"/>
              <a:buFont typeface="Arial"/>
              <a:buChar char="•"/>
            </a:pPr>
            <a:r>
              <a:rPr lang="en-US" sz="1450" dirty="0">
                <a:solidFill>
                  <a:srgbClr val="44546A"/>
                </a:solidFill>
                <a:latin typeface="Tahoma"/>
                <a:ea typeface="Tahoma"/>
                <a:cs typeface="Tahoma"/>
              </a:rPr>
              <a:t>Geo-greedy: hand the message to a neighbour closer to its destination</a:t>
            </a:r>
            <a:endParaRPr lang="en-US" sz="1450" dirty="0"/>
          </a:p>
          <a:p>
            <a:pPr marL="219456" indent="-219456" algn="l">
              <a:lnSpc>
                <a:spcPct val="102000"/>
              </a:lnSpc>
              <a:spcAft>
                <a:spcPts val="800"/>
              </a:spcAft>
              <a:buClr>
                <a:srgbClr val="E8743B"/>
              </a:buClr>
              <a:buSzPct val="100000"/>
              <a:buFont typeface="Arial"/>
              <a:buChar char="•"/>
            </a:pPr>
            <a:r>
              <a:rPr lang="en-US" sz="1450" dirty="0">
                <a:solidFill>
                  <a:srgbClr val="44546A"/>
                </a:solidFill>
                <a:latin typeface="Tahoma"/>
                <a:ea typeface="Tahoma"/>
                <a:cs typeface="Tahoma"/>
              </a:rPr>
              <a:t>34-byte header · TTL 16 hops · cache of the last 256 message IDs</a:t>
            </a:r>
            <a:endParaRPr lang="en-US" sz="1450" dirty="0"/>
          </a:p>
        </p:txBody>
      </p:sp>
      <p:sp>
        <p:nvSpPr>
          <p:cNvPr id="40" name="Detail: Layer 3 · Link-state monitoring"/>
          <p:cNvSpPr txBox="1"/>
          <p:nvPr/>
        </p:nvSpPr>
        <p:spPr>
          <a:xfrm>
            <a:off x="6446520" y="1938528"/>
            <a:ext cx="4709160" cy="3749040"/>
          </a:xfrm>
          <a:prstGeom prst="rect">
            <a:avLst/>
          </a:prstGeom>
          <a:noFill/>
          <a:ln>
            <a:noFill/>
          </a:ln>
        </p:spPr>
        <p:txBody>
          <a:bodyPr wrap="square" lIns="0" tIns="0" rIns="0" bIns="0" rtlCol="0" anchor="t">
            <a:noAutofit/>
          </a:bodyPr>
          <a:lstStyle/>
          <a:p>
            <a:pPr marL="0" indent="0" algn="l">
              <a:lnSpc>
                <a:spcPct val="102000"/>
              </a:lnSpc>
              <a:spcAft>
                <a:spcPts val="1000"/>
              </a:spcAft>
              <a:buNone/>
            </a:pPr>
            <a:r>
              <a:rPr lang="en-US" sz="1800" b="1" dirty="0">
                <a:solidFill>
                  <a:srgbClr val="1FA37A"/>
                </a:solidFill>
                <a:latin typeface="Tahoma"/>
                <a:ea typeface="Tahoma"/>
                <a:cs typeface="Tahoma"/>
              </a:rPr>
              <a:t>Layer 3 · Link-state monitoring</a:t>
            </a:r>
            <a:endParaRPr lang="en-US" sz="1800" dirty="0"/>
          </a:p>
          <a:p>
            <a:pPr marL="219456" indent="-219456" algn="l">
              <a:lnSpc>
                <a:spcPct val="102000"/>
              </a:lnSpc>
              <a:spcAft>
                <a:spcPts val="800"/>
              </a:spcAft>
              <a:buClr>
                <a:srgbClr val="1FA37A"/>
              </a:buClr>
              <a:buSzPct val="100000"/>
              <a:buFont typeface="Arial"/>
              <a:buChar char="•"/>
            </a:pPr>
            <a:r>
              <a:rPr lang="en-US" sz="1450" dirty="0">
                <a:solidFill>
                  <a:srgbClr val="44546A"/>
                </a:solidFill>
                <a:latin typeface="Tahoma"/>
                <a:ea typeface="Tahoma"/>
                <a:cs typeface="Tahoma"/>
              </a:rPr>
              <a:t>A beacon from every node every 30 s</a:t>
            </a:r>
            <a:endParaRPr lang="en-US" sz="1450" dirty="0"/>
          </a:p>
          <a:p>
            <a:pPr marL="219456" indent="-219456" algn="l">
              <a:lnSpc>
                <a:spcPct val="102000"/>
              </a:lnSpc>
              <a:spcAft>
                <a:spcPts val="800"/>
              </a:spcAft>
              <a:buClr>
                <a:srgbClr val="1FA37A"/>
              </a:buClr>
              <a:buSzPct val="100000"/>
              <a:buFont typeface="Arial"/>
              <a:buChar char="•"/>
            </a:pPr>
            <a:r>
              <a:rPr lang="en-US" sz="1450" dirty="0">
                <a:solidFill>
                  <a:srgbClr val="44546A"/>
                </a:solidFill>
                <a:latin typeface="Tahoma"/>
                <a:ea typeface="Tahoma"/>
                <a:cs typeface="Tahoma"/>
              </a:rPr>
              <a:t>PDR over the last 50 packets</a:t>
            </a:r>
            <a:endParaRPr lang="en-US" sz="1450" dirty="0"/>
          </a:p>
          <a:p>
            <a:pPr marL="219456" indent="-219456" algn="l">
              <a:lnSpc>
                <a:spcPct val="102000"/>
              </a:lnSpc>
              <a:spcAft>
                <a:spcPts val="800"/>
              </a:spcAft>
              <a:buClr>
                <a:srgbClr val="1FA37A"/>
              </a:buClr>
              <a:buSzPct val="100000"/>
              <a:buFont typeface="Arial"/>
              <a:buChar char="•"/>
            </a:pPr>
            <a:r>
              <a:rPr lang="en-US" sz="1450" dirty="0">
                <a:solidFill>
                  <a:srgbClr val="44546A"/>
                </a:solidFill>
                <a:latin typeface="Tahoma"/>
                <a:ea typeface="Tahoma"/>
                <a:cs typeface="Tahoma"/>
              </a:rPr>
              <a:t>RSSI: received signal strength</a:t>
            </a:r>
            <a:endParaRPr lang="en-US" sz="1450" dirty="0"/>
          </a:p>
          <a:p>
            <a:pPr marL="219456" indent="-219456" algn="l">
              <a:lnSpc>
                <a:spcPct val="102000"/>
              </a:lnSpc>
              <a:spcAft>
                <a:spcPts val="800"/>
              </a:spcAft>
              <a:buClr>
                <a:srgbClr val="1FA37A"/>
              </a:buClr>
              <a:buSzPct val="100000"/>
              <a:buFont typeface="Arial"/>
              <a:buChar char="•"/>
            </a:pPr>
            <a:r>
              <a:rPr lang="en-US" sz="1450" dirty="0">
                <a:solidFill>
                  <a:srgbClr val="44546A"/>
                </a:solidFill>
                <a:latin typeface="Tahoma"/>
                <a:ea typeface="Tahoma"/>
                <a:cs typeface="Tahoma"/>
              </a:rPr>
              <a:t>Reachability: neighbours heard recently</a:t>
            </a:r>
            <a:endParaRPr lang="en-US" sz="1450" dirty="0"/>
          </a:p>
          <a:p>
            <a:pPr marL="219456" indent="-219456" algn="l">
              <a:lnSpc>
                <a:spcPct val="102000"/>
              </a:lnSpc>
              <a:spcAft>
                <a:spcPts val="800"/>
              </a:spcAft>
              <a:buClr>
                <a:srgbClr val="1FA37A"/>
              </a:buClr>
              <a:buSzPct val="100000"/>
              <a:buFont typeface="Arial"/>
              <a:buChar char="•"/>
            </a:pPr>
            <a:r>
              <a:rPr lang="en-US" sz="1450" dirty="0">
                <a:solidFill>
                  <a:srgbClr val="44546A"/>
                </a:solidFill>
                <a:latin typeface="Tahoma"/>
                <a:ea typeface="Tahoma"/>
                <a:cs typeface="Tahoma"/>
              </a:rPr>
              <a:t>Each node builds its own view; no central monitor</a:t>
            </a:r>
            <a:endParaRPr lang="en-US" sz="1450" dirty="0"/>
          </a:p>
        </p:txBody>
      </p:sp>
      <p:sp>
        <p:nvSpPr>
          <p:cNvPr id="41" name="Detail: Layer 4 · Routing &amp; evacuation"/>
          <p:cNvSpPr txBox="1"/>
          <p:nvPr/>
        </p:nvSpPr>
        <p:spPr>
          <a:xfrm>
            <a:off x="6446520" y="1938528"/>
            <a:ext cx="4709160" cy="3749040"/>
          </a:xfrm>
          <a:prstGeom prst="rect">
            <a:avLst/>
          </a:prstGeom>
          <a:noFill/>
          <a:ln>
            <a:noFill/>
          </a:ln>
        </p:spPr>
        <p:txBody>
          <a:bodyPr wrap="square" lIns="0" tIns="0" rIns="0" bIns="0" rtlCol="0" anchor="t">
            <a:noAutofit/>
          </a:bodyPr>
          <a:lstStyle/>
          <a:p>
            <a:pPr marL="0" indent="0" algn="l">
              <a:lnSpc>
                <a:spcPct val="102000"/>
              </a:lnSpc>
              <a:spcAft>
                <a:spcPts val="1000"/>
              </a:spcAft>
              <a:buNone/>
            </a:pPr>
            <a:r>
              <a:rPr lang="en-US" sz="1800" b="1" dirty="0">
                <a:solidFill>
                  <a:srgbClr val="5B45B0"/>
                </a:solidFill>
                <a:latin typeface="Tahoma"/>
                <a:ea typeface="Tahoma"/>
                <a:cs typeface="Tahoma"/>
              </a:rPr>
              <a:t>Layer 4 · Routing &amp; evacuation</a:t>
            </a:r>
            <a:endParaRPr lang="en-US" sz="1800" dirty="0"/>
          </a:p>
          <a:p>
            <a:pPr marL="219456" indent="-219456" algn="l">
              <a:lnSpc>
                <a:spcPct val="102000"/>
              </a:lnSpc>
              <a:spcAft>
                <a:spcPts val="800"/>
              </a:spcAft>
              <a:buClr>
                <a:srgbClr val="5B45B0"/>
              </a:buClr>
              <a:buSzPct val="100000"/>
              <a:buFont typeface="Arial"/>
              <a:buChar char="•"/>
            </a:pPr>
            <a:r>
              <a:rPr lang="en-US" sz="1450" dirty="0">
                <a:solidFill>
                  <a:srgbClr val="44546A"/>
                </a:solidFill>
                <a:latin typeface="Tahoma"/>
                <a:ea typeface="Tahoma"/>
                <a:cs typeface="Tahoma"/>
              </a:rPr>
              <a:t>Dynamic Dijkstra: shortest path on live link state; re-plans when the route ahead degrades</a:t>
            </a:r>
            <a:endParaRPr lang="en-US" sz="1450" dirty="0"/>
          </a:p>
          <a:p>
            <a:pPr marL="219456" indent="-219456" algn="l">
              <a:lnSpc>
                <a:spcPct val="102000"/>
              </a:lnSpc>
              <a:spcAft>
                <a:spcPts val="800"/>
              </a:spcAft>
              <a:buClr>
                <a:srgbClr val="5B45B0"/>
              </a:buClr>
              <a:buSzPct val="100000"/>
              <a:buFont typeface="Arial"/>
              <a:buChar char="•"/>
            </a:pPr>
            <a:r>
              <a:rPr lang="en-US" sz="1450" dirty="0">
                <a:solidFill>
                  <a:srgbClr val="44546A"/>
                </a:solidFill>
                <a:latin typeface="Tahoma"/>
                <a:ea typeface="Tahoma"/>
                <a:cs typeface="Tahoma"/>
              </a:rPr>
              <a:t>PPO agent (exploratory): learns to pick the next neighbour</a:t>
            </a:r>
            <a:endParaRPr lang="en-US" sz="1450" dirty="0"/>
          </a:p>
          <a:p>
            <a:pPr marL="219456" indent="-219456" algn="l">
              <a:lnSpc>
                <a:spcPct val="102000"/>
              </a:lnSpc>
              <a:spcAft>
                <a:spcPts val="800"/>
              </a:spcAft>
              <a:buClr>
                <a:srgbClr val="5B45B0"/>
              </a:buClr>
              <a:buSzPct val="100000"/>
              <a:buFont typeface="Arial"/>
              <a:buChar char="•"/>
            </a:pPr>
            <a:r>
              <a:rPr lang="en-US" sz="1450" dirty="0">
                <a:solidFill>
                  <a:srgbClr val="44546A"/>
                </a:solidFill>
                <a:latin typeface="Tahoma"/>
                <a:ea typeface="Tahoma"/>
                <a:cs typeface="Tahoma"/>
              </a:rPr>
              <a:t>Compares classical and learning-based routing</a:t>
            </a:r>
            <a:endParaRPr lang="en-US" sz="1450" dirty="0"/>
          </a:p>
        </p:txBody>
      </p:sp>
      <p:sp>
        <p:nvSpPr>
          <p:cNvPr id="42" name="Detail: Battery &amp; failure model"/>
          <p:cNvSpPr txBox="1"/>
          <p:nvPr/>
        </p:nvSpPr>
        <p:spPr>
          <a:xfrm>
            <a:off x="6446520" y="1938528"/>
            <a:ext cx="4709160" cy="3749040"/>
          </a:xfrm>
          <a:prstGeom prst="rect">
            <a:avLst/>
          </a:prstGeom>
          <a:noFill/>
          <a:ln>
            <a:noFill/>
          </a:ln>
        </p:spPr>
        <p:txBody>
          <a:bodyPr wrap="square" lIns="0" tIns="0" rIns="0" bIns="0" rtlCol="0" anchor="t">
            <a:noAutofit/>
          </a:bodyPr>
          <a:lstStyle/>
          <a:p>
            <a:pPr marL="0" indent="0" algn="l">
              <a:lnSpc>
                <a:spcPct val="102000"/>
              </a:lnSpc>
              <a:spcAft>
                <a:spcPts val="1000"/>
              </a:spcAft>
              <a:buNone/>
            </a:pPr>
            <a:r>
              <a:rPr lang="en-US" sz="1800" b="1" dirty="0">
                <a:solidFill>
                  <a:srgbClr val="5A6B7B"/>
                </a:solidFill>
                <a:latin typeface="Tahoma"/>
                <a:ea typeface="Tahoma"/>
                <a:cs typeface="Tahoma"/>
              </a:rPr>
              <a:t>Battery &amp; failure model</a:t>
            </a:r>
            <a:endParaRPr lang="en-US" sz="1800" dirty="0"/>
          </a:p>
          <a:p>
            <a:pPr marL="219456" indent="-219456" algn="l">
              <a:lnSpc>
                <a:spcPct val="102000"/>
              </a:lnSpc>
              <a:spcAft>
                <a:spcPts val="800"/>
              </a:spcAft>
              <a:buClr>
                <a:srgbClr val="5A6B7B"/>
              </a:buClr>
              <a:buSzPct val="100000"/>
              <a:buFont typeface="Arial"/>
              <a:buChar char="•"/>
            </a:pPr>
            <a:r>
              <a:rPr lang="en-US" sz="1450" dirty="0">
                <a:solidFill>
                  <a:srgbClr val="44546A"/>
                </a:solidFill>
                <a:latin typeface="Tahoma"/>
                <a:ea typeface="Tahoma"/>
                <a:cs typeface="Tahoma"/>
              </a:rPr>
              <a:t>Linear battery drain over 300 s</a:t>
            </a:r>
            <a:endParaRPr lang="en-US" sz="1450" dirty="0"/>
          </a:p>
          <a:p>
            <a:pPr marL="219456" indent="-219456" algn="l">
              <a:lnSpc>
                <a:spcPct val="102000"/>
              </a:lnSpc>
              <a:spcAft>
                <a:spcPts val="800"/>
              </a:spcAft>
              <a:buClr>
                <a:srgbClr val="5A6B7B"/>
              </a:buClr>
              <a:buSzPct val="100000"/>
              <a:buFont typeface="Arial"/>
              <a:buChar char="•"/>
            </a:pPr>
            <a:r>
              <a:rPr lang="en-US" sz="1450" dirty="0">
                <a:solidFill>
                  <a:srgbClr val="44546A"/>
                </a:solidFill>
                <a:latin typeface="Tahoma"/>
                <a:ea typeface="Tahoma"/>
                <a:cs typeface="Tahoma"/>
              </a:rPr>
              <a:t>Below 20% charge, outgoing links weaken in proportion</a:t>
            </a:r>
            <a:endParaRPr lang="en-US" sz="1450" dirty="0"/>
          </a:p>
          <a:p>
            <a:pPr marL="219456" indent="-219456" algn="l">
              <a:lnSpc>
                <a:spcPct val="102000"/>
              </a:lnSpc>
              <a:spcAft>
                <a:spcPts val="800"/>
              </a:spcAft>
              <a:buClr>
                <a:srgbClr val="5A6B7B"/>
              </a:buClr>
              <a:buSzPct val="100000"/>
              <a:buFont typeface="Arial"/>
              <a:buChar char="•"/>
            </a:pPr>
            <a:r>
              <a:rPr lang="en-US" sz="1450" dirty="0">
                <a:solidFill>
                  <a:srgbClr val="44546A"/>
                </a:solidFill>
                <a:latin typeface="Tahoma"/>
                <a:ea typeface="Tahoma"/>
                <a:cs typeface="Tahoma"/>
              </a:rPr>
              <a:t>One failure per node per hour</a:t>
            </a:r>
            <a:endParaRPr lang="en-US" sz="1450" dirty="0"/>
          </a:p>
          <a:p>
            <a:pPr marL="219456" indent="-219456" algn="l">
              <a:lnSpc>
                <a:spcPct val="102000"/>
              </a:lnSpc>
              <a:spcAft>
                <a:spcPts val="800"/>
              </a:spcAft>
              <a:buClr>
                <a:srgbClr val="5A6B7B"/>
              </a:buClr>
              <a:buSzPct val="100000"/>
              <a:buFont typeface="Arial"/>
              <a:buChar char="•"/>
            </a:pPr>
            <a:r>
              <a:rPr lang="en-US" sz="1450" dirty="0">
                <a:solidFill>
                  <a:srgbClr val="44546A"/>
                </a:solidFill>
                <a:latin typeface="Tahoma"/>
                <a:ea typeface="Tahoma"/>
                <a:cs typeface="Tahoma"/>
              </a:rPr>
              <a:t>Sudden · graceful · mixed (default) · burst</a:t>
            </a:r>
            <a:endParaRPr lang="en-US" sz="1450" dirty="0"/>
          </a:p>
        </p:txBody>
      </p:sp>
      <p:cxnSp>
        <p:nvCxnSpPr>
          <p:cNvPr id="43" name="Footer rule"/>
          <p:cNvCxnSpPr/>
          <p:nvPr/>
        </p:nvCxnSpPr>
        <p:spPr>
          <a:xfrm>
            <a:off x="502920" y="6199632"/>
            <a:ext cx="11155680" cy="0"/>
          </a:xfrm>
          <a:prstGeom prst="line">
            <a:avLst/>
          </a:prstGeom>
          <a:ln w="12700">
            <a:solidFill>
              <a:srgbClr val="003E82">
                <a:alpha val="25000"/>
              </a:srgbClr>
            </a:solidFill>
          </a:ln>
        </p:spPr>
      </p:cxnSp>
      <p:pic>
        <p:nvPicPr>
          <p:cNvPr id="44"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45"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46"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13</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50"/>
                                        <p:tgtEl>
                                          <p:spTgt spid="38"/>
                                        </p:tgtEl>
                                      </p:cBhvr>
                                    </p:animEffect>
                                    <p:set>
                                      <p:cBhvr>
                                        <p:cTn id="7" dur="1" fill="hold">
                                          <p:stCondLst>
                                            <p:cond delay="349"/>
                                          </p:stCondLst>
                                        </p:cTn>
                                        <p:tgtEl>
                                          <p:spTgt spid="38"/>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350"/>
                                        <p:tgtEl>
                                          <p:spTgt spid="30"/>
                                        </p:tgtEl>
                                      </p:cBhvr>
                                    </p:animEffect>
                                    <p:set>
                                      <p:cBhvr>
                                        <p:cTn id="10" dur="1" fill="hold">
                                          <p:stCondLst>
                                            <p:cond delay="349"/>
                                          </p:stCondLst>
                                        </p:cTn>
                                        <p:tgtEl>
                                          <p:spTgt spid="30"/>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50"/>
                                        <p:tgtEl>
                                          <p:spTgt spid="39"/>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5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350"/>
                                        <p:tgtEl>
                                          <p:spTgt spid="39"/>
                                        </p:tgtEl>
                                      </p:cBhvr>
                                    </p:animEffect>
                                    <p:set>
                                      <p:cBhvr>
                                        <p:cTn id="21" dur="1" fill="hold">
                                          <p:stCondLst>
                                            <p:cond delay="349"/>
                                          </p:stCondLst>
                                        </p:cTn>
                                        <p:tgtEl>
                                          <p:spTgt spid="39"/>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350"/>
                                        <p:tgtEl>
                                          <p:spTgt spid="23"/>
                                        </p:tgtEl>
                                      </p:cBhvr>
                                    </p:animEffect>
                                    <p:set>
                                      <p:cBhvr>
                                        <p:cTn id="24" dur="1" fill="hold">
                                          <p:stCondLst>
                                            <p:cond delay="349"/>
                                          </p:stCondLst>
                                        </p:cTn>
                                        <p:tgtEl>
                                          <p:spTgt spid="23"/>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450"/>
                                        <p:tgtEl>
                                          <p:spTgt spid="40"/>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1" nodeType="clickEffect">
                                  <p:stCondLst>
                                    <p:cond delay="0"/>
                                  </p:stCondLst>
                                  <p:childTnLst>
                                    <p:animEffect transition="out" filter="fade">
                                      <p:cBhvr>
                                        <p:cTn id="34" dur="350"/>
                                        <p:tgtEl>
                                          <p:spTgt spid="40"/>
                                        </p:tgtEl>
                                      </p:cBhvr>
                                    </p:animEffect>
                                    <p:set>
                                      <p:cBhvr>
                                        <p:cTn id="35" dur="1" fill="hold">
                                          <p:stCondLst>
                                            <p:cond delay="349"/>
                                          </p:stCondLst>
                                        </p:cTn>
                                        <p:tgtEl>
                                          <p:spTgt spid="40"/>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350"/>
                                        <p:tgtEl>
                                          <p:spTgt spid="16"/>
                                        </p:tgtEl>
                                      </p:cBhvr>
                                    </p:animEffect>
                                    <p:set>
                                      <p:cBhvr>
                                        <p:cTn id="38" dur="1" fill="hold">
                                          <p:stCondLst>
                                            <p:cond delay="349"/>
                                          </p:stCondLst>
                                        </p:cTn>
                                        <p:tgtEl>
                                          <p:spTgt spid="16"/>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450"/>
                                        <p:tgtEl>
                                          <p:spTgt spid="41"/>
                                        </p:tgtEl>
                                      </p:cBhvr>
                                    </p:animEffect>
                                  </p:childTnLst>
                                </p:cTn>
                              </p:par>
                              <p:par>
                                <p:cTn id="42" presetID="10" presetClass="entr" presetSubtype="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45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350"/>
                                        <p:tgtEl>
                                          <p:spTgt spid="41"/>
                                        </p:tgtEl>
                                      </p:cBhvr>
                                    </p:animEffect>
                                    <p:set>
                                      <p:cBhvr>
                                        <p:cTn id="49" dur="1" fill="hold">
                                          <p:stCondLst>
                                            <p:cond delay="349"/>
                                          </p:stCondLst>
                                        </p:cTn>
                                        <p:tgtEl>
                                          <p:spTgt spid="41"/>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350"/>
                                        <p:tgtEl>
                                          <p:spTgt spid="9"/>
                                        </p:tgtEl>
                                      </p:cBhvr>
                                    </p:animEffect>
                                    <p:set>
                                      <p:cBhvr>
                                        <p:cTn id="52" dur="1" fill="hold">
                                          <p:stCondLst>
                                            <p:cond delay="349"/>
                                          </p:stCondLst>
                                        </p:cTn>
                                        <p:tgtEl>
                                          <p:spTgt spid="9"/>
                                        </p:tgtEl>
                                        <p:attrNameLst>
                                          <p:attrName>style.visibility</p:attrName>
                                        </p:attrNameLst>
                                      </p:cBhvr>
                                      <p:to>
                                        <p:strVal val="hidden"/>
                                      </p:to>
                                    </p:set>
                                  </p:childTnLst>
                                </p:cTn>
                              </p:par>
                              <p:par>
                                <p:cTn id="53" presetID="10"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450"/>
                                        <p:tgtEl>
                                          <p:spTgt spid="42"/>
                                        </p:tgtEl>
                                      </p:cBhvr>
                                    </p:animEffect>
                                  </p:childTnLst>
                                </p:cTn>
                              </p:par>
                              <p:par>
                                <p:cTn id="56" presetID="10"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39" grpId="1" animBg="1"/>
      <p:bldP spid="40" grpId="0" animBg="1"/>
      <p:bldP spid="40" grpId="1" animBg="1"/>
      <p:bldP spid="41" grpId="0" animBg="1"/>
      <p:bldP spid="41" grpId="1" animBg="1"/>
      <p:bldP spid="4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ix results">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Six results</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What the simulations showed</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grpSp>
        <p:nvGrpSpPr>
          <p:cNvPr id="6" name="Result 1"/>
          <p:cNvGrpSpPr/>
          <p:nvPr/>
        </p:nvGrpSpPr>
        <p:grpSpPr>
          <a:xfrm>
            <a:off x="758952" y="1737360"/>
            <a:ext cx="3383280" cy="1828800"/>
            <a:chOff x="758952" y="1737360"/>
            <a:chExt cx="3383280" cy="1828800"/>
          </a:xfrm>
        </p:grpSpPr>
        <p:sp>
          <p:nvSpPr>
            <p:cNvPr id="7" name="Shape 7"/>
            <p:cNvSpPr/>
            <p:nvPr/>
          </p:nvSpPr>
          <p:spPr>
            <a:xfrm>
              <a:off x="758952" y="1737360"/>
              <a:ext cx="3383280" cy="1828800"/>
            </a:xfrm>
            <a:prstGeom prst="roundRect">
              <a:avLst>
                <a:gd name="adj" fmla="val 450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8" name="Badge 1"/>
            <p:cNvSpPr/>
            <p:nvPr/>
          </p:nvSpPr>
          <p:spPr>
            <a:xfrm>
              <a:off x="987552" y="2011680"/>
              <a:ext cx="548640" cy="54864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1</a:t>
              </a:r>
              <a:endParaRPr lang="en-US" sz="1600" dirty="0"/>
            </a:p>
          </p:txBody>
        </p:sp>
        <p:sp>
          <p:nvSpPr>
            <p:cNvPr id="9" name="Shape 9"/>
            <p:cNvSpPr txBox="1"/>
            <p:nvPr/>
          </p:nvSpPr>
          <p:spPr>
            <a:xfrm>
              <a:off x="1673352" y="1938528"/>
              <a:ext cx="2331720" cy="713232"/>
            </a:xfrm>
            <a:prstGeom prst="rect">
              <a:avLst/>
            </a:prstGeom>
            <a:noFill/>
            <a:ln>
              <a:noFill/>
            </a:ln>
          </p:spPr>
          <p:txBody>
            <a:bodyPr wrap="square" lIns="0" tIns="0" rIns="0" bIns="0" rtlCol="0" anchor="ctr">
              <a:noAutofit/>
            </a:bodyPr>
            <a:lstStyle/>
            <a:p>
              <a:pPr marL="0" indent="0" algn="l">
                <a:lnSpc>
                  <a:spcPct val="100000"/>
                </a:lnSpc>
                <a:buNone/>
              </a:pPr>
              <a:r>
                <a:rPr lang="en-US" sz="1600" b="1" dirty="0">
                  <a:solidFill>
                    <a:srgbClr val="003E82"/>
                  </a:solidFill>
                  <a:latin typeface="Tahoma"/>
                  <a:ea typeface="Tahoma"/>
                  <a:cs typeface="Tahoma"/>
                </a:rPr>
                <a:t>Live link state helps</a:t>
              </a:r>
              <a:endParaRPr lang="en-US" sz="1600" dirty="0"/>
            </a:p>
          </p:txBody>
        </p:sp>
        <p:sp>
          <p:nvSpPr>
            <p:cNvPr id="10" name="Shape 10"/>
            <p:cNvSpPr txBox="1"/>
            <p:nvPr/>
          </p:nvSpPr>
          <p:spPr>
            <a:xfrm>
              <a:off x="987552" y="2788920"/>
              <a:ext cx="2926080" cy="640080"/>
            </a:xfrm>
            <a:prstGeom prst="rect">
              <a:avLst/>
            </a:prstGeom>
            <a:noFill/>
            <a:ln>
              <a:noFill/>
            </a:ln>
          </p:spPr>
          <p:txBody>
            <a:bodyPr wrap="square" lIns="0" tIns="0" rIns="0" bIns="0" rtlCol="0" anchor="t">
              <a:noAutofit/>
            </a:bodyPr>
            <a:lstStyle/>
            <a:p>
              <a:pPr marL="0" indent="0" algn="l">
                <a:lnSpc>
                  <a:spcPct val="105000"/>
                </a:lnSpc>
                <a:buNone/>
              </a:pPr>
              <a:r>
                <a:rPr lang="en-US" sz="1350" dirty="0">
                  <a:solidFill>
                    <a:srgbClr val="44546A"/>
                  </a:solidFill>
                  <a:latin typeface="Tahoma"/>
                  <a:ea typeface="Tahoma"/>
                  <a:cs typeface="Tahoma"/>
                </a:rPr>
                <a:t>≈1.8× higher link-quality score</a:t>
              </a:r>
              <a:endParaRPr lang="en-US" sz="1350" dirty="0"/>
            </a:p>
          </p:txBody>
        </p:sp>
      </p:grpSp>
      <p:grpSp>
        <p:nvGrpSpPr>
          <p:cNvPr id="11" name="Result 2"/>
          <p:cNvGrpSpPr/>
          <p:nvPr/>
        </p:nvGrpSpPr>
        <p:grpSpPr>
          <a:xfrm>
            <a:off x="4416552" y="1737360"/>
            <a:ext cx="3383280" cy="1828800"/>
            <a:chOff x="4416552" y="1737360"/>
            <a:chExt cx="3383280" cy="1828800"/>
          </a:xfrm>
        </p:grpSpPr>
        <p:sp>
          <p:nvSpPr>
            <p:cNvPr id="12" name="Shape 12"/>
            <p:cNvSpPr/>
            <p:nvPr/>
          </p:nvSpPr>
          <p:spPr>
            <a:xfrm>
              <a:off x="4416552" y="1737360"/>
              <a:ext cx="3383280" cy="1828800"/>
            </a:xfrm>
            <a:prstGeom prst="roundRect">
              <a:avLst>
                <a:gd name="adj" fmla="val 450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3" name="Badge 2"/>
            <p:cNvSpPr/>
            <p:nvPr/>
          </p:nvSpPr>
          <p:spPr>
            <a:xfrm>
              <a:off x="4645152" y="2011680"/>
              <a:ext cx="548640" cy="548640"/>
            </a:xfrm>
            <a:prstGeom prst="ellipse">
              <a:avLst/>
            </a:prstGeom>
            <a:solidFill>
              <a:srgbClr val="FF9100"/>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2</a:t>
              </a:r>
              <a:endParaRPr lang="en-US" sz="1600" dirty="0"/>
            </a:p>
          </p:txBody>
        </p:sp>
        <p:sp>
          <p:nvSpPr>
            <p:cNvPr id="14" name="Shape 14"/>
            <p:cNvSpPr txBox="1"/>
            <p:nvPr/>
          </p:nvSpPr>
          <p:spPr>
            <a:xfrm>
              <a:off x="5330952" y="1938528"/>
              <a:ext cx="2331720" cy="713232"/>
            </a:xfrm>
            <a:prstGeom prst="rect">
              <a:avLst/>
            </a:prstGeom>
            <a:noFill/>
            <a:ln>
              <a:noFill/>
            </a:ln>
          </p:spPr>
          <p:txBody>
            <a:bodyPr wrap="square" lIns="0" tIns="0" rIns="0" bIns="0" rtlCol="0" anchor="ctr">
              <a:noAutofit/>
            </a:bodyPr>
            <a:lstStyle/>
            <a:p>
              <a:pPr marL="0" indent="0" algn="l">
                <a:lnSpc>
                  <a:spcPct val="100000"/>
                </a:lnSpc>
                <a:buNone/>
              </a:pPr>
              <a:r>
                <a:rPr lang="en-US" sz="1600" b="1" dirty="0">
                  <a:solidFill>
                    <a:srgbClr val="003E82"/>
                  </a:solidFill>
                  <a:latin typeface="Tahoma"/>
                  <a:ea typeface="Tahoma"/>
                  <a:cs typeface="Tahoma"/>
                </a:rPr>
                <a:t>PPO ≈ classical planners</a:t>
              </a:r>
              <a:endParaRPr lang="en-US" sz="1600" dirty="0"/>
            </a:p>
          </p:txBody>
        </p:sp>
        <p:sp>
          <p:nvSpPr>
            <p:cNvPr id="15" name="Shape 15"/>
            <p:cNvSpPr txBox="1"/>
            <p:nvPr/>
          </p:nvSpPr>
          <p:spPr>
            <a:xfrm>
              <a:off x="4645152" y="2788920"/>
              <a:ext cx="2926080" cy="640080"/>
            </a:xfrm>
            <a:prstGeom prst="rect">
              <a:avLst/>
            </a:prstGeom>
            <a:noFill/>
            <a:ln>
              <a:noFill/>
            </a:ln>
          </p:spPr>
          <p:txBody>
            <a:bodyPr wrap="square" lIns="0" tIns="0" rIns="0" bIns="0" rtlCol="0" anchor="t">
              <a:noAutofit/>
            </a:bodyPr>
            <a:lstStyle/>
            <a:p>
              <a:pPr marL="0" indent="0" algn="l">
                <a:lnSpc>
                  <a:spcPct val="105000"/>
                </a:lnSpc>
                <a:buNone/>
              </a:pPr>
              <a:r>
                <a:rPr lang="en-US" sz="1350" dirty="0">
                  <a:solidFill>
                    <a:srgbClr val="44546A"/>
                  </a:solidFill>
                  <a:latin typeface="Tahoma"/>
                  <a:ea typeface="Tahoma"/>
                  <a:cs typeface="Tahoma"/>
                </a:rPr>
                <a:t>Same range, not better than the fastest</a:t>
              </a:r>
              <a:endParaRPr lang="en-US" sz="1350" dirty="0"/>
            </a:p>
          </p:txBody>
        </p:sp>
      </p:grpSp>
      <p:grpSp>
        <p:nvGrpSpPr>
          <p:cNvPr id="16" name="Result 3"/>
          <p:cNvGrpSpPr/>
          <p:nvPr/>
        </p:nvGrpSpPr>
        <p:grpSpPr>
          <a:xfrm>
            <a:off x="8074152" y="1737360"/>
            <a:ext cx="3383280" cy="1828800"/>
            <a:chOff x="8074152" y="1737360"/>
            <a:chExt cx="3383280" cy="1828800"/>
          </a:xfrm>
        </p:grpSpPr>
        <p:sp>
          <p:nvSpPr>
            <p:cNvPr id="17" name="Shape 17"/>
            <p:cNvSpPr/>
            <p:nvPr/>
          </p:nvSpPr>
          <p:spPr>
            <a:xfrm>
              <a:off x="8074152" y="1737360"/>
              <a:ext cx="3383280" cy="1828800"/>
            </a:xfrm>
            <a:prstGeom prst="roundRect">
              <a:avLst>
                <a:gd name="adj" fmla="val 450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8" name="Badge 3"/>
            <p:cNvSpPr/>
            <p:nvPr/>
          </p:nvSpPr>
          <p:spPr>
            <a:xfrm>
              <a:off x="8302752" y="2011680"/>
              <a:ext cx="548640" cy="54864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3</a:t>
              </a:r>
              <a:endParaRPr lang="en-US" sz="1600" dirty="0"/>
            </a:p>
          </p:txBody>
        </p:sp>
        <p:sp>
          <p:nvSpPr>
            <p:cNvPr id="19" name="Shape 19"/>
            <p:cNvSpPr txBox="1"/>
            <p:nvPr/>
          </p:nvSpPr>
          <p:spPr>
            <a:xfrm>
              <a:off x="8988552" y="1938528"/>
              <a:ext cx="2331720" cy="713232"/>
            </a:xfrm>
            <a:prstGeom prst="rect">
              <a:avLst/>
            </a:prstGeom>
            <a:noFill/>
            <a:ln>
              <a:noFill/>
            </a:ln>
          </p:spPr>
          <p:txBody>
            <a:bodyPr wrap="square" lIns="0" tIns="0" rIns="0" bIns="0" rtlCol="0" anchor="ctr">
              <a:noAutofit/>
            </a:bodyPr>
            <a:lstStyle/>
            <a:p>
              <a:pPr marL="0" indent="0" algn="l">
                <a:lnSpc>
                  <a:spcPct val="100000"/>
                </a:lnSpc>
                <a:buNone/>
              </a:pPr>
              <a:r>
                <a:rPr lang="en-US" sz="1600" b="1" dirty="0">
                  <a:solidFill>
                    <a:srgbClr val="003E82"/>
                  </a:solidFill>
                  <a:latin typeface="Tahoma"/>
                  <a:ea typeface="Tahoma"/>
                  <a:cs typeface="Tahoma"/>
                </a:rPr>
                <a:t>Damage sweep</a:t>
              </a:r>
              <a:endParaRPr lang="en-US" sz="1600" dirty="0"/>
            </a:p>
          </p:txBody>
        </p:sp>
        <p:sp>
          <p:nvSpPr>
            <p:cNvPr id="20" name="Shape 20"/>
            <p:cNvSpPr txBox="1"/>
            <p:nvPr/>
          </p:nvSpPr>
          <p:spPr>
            <a:xfrm>
              <a:off x="8302752" y="2788920"/>
              <a:ext cx="2926080" cy="640080"/>
            </a:xfrm>
            <a:prstGeom prst="rect">
              <a:avLst/>
            </a:prstGeom>
            <a:noFill/>
            <a:ln>
              <a:noFill/>
            </a:ln>
          </p:spPr>
          <p:txBody>
            <a:bodyPr wrap="square" lIns="0" tIns="0" rIns="0" bIns="0" rtlCol="0" anchor="t">
              <a:noAutofit/>
            </a:bodyPr>
            <a:lstStyle/>
            <a:p>
              <a:pPr marL="0" indent="0" algn="l">
                <a:lnSpc>
                  <a:spcPct val="105000"/>
                </a:lnSpc>
                <a:buNone/>
              </a:pPr>
              <a:r>
                <a:rPr lang="en-US" sz="1350" dirty="0">
                  <a:solidFill>
                    <a:srgbClr val="44546A"/>
                  </a:solidFill>
                  <a:latin typeface="Tahoma"/>
                  <a:ea typeface="Tahoma"/>
                  <a:cs typeface="Tahoma"/>
                </a:rPr>
                <a:t>Damage weakens long links, not trips</a:t>
              </a:r>
              <a:endParaRPr lang="en-US" sz="1350" dirty="0"/>
            </a:p>
          </p:txBody>
        </p:sp>
      </p:grpSp>
      <p:grpSp>
        <p:nvGrpSpPr>
          <p:cNvPr id="21" name="Result 4"/>
          <p:cNvGrpSpPr/>
          <p:nvPr/>
        </p:nvGrpSpPr>
        <p:grpSpPr>
          <a:xfrm>
            <a:off x="758952" y="3840480"/>
            <a:ext cx="3383280" cy="1828800"/>
            <a:chOff x="758952" y="3840480"/>
            <a:chExt cx="3383280" cy="1828800"/>
          </a:xfrm>
        </p:grpSpPr>
        <p:sp>
          <p:nvSpPr>
            <p:cNvPr id="22" name="Shape 22"/>
            <p:cNvSpPr/>
            <p:nvPr/>
          </p:nvSpPr>
          <p:spPr>
            <a:xfrm>
              <a:off x="758952" y="3840480"/>
              <a:ext cx="3383280" cy="1828800"/>
            </a:xfrm>
            <a:prstGeom prst="roundRect">
              <a:avLst>
                <a:gd name="adj" fmla="val 450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3" name="Badge 4"/>
            <p:cNvSpPr/>
            <p:nvPr/>
          </p:nvSpPr>
          <p:spPr>
            <a:xfrm>
              <a:off x="987552" y="4114800"/>
              <a:ext cx="548640" cy="548640"/>
            </a:xfrm>
            <a:prstGeom prst="ellipse">
              <a:avLst/>
            </a:prstGeom>
            <a:solidFill>
              <a:srgbClr val="FF9100"/>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4</a:t>
              </a:r>
              <a:endParaRPr lang="en-US" sz="1600" dirty="0"/>
            </a:p>
          </p:txBody>
        </p:sp>
        <p:sp>
          <p:nvSpPr>
            <p:cNvPr id="24" name="Shape 24"/>
            <p:cNvSpPr txBox="1"/>
            <p:nvPr/>
          </p:nvSpPr>
          <p:spPr>
            <a:xfrm>
              <a:off x="1673352" y="4041648"/>
              <a:ext cx="2331720" cy="713232"/>
            </a:xfrm>
            <a:prstGeom prst="rect">
              <a:avLst/>
            </a:prstGeom>
            <a:noFill/>
            <a:ln>
              <a:noFill/>
            </a:ln>
          </p:spPr>
          <p:txBody>
            <a:bodyPr wrap="square" lIns="0" tIns="0" rIns="0" bIns="0" rtlCol="0" anchor="ctr">
              <a:noAutofit/>
            </a:bodyPr>
            <a:lstStyle/>
            <a:p>
              <a:pPr marL="0" indent="0" algn="l">
                <a:lnSpc>
                  <a:spcPct val="100000"/>
                </a:lnSpc>
                <a:buNone/>
              </a:pPr>
              <a:r>
                <a:rPr lang="en-US" sz="1600" b="1" dirty="0">
                  <a:solidFill>
                    <a:srgbClr val="003E82"/>
                  </a:solidFill>
                  <a:latin typeface="Tahoma"/>
                  <a:ea typeface="Tahoma"/>
                  <a:cs typeface="Tahoma"/>
                </a:rPr>
                <a:t>A faster simulator</a:t>
              </a:r>
              <a:endParaRPr lang="en-US" sz="1600" dirty="0"/>
            </a:p>
          </p:txBody>
        </p:sp>
        <p:sp>
          <p:nvSpPr>
            <p:cNvPr id="25" name="Shape 25"/>
            <p:cNvSpPr txBox="1"/>
            <p:nvPr/>
          </p:nvSpPr>
          <p:spPr>
            <a:xfrm>
              <a:off x="987552" y="4892040"/>
              <a:ext cx="2926080" cy="640080"/>
            </a:xfrm>
            <a:prstGeom prst="rect">
              <a:avLst/>
            </a:prstGeom>
            <a:noFill/>
            <a:ln>
              <a:noFill/>
            </a:ln>
          </p:spPr>
          <p:txBody>
            <a:bodyPr wrap="square" lIns="0" tIns="0" rIns="0" bIns="0" rtlCol="0" anchor="t">
              <a:noAutofit/>
            </a:bodyPr>
            <a:lstStyle/>
            <a:p>
              <a:pPr marL="0" indent="0" algn="l">
                <a:lnSpc>
                  <a:spcPct val="105000"/>
                </a:lnSpc>
                <a:buNone/>
              </a:pPr>
              <a:r>
                <a:rPr lang="en-US" sz="1350" dirty="0">
                  <a:solidFill>
                    <a:srgbClr val="44546A"/>
                  </a:solidFill>
                  <a:latin typeface="Tahoma"/>
                  <a:ea typeface="Tahoma"/>
                  <a:cs typeface="Tahoma"/>
                </a:rPr>
                <a:t>Up to 7.3× faster than our reference</a:t>
              </a:r>
              <a:endParaRPr lang="en-US" sz="1350" dirty="0"/>
            </a:p>
          </p:txBody>
        </p:sp>
      </p:grpSp>
      <p:grpSp>
        <p:nvGrpSpPr>
          <p:cNvPr id="26" name="Result 5"/>
          <p:cNvGrpSpPr/>
          <p:nvPr/>
        </p:nvGrpSpPr>
        <p:grpSpPr>
          <a:xfrm>
            <a:off x="4416552" y="3840480"/>
            <a:ext cx="3383280" cy="1828800"/>
            <a:chOff x="4416552" y="3840480"/>
            <a:chExt cx="3383280" cy="1828800"/>
          </a:xfrm>
        </p:grpSpPr>
        <p:sp>
          <p:nvSpPr>
            <p:cNvPr id="27" name="Shape 27"/>
            <p:cNvSpPr/>
            <p:nvPr/>
          </p:nvSpPr>
          <p:spPr>
            <a:xfrm>
              <a:off x="4416552" y="3840480"/>
              <a:ext cx="3383280" cy="1828800"/>
            </a:xfrm>
            <a:prstGeom prst="roundRect">
              <a:avLst>
                <a:gd name="adj" fmla="val 450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8" name="Badge 5"/>
            <p:cNvSpPr/>
            <p:nvPr/>
          </p:nvSpPr>
          <p:spPr>
            <a:xfrm>
              <a:off x="4645152" y="4114800"/>
              <a:ext cx="548640" cy="54864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5</a:t>
              </a:r>
              <a:endParaRPr lang="en-US" sz="1600" dirty="0"/>
            </a:p>
          </p:txBody>
        </p:sp>
        <p:sp>
          <p:nvSpPr>
            <p:cNvPr id="29" name="Shape 29"/>
            <p:cNvSpPr txBox="1"/>
            <p:nvPr/>
          </p:nvSpPr>
          <p:spPr>
            <a:xfrm>
              <a:off x="5330952" y="4041648"/>
              <a:ext cx="2331720" cy="713232"/>
            </a:xfrm>
            <a:prstGeom prst="rect">
              <a:avLst/>
            </a:prstGeom>
            <a:noFill/>
            <a:ln>
              <a:noFill/>
            </a:ln>
          </p:spPr>
          <p:txBody>
            <a:bodyPr wrap="square" lIns="0" tIns="0" rIns="0" bIns="0" rtlCol="0" anchor="ctr">
              <a:noAutofit/>
            </a:bodyPr>
            <a:lstStyle/>
            <a:p>
              <a:pPr marL="0" indent="0" algn="l">
                <a:lnSpc>
                  <a:spcPct val="100000"/>
                </a:lnSpc>
                <a:buNone/>
              </a:pPr>
              <a:r>
                <a:rPr lang="en-US" sz="1600" b="1" dirty="0">
                  <a:solidFill>
                    <a:srgbClr val="003E82"/>
                  </a:solidFill>
                  <a:latin typeface="Tahoma"/>
                  <a:ea typeface="Tahoma"/>
                  <a:cs typeface="Tahoma"/>
                </a:rPr>
                <a:t>Gossip</a:t>
              </a:r>
              <a:endParaRPr lang="en-US" sz="1600" dirty="0"/>
            </a:p>
          </p:txBody>
        </p:sp>
        <p:sp>
          <p:nvSpPr>
            <p:cNvPr id="30" name="Shape 30"/>
            <p:cNvSpPr txBox="1"/>
            <p:nvPr/>
          </p:nvSpPr>
          <p:spPr>
            <a:xfrm>
              <a:off x="4645152" y="4892040"/>
              <a:ext cx="2926080" cy="640080"/>
            </a:xfrm>
            <a:prstGeom prst="rect">
              <a:avLst/>
            </a:prstGeom>
            <a:noFill/>
            <a:ln>
              <a:noFill/>
            </a:ln>
          </p:spPr>
          <p:txBody>
            <a:bodyPr wrap="square" lIns="0" tIns="0" rIns="0" bIns="0" rtlCol="0" anchor="t">
              <a:noAutofit/>
            </a:bodyPr>
            <a:lstStyle/>
            <a:p>
              <a:pPr marL="0" indent="0" algn="l">
                <a:lnSpc>
                  <a:spcPct val="105000"/>
                </a:lnSpc>
                <a:buNone/>
              </a:pPr>
              <a:r>
                <a:rPr lang="en-US" sz="1350" dirty="0">
                  <a:solidFill>
                    <a:srgbClr val="44546A"/>
                  </a:solidFill>
                  <a:latin typeface="Tahoma"/>
                  <a:ea typeface="Tahoma"/>
                  <a:cs typeface="Tahoma"/>
                </a:rPr>
                <a:t>No measurable difference yet</a:t>
              </a:r>
              <a:endParaRPr lang="en-US" sz="1350" dirty="0"/>
            </a:p>
          </p:txBody>
        </p:sp>
      </p:grpSp>
      <p:grpSp>
        <p:nvGrpSpPr>
          <p:cNvPr id="31" name="Result 6"/>
          <p:cNvGrpSpPr/>
          <p:nvPr/>
        </p:nvGrpSpPr>
        <p:grpSpPr>
          <a:xfrm>
            <a:off x="8074152" y="3840480"/>
            <a:ext cx="3383280" cy="1828800"/>
            <a:chOff x="8074152" y="3840480"/>
            <a:chExt cx="3383280" cy="1828800"/>
          </a:xfrm>
        </p:grpSpPr>
        <p:sp>
          <p:nvSpPr>
            <p:cNvPr id="32" name="Shape 32"/>
            <p:cNvSpPr/>
            <p:nvPr/>
          </p:nvSpPr>
          <p:spPr>
            <a:xfrm>
              <a:off x="8074152" y="3840480"/>
              <a:ext cx="3383280" cy="1828800"/>
            </a:xfrm>
            <a:prstGeom prst="roundRect">
              <a:avLst>
                <a:gd name="adj" fmla="val 450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33" name="Badge 6"/>
            <p:cNvSpPr/>
            <p:nvPr/>
          </p:nvSpPr>
          <p:spPr>
            <a:xfrm>
              <a:off x="8302752" y="4114800"/>
              <a:ext cx="548640" cy="548640"/>
            </a:xfrm>
            <a:prstGeom prst="ellipse">
              <a:avLst/>
            </a:prstGeom>
            <a:solidFill>
              <a:srgbClr val="FF9100"/>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6</a:t>
              </a:r>
              <a:endParaRPr lang="en-US" sz="1600" dirty="0"/>
            </a:p>
          </p:txBody>
        </p:sp>
        <p:sp>
          <p:nvSpPr>
            <p:cNvPr id="34" name="Shape 34"/>
            <p:cNvSpPr txBox="1"/>
            <p:nvPr/>
          </p:nvSpPr>
          <p:spPr>
            <a:xfrm>
              <a:off x="8988552" y="4041648"/>
              <a:ext cx="2331720" cy="713232"/>
            </a:xfrm>
            <a:prstGeom prst="rect">
              <a:avLst/>
            </a:prstGeom>
            <a:noFill/>
            <a:ln>
              <a:noFill/>
            </a:ln>
          </p:spPr>
          <p:txBody>
            <a:bodyPr wrap="square" lIns="0" tIns="0" rIns="0" bIns="0" rtlCol="0" anchor="ctr">
              <a:noAutofit/>
            </a:bodyPr>
            <a:lstStyle/>
            <a:p>
              <a:pPr marL="0" indent="0" algn="l">
                <a:lnSpc>
                  <a:spcPct val="100000"/>
                </a:lnSpc>
                <a:buNone/>
              </a:pPr>
              <a:r>
                <a:rPr lang="en-US" sz="1600" b="1" dirty="0">
                  <a:solidFill>
                    <a:srgbClr val="003E82"/>
                  </a:solidFill>
                  <a:latin typeface="Tahoma"/>
                  <a:ea typeface="Tahoma"/>
                  <a:cs typeface="Tahoma"/>
                </a:rPr>
                <a:t>Radio model</a:t>
              </a:r>
              <a:endParaRPr lang="en-US" sz="1600" dirty="0"/>
            </a:p>
          </p:txBody>
        </p:sp>
        <p:sp>
          <p:nvSpPr>
            <p:cNvPr id="35" name="Shape 35"/>
            <p:cNvSpPr txBox="1"/>
            <p:nvPr/>
          </p:nvSpPr>
          <p:spPr>
            <a:xfrm>
              <a:off x="8302752" y="4892040"/>
              <a:ext cx="2926080" cy="640080"/>
            </a:xfrm>
            <a:prstGeom prst="rect">
              <a:avLst/>
            </a:prstGeom>
            <a:noFill/>
            <a:ln>
              <a:noFill/>
            </a:ln>
          </p:spPr>
          <p:txBody>
            <a:bodyPr wrap="square" lIns="0" tIns="0" rIns="0" bIns="0" rtlCol="0" anchor="t">
              <a:noAutofit/>
            </a:bodyPr>
            <a:lstStyle/>
            <a:p>
              <a:pPr marL="0" indent="0" algn="l">
                <a:lnSpc>
                  <a:spcPct val="105000"/>
                </a:lnSpc>
                <a:buNone/>
              </a:pPr>
              <a:r>
                <a:rPr lang="en-US" sz="1350" dirty="0">
                  <a:solidFill>
                    <a:srgbClr val="44546A"/>
                  </a:solidFill>
                  <a:latin typeface="Tahoma"/>
                  <a:ea typeface="Tahoma"/>
                  <a:cs typeface="Tahoma"/>
                </a:rPr>
                <a:t>Internally consistent with the standard model</a:t>
              </a:r>
              <a:endParaRPr lang="en-US" sz="1350" dirty="0"/>
            </a:p>
          </p:txBody>
        </p:sp>
      </p:grpSp>
      <p:cxnSp>
        <p:nvCxnSpPr>
          <p:cNvPr id="36" name="Footer rule"/>
          <p:cNvCxnSpPr/>
          <p:nvPr/>
        </p:nvCxnSpPr>
        <p:spPr>
          <a:xfrm>
            <a:off x="502920" y="6199632"/>
            <a:ext cx="11155680" cy="0"/>
          </a:xfrm>
          <a:prstGeom prst="line">
            <a:avLst/>
          </a:prstGeom>
          <a:ln w="12700">
            <a:solidFill>
              <a:srgbClr val="003E82">
                <a:alpha val="25000"/>
              </a:srgbClr>
            </a:solidFill>
          </a:ln>
        </p:spPr>
      </p:cxnSp>
      <p:pic>
        <p:nvPicPr>
          <p:cNvPr id="37"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38"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9"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14</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nodeType="withEffect">
                                  <p:stCondLst>
                                    <p:cond delay="12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24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par>
                                <p:cTn id="14" presetID="10" presetClass="entr" presetSubtype="0" fill="hold" nodeType="withEffect">
                                  <p:stCondLst>
                                    <p:cond delay="36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50"/>
                                        <p:tgtEl>
                                          <p:spTgt spid="21"/>
                                        </p:tgtEl>
                                      </p:cBhvr>
                                    </p:animEffect>
                                  </p:childTnLst>
                                </p:cTn>
                              </p:par>
                              <p:par>
                                <p:cTn id="17" presetID="10" presetClass="entr" presetSubtype="0" fill="hold" nodeType="withEffect">
                                  <p:stCondLst>
                                    <p:cond delay="48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childTnLst>
                                </p:cTn>
                              </p:par>
                              <p:par>
                                <p:cTn id="20" presetID="10" presetClass="entr" presetSubtype="0" fill="hold" nodeType="withEffect">
                                  <p:stCondLst>
                                    <p:cond delay="60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Result 1">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Live link state: ≈1.8× higher link-quality score</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Result 1 of 6  ·  Dijkstra with and without live link scores  ·  the same 100 trips, 10×10 grid</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Chart card"/>
          <p:cNvSpPr/>
          <p:nvPr/>
        </p:nvSpPr>
        <p:spPr>
          <a:xfrm>
            <a:off x="758952" y="1691640"/>
            <a:ext cx="5852160" cy="4206240"/>
          </a:xfrm>
          <a:prstGeom prst="roundRect">
            <a:avLst>
              <a:gd name="adj" fmla="val 1956"/>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7" name="Shape 7"/>
          <p:cNvSpPr txBox="1"/>
          <p:nvPr/>
        </p:nvSpPr>
        <p:spPr>
          <a:xfrm>
            <a:off x="1005840" y="1847088"/>
            <a:ext cx="5394960" cy="320040"/>
          </a:xfrm>
          <a:prstGeom prst="rect">
            <a:avLst/>
          </a:prstGeom>
          <a:noFill/>
          <a:ln>
            <a:noFill/>
          </a:ln>
        </p:spPr>
        <p:txBody>
          <a:bodyPr wrap="square" lIns="0" tIns="0" rIns="0" bIns="0" rtlCol="0" anchor="ctr">
            <a:noAutofit/>
          </a:bodyPr>
          <a:lstStyle/>
          <a:p>
            <a:pPr marL="0" indent="0" algn="l">
              <a:buNone/>
            </a:pPr>
            <a:r>
              <a:rPr lang="en-US" sz="1350" b="1" dirty="0">
                <a:solidFill>
                  <a:srgbClr val="08325F"/>
                </a:solidFill>
                <a:latin typeface="Tahoma"/>
                <a:ea typeface="Tahoma"/>
                <a:cs typeface="Tahoma"/>
              </a:rPr>
              <a:t>Average link-quality score along the route</a:t>
            </a:r>
            <a:endParaRPr lang="en-US" sz="1350" dirty="0"/>
          </a:p>
        </p:txBody>
      </p:sp>
      <p:cxnSp>
        <p:nvCxnSpPr>
          <p:cNvPr id="8" name="Line 8"/>
          <p:cNvCxnSpPr/>
          <p:nvPr/>
        </p:nvCxnSpPr>
        <p:spPr>
          <a:xfrm>
            <a:off x="3611880" y="2423160"/>
            <a:ext cx="0" cy="2011680"/>
          </a:xfrm>
          <a:prstGeom prst="line">
            <a:avLst/>
          </a:prstGeom>
          <a:ln w="9525">
            <a:solidFill>
              <a:srgbClr val="E3E8EB"/>
            </a:solidFill>
          </a:ln>
        </p:spPr>
      </p:cxnSp>
      <p:cxnSp>
        <p:nvCxnSpPr>
          <p:cNvPr id="9" name="Line 9"/>
          <p:cNvCxnSpPr/>
          <p:nvPr/>
        </p:nvCxnSpPr>
        <p:spPr>
          <a:xfrm>
            <a:off x="4709160" y="2423160"/>
            <a:ext cx="0" cy="2011680"/>
          </a:xfrm>
          <a:prstGeom prst="line">
            <a:avLst/>
          </a:prstGeom>
          <a:ln w="9525">
            <a:solidFill>
              <a:srgbClr val="E3E8EB"/>
            </a:solidFill>
          </a:ln>
        </p:spPr>
      </p:cxnSp>
      <p:cxnSp>
        <p:nvCxnSpPr>
          <p:cNvPr id="10" name="Line 10"/>
          <p:cNvCxnSpPr/>
          <p:nvPr/>
        </p:nvCxnSpPr>
        <p:spPr>
          <a:xfrm>
            <a:off x="5806440" y="2423160"/>
            <a:ext cx="0" cy="2011680"/>
          </a:xfrm>
          <a:prstGeom prst="line">
            <a:avLst/>
          </a:prstGeom>
          <a:ln w="9525">
            <a:solidFill>
              <a:srgbClr val="E3E8EB"/>
            </a:solidFill>
          </a:ln>
        </p:spPr>
      </p:cxnSp>
      <p:sp>
        <p:nvSpPr>
          <p:cNvPr id="11" name="Shape 11"/>
          <p:cNvSpPr txBox="1"/>
          <p:nvPr/>
        </p:nvSpPr>
        <p:spPr>
          <a:xfrm>
            <a:off x="2240280" y="4480560"/>
            <a:ext cx="548640" cy="256032"/>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0</a:t>
            </a:r>
            <a:endParaRPr lang="en-US" sz="1050" dirty="0"/>
          </a:p>
        </p:txBody>
      </p:sp>
      <p:sp>
        <p:nvSpPr>
          <p:cNvPr id="12" name="Shape 12"/>
          <p:cNvSpPr txBox="1"/>
          <p:nvPr/>
        </p:nvSpPr>
        <p:spPr>
          <a:xfrm>
            <a:off x="3337560" y="4480560"/>
            <a:ext cx="548640" cy="256032"/>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0.1</a:t>
            </a:r>
            <a:endParaRPr lang="en-US" sz="1050" dirty="0"/>
          </a:p>
        </p:txBody>
      </p:sp>
      <p:sp>
        <p:nvSpPr>
          <p:cNvPr id="13" name="Shape 13"/>
          <p:cNvSpPr txBox="1"/>
          <p:nvPr/>
        </p:nvSpPr>
        <p:spPr>
          <a:xfrm>
            <a:off x="4434840" y="4480560"/>
            <a:ext cx="548640" cy="256032"/>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0.2</a:t>
            </a:r>
            <a:endParaRPr lang="en-US" sz="1050" dirty="0"/>
          </a:p>
        </p:txBody>
      </p:sp>
      <p:sp>
        <p:nvSpPr>
          <p:cNvPr id="14" name="Shape 14"/>
          <p:cNvSpPr txBox="1"/>
          <p:nvPr/>
        </p:nvSpPr>
        <p:spPr>
          <a:xfrm>
            <a:off x="5532120" y="4480560"/>
            <a:ext cx="548640" cy="256032"/>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0.3</a:t>
            </a:r>
            <a:endParaRPr lang="en-US" sz="1050" dirty="0"/>
          </a:p>
        </p:txBody>
      </p:sp>
      <p:cxnSp>
        <p:nvCxnSpPr>
          <p:cNvPr id="15" name="Line 15"/>
          <p:cNvCxnSpPr/>
          <p:nvPr/>
        </p:nvCxnSpPr>
        <p:spPr>
          <a:xfrm>
            <a:off x="2514600" y="2423160"/>
            <a:ext cx="0" cy="2011680"/>
          </a:xfrm>
          <a:prstGeom prst="line">
            <a:avLst/>
          </a:prstGeom>
          <a:ln w="12700">
            <a:solidFill>
              <a:srgbClr val="003E82">
                <a:alpha val="60000"/>
              </a:srgbClr>
            </a:solidFill>
          </a:ln>
        </p:spPr>
      </p:cxnSp>
      <p:sp>
        <p:nvSpPr>
          <p:cNvPr id="16" name="Shape 16"/>
          <p:cNvSpPr txBox="1"/>
          <p:nvPr/>
        </p:nvSpPr>
        <p:spPr>
          <a:xfrm>
            <a:off x="868680" y="2560320"/>
            <a:ext cx="1554480" cy="713232"/>
          </a:xfrm>
          <a:prstGeom prst="rect">
            <a:avLst/>
          </a:prstGeom>
          <a:noFill/>
          <a:ln>
            <a:noFill/>
          </a:ln>
        </p:spPr>
        <p:txBody>
          <a:bodyPr wrap="square" lIns="0" tIns="0" rIns="0" bIns="0" rtlCol="0" anchor="ctr">
            <a:noAutofit/>
          </a:bodyPr>
          <a:lstStyle/>
          <a:p>
            <a:pPr marL="0" indent="0" algn="r">
              <a:lnSpc>
                <a:spcPct val="100000"/>
              </a:lnSpc>
              <a:buNone/>
            </a:pPr>
            <a:r>
              <a:rPr lang="en-US" sz="1400" b="1" dirty="0">
                <a:solidFill>
                  <a:srgbClr val="08325F"/>
                </a:solidFill>
                <a:latin typeface="Tahoma"/>
                <a:ea typeface="Tahoma"/>
                <a:cs typeface="Tahoma"/>
              </a:rPr>
              <a:t>Static</a:t>
            </a:r>
            <a:endParaRPr lang="en-US" sz="1400" dirty="0"/>
          </a:p>
          <a:p>
            <a:pPr marL="0" indent="0" algn="r">
              <a:lnSpc>
                <a:spcPct val="100000"/>
              </a:lnSpc>
              <a:buNone/>
            </a:pPr>
            <a:r>
              <a:rPr lang="en-US" sz="1100" dirty="0">
                <a:solidFill>
                  <a:srgbClr val="66788A"/>
                </a:solidFill>
                <a:latin typeface="Tahoma"/>
                <a:ea typeface="Tahoma"/>
                <a:cs typeface="Tahoma"/>
              </a:rPr>
              <a:t>hop count</a:t>
            </a:r>
            <a:endParaRPr lang="en-US" sz="1100" dirty="0"/>
          </a:p>
        </p:txBody>
      </p:sp>
      <p:sp>
        <p:nvSpPr>
          <p:cNvPr id="17" name="Bar Static"/>
          <p:cNvSpPr/>
          <p:nvPr/>
        </p:nvSpPr>
        <p:spPr>
          <a:xfrm>
            <a:off x="2514600" y="2560320"/>
            <a:ext cx="1591056" cy="713232"/>
          </a:xfrm>
          <a:prstGeom prst="rect">
            <a:avLst/>
          </a:prstGeom>
          <a:solidFill>
            <a:srgbClr val="9AA8B3"/>
          </a:solidFill>
          <a:ln>
            <a:noFill/>
          </a:ln>
        </p:spPr>
      </p:sp>
      <p:sp>
        <p:nvSpPr>
          <p:cNvPr id="18" name="Value Static"/>
          <p:cNvSpPr txBox="1"/>
          <p:nvPr/>
        </p:nvSpPr>
        <p:spPr>
          <a:xfrm>
            <a:off x="4215384" y="2560320"/>
            <a:ext cx="914400" cy="713232"/>
          </a:xfrm>
          <a:prstGeom prst="rect">
            <a:avLst/>
          </a:prstGeom>
          <a:noFill/>
          <a:ln>
            <a:noFill/>
          </a:ln>
        </p:spPr>
        <p:txBody>
          <a:bodyPr wrap="square" lIns="0" tIns="0" rIns="0" bIns="0" rtlCol="0" anchor="ctr">
            <a:noAutofit/>
          </a:bodyPr>
          <a:lstStyle/>
          <a:p>
            <a:pPr marL="0" indent="0" algn="l">
              <a:buNone/>
            </a:pPr>
            <a:r>
              <a:rPr lang="en-US" sz="2000" b="1" dirty="0">
                <a:solidFill>
                  <a:srgbClr val="5F6F7D"/>
                </a:solidFill>
                <a:latin typeface="Tahoma"/>
                <a:ea typeface="Tahoma"/>
                <a:cs typeface="Tahoma"/>
              </a:rPr>
              <a:t>0.145</a:t>
            </a:r>
            <a:endParaRPr lang="en-US" sz="2000" dirty="0"/>
          </a:p>
        </p:txBody>
      </p:sp>
      <p:sp>
        <p:nvSpPr>
          <p:cNvPr id="19" name="Shape 19"/>
          <p:cNvSpPr txBox="1"/>
          <p:nvPr/>
        </p:nvSpPr>
        <p:spPr>
          <a:xfrm>
            <a:off x="868680" y="3520440"/>
            <a:ext cx="1554480" cy="713232"/>
          </a:xfrm>
          <a:prstGeom prst="rect">
            <a:avLst/>
          </a:prstGeom>
          <a:noFill/>
          <a:ln>
            <a:noFill/>
          </a:ln>
        </p:spPr>
        <p:txBody>
          <a:bodyPr wrap="square" lIns="0" tIns="0" rIns="0" bIns="0" rtlCol="0" anchor="ctr">
            <a:noAutofit/>
          </a:bodyPr>
          <a:lstStyle/>
          <a:p>
            <a:pPr marL="0" indent="0" algn="r">
              <a:lnSpc>
                <a:spcPct val="100000"/>
              </a:lnSpc>
              <a:buNone/>
            </a:pPr>
            <a:r>
              <a:rPr lang="en-US" sz="1400" b="1" dirty="0">
                <a:solidFill>
                  <a:srgbClr val="08325F"/>
                </a:solidFill>
                <a:latin typeface="Tahoma"/>
                <a:ea typeface="Tahoma"/>
                <a:cs typeface="Tahoma"/>
              </a:rPr>
              <a:t>Dynamic</a:t>
            </a:r>
            <a:endParaRPr lang="en-US" sz="1400" dirty="0"/>
          </a:p>
          <a:p>
            <a:pPr marL="0" indent="0" algn="r">
              <a:lnSpc>
                <a:spcPct val="100000"/>
              </a:lnSpc>
              <a:buNone/>
            </a:pPr>
            <a:r>
              <a:rPr lang="en-US" sz="1100" dirty="0">
                <a:solidFill>
                  <a:srgbClr val="66788A"/>
                </a:solidFill>
                <a:latin typeface="Tahoma"/>
                <a:ea typeface="Tahoma"/>
                <a:cs typeface="Tahoma"/>
              </a:rPr>
              <a:t>live link score</a:t>
            </a:r>
            <a:endParaRPr lang="en-US" sz="1100" dirty="0"/>
          </a:p>
        </p:txBody>
      </p:sp>
      <p:sp>
        <p:nvSpPr>
          <p:cNvPr id="20" name="Bar Dynamic"/>
          <p:cNvSpPr/>
          <p:nvPr/>
        </p:nvSpPr>
        <p:spPr>
          <a:xfrm>
            <a:off x="2514600" y="3520440"/>
            <a:ext cx="2929738" cy="713232"/>
          </a:xfrm>
          <a:prstGeom prst="rect">
            <a:avLst/>
          </a:prstGeom>
          <a:solidFill>
            <a:srgbClr val="2A78D6"/>
          </a:solidFill>
          <a:ln>
            <a:noFill/>
          </a:ln>
        </p:spPr>
      </p:sp>
      <p:sp>
        <p:nvSpPr>
          <p:cNvPr id="21" name="Value Dynamic"/>
          <p:cNvSpPr txBox="1"/>
          <p:nvPr/>
        </p:nvSpPr>
        <p:spPr>
          <a:xfrm>
            <a:off x="5554066" y="3520440"/>
            <a:ext cx="914400" cy="713232"/>
          </a:xfrm>
          <a:prstGeom prst="rect">
            <a:avLst/>
          </a:prstGeom>
          <a:noFill/>
          <a:ln>
            <a:noFill/>
          </a:ln>
        </p:spPr>
        <p:txBody>
          <a:bodyPr wrap="square" lIns="0" tIns="0" rIns="0" bIns="0" rtlCol="0" anchor="ctr">
            <a:noAutofit/>
          </a:bodyPr>
          <a:lstStyle/>
          <a:p>
            <a:pPr marL="0" indent="0" algn="l">
              <a:buNone/>
            </a:pPr>
            <a:r>
              <a:rPr lang="en-US" sz="2000" b="1" dirty="0">
                <a:solidFill>
                  <a:srgbClr val="2A78D6"/>
                </a:solidFill>
                <a:latin typeface="Tahoma"/>
                <a:ea typeface="Tahoma"/>
                <a:cs typeface="Tahoma"/>
              </a:rPr>
              <a:t>0.267</a:t>
            </a:r>
            <a:endParaRPr lang="en-US" sz="2000" dirty="0"/>
          </a:p>
        </p:txBody>
      </p:sp>
      <p:sp>
        <p:nvSpPr>
          <p:cNvPr id="22" name="Ratio"/>
          <p:cNvSpPr/>
          <p:nvPr/>
        </p:nvSpPr>
        <p:spPr>
          <a:xfrm>
            <a:off x="2514600" y="4956048"/>
            <a:ext cx="2011680" cy="502920"/>
          </a:xfrm>
          <a:prstGeom prst="roundRect">
            <a:avLst>
              <a:gd name="adj" fmla="val 50000"/>
            </a:avLst>
          </a:prstGeom>
          <a:solidFill>
            <a:srgbClr val="FF9100"/>
          </a:solidFill>
          <a:ln>
            <a:noFill/>
          </a:ln>
          <a:effectLst>
            <a:outerShdw blurRad="50800" dist="25400" dir="5400000" algn="t" rotWithShape="0">
              <a:srgbClr val="0A2E5C">
                <a:alpha val="24000"/>
              </a:srgbClr>
            </a:outerShdw>
          </a:effectLst>
        </p:spPr>
        <p:txBody>
          <a:bodyPr wrap="square" lIns="0" tIns="0" rIns="0" bIns="0" rtlCol="0" anchor="ctr">
            <a:noAutofit/>
          </a:bodyPr>
          <a:lstStyle/>
          <a:p>
            <a:pPr marL="0" indent="0" algn="ctr">
              <a:buNone/>
            </a:pPr>
            <a:r>
              <a:rPr lang="en-US" sz="1800" b="1" dirty="0">
                <a:solidFill>
                  <a:srgbClr val="FFFFFF"/>
                </a:solidFill>
                <a:latin typeface="Tahoma"/>
                <a:ea typeface="Tahoma"/>
                <a:cs typeface="Tahoma"/>
              </a:rPr>
              <a:t>≈1.8× higher</a:t>
            </a:r>
            <a:endParaRPr lang="en-US" sz="1800" dirty="0"/>
          </a:p>
        </p:txBody>
      </p:sp>
      <p:sp>
        <p:nvSpPr>
          <p:cNvPr id="23" name="Ratio range"/>
          <p:cNvSpPr txBox="1"/>
          <p:nvPr/>
        </p:nvSpPr>
        <p:spPr>
          <a:xfrm>
            <a:off x="4663440" y="4892040"/>
            <a:ext cx="1874520" cy="640080"/>
          </a:xfrm>
          <a:prstGeom prst="rect">
            <a:avLst/>
          </a:prstGeom>
          <a:noFill/>
          <a:ln>
            <a:noFill/>
          </a:ln>
        </p:spPr>
        <p:txBody>
          <a:bodyPr wrap="square" lIns="0" tIns="0" rIns="0" bIns="0" rtlCol="0" anchor="ctr">
            <a:noAutofit/>
          </a:bodyPr>
          <a:lstStyle/>
          <a:p>
            <a:pPr marL="0" indent="0" algn="l">
              <a:lnSpc>
                <a:spcPct val="100000"/>
              </a:lnSpc>
              <a:buNone/>
            </a:pPr>
            <a:r>
              <a:rPr lang="en-US" sz="1150" dirty="0">
                <a:solidFill>
                  <a:srgbClr val="44546A"/>
                </a:solidFill>
                <a:latin typeface="Tahoma"/>
                <a:ea typeface="Tahoma"/>
                <a:cs typeface="Tahoma"/>
              </a:rPr>
              <a:t>1.5–1.9× across all five damage levels</a:t>
            </a:r>
            <a:endParaRPr lang="en-US" sz="1150" dirty="0"/>
          </a:p>
        </p:txBody>
      </p:sp>
      <p:sp>
        <p:nvSpPr>
          <p:cNvPr id="24" name="Matched length"/>
          <p:cNvSpPr/>
          <p:nvPr/>
        </p:nvSpPr>
        <p:spPr>
          <a:xfrm>
            <a:off x="6903720" y="1691640"/>
            <a:ext cx="4526280" cy="1261872"/>
          </a:xfrm>
          <a:prstGeom prst="roundRect">
            <a:avLst>
              <a:gd name="adj" fmla="val 6521"/>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28600" tIns="109728" rIns="182880" bIns="91440" rtlCol="0" anchor="ctr">
            <a:noAutofit/>
          </a:bodyPr>
          <a:lstStyle/>
          <a:p>
            <a:pPr marL="0" indent="0" algn="l">
              <a:lnSpc>
                <a:spcPct val="100000"/>
              </a:lnSpc>
              <a:buNone/>
            </a:pPr>
            <a:r>
              <a:rPr lang="en-US" sz="2800" b="1" dirty="0">
                <a:solidFill>
                  <a:srgbClr val="2A78D6"/>
                </a:solidFill>
                <a:latin typeface="Tahoma"/>
                <a:ea typeface="Tahoma"/>
                <a:cs typeface="Tahoma"/>
              </a:rPr>
              <a:t>1.9–2.6×</a:t>
            </a:r>
            <a:endParaRPr lang="en-US" sz="2800" dirty="0"/>
          </a:p>
          <a:p>
            <a:pPr marL="0" indent="0" algn="l">
              <a:lnSpc>
                <a:spcPct val="100000"/>
              </a:lnSpc>
              <a:buNone/>
            </a:pPr>
            <a:r>
              <a:rPr lang="en-US" sz="1250" dirty="0">
                <a:solidFill>
                  <a:srgbClr val="44546A"/>
                </a:solidFill>
                <a:latin typeface="Tahoma"/>
                <a:ea typeface="Tahoma"/>
                <a:cs typeface="Tahoma"/>
              </a:rPr>
              <a:t>comparing only trips of the same length: longer routes score lower, so the gap widens</a:t>
            </a:r>
            <a:endParaRPr lang="en-US" sz="1250" dirty="0"/>
          </a:p>
        </p:txBody>
      </p:sp>
      <p:sp>
        <p:nvSpPr>
          <p:cNvPr id="25" name="A star pair"/>
          <p:cNvSpPr/>
          <p:nvPr/>
        </p:nvSpPr>
        <p:spPr>
          <a:xfrm>
            <a:off x="6903720" y="3090672"/>
            <a:ext cx="4526280" cy="1261872"/>
          </a:xfrm>
          <a:prstGeom prst="roundRect">
            <a:avLst>
              <a:gd name="adj" fmla="val 6521"/>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28600" tIns="109728" rIns="182880" bIns="91440" rtlCol="0" anchor="ctr">
            <a:noAutofit/>
          </a:bodyPr>
          <a:lstStyle/>
          <a:p>
            <a:pPr marL="0" indent="0" algn="l">
              <a:lnSpc>
                <a:spcPct val="100000"/>
              </a:lnSpc>
              <a:buNone/>
            </a:pPr>
            <a:r>
              <a:rPr lang="en-US" sz="2800" b="1" dirty="0">
                <a:solidFill>
                  <a:srgbClr val="7C8B99"/>
                </a:solidFill>
                <a:latin typeface="Tahoma"/>
                <a:ea typeface="Tahoma"/>
                <a:cs typeface="Tahoma"/>
              </a:rPr>
              <a:t>1.03×</a:t>
            </a:r>
            <a:endParaRPr lang="en-US" sz="2800" dirty="0"/>
          </a:p>
          <a:p>
            <a:pPr marL="0" indent="0" algn="l">
              <a:lnSpc>
                <a:spcPct val="100000"/>
              </a:lnSpc>
              <a:buNone/>
            </a:pPr>
            <a:r>
              <a:rPr lang="en-US" sz="1250" dirty="0">
                <a:solidFill>
                  <a:srgbClr val="44546A"/>
                </a:solidFill>
                <a:latin typeface="Tahoma"/>
                <a:ea typeface="Tahoma"/>
                <a:cs typeface="Tahoma"/>
              </a:rPr>
              <a:t>A* pair: re-planned in only 3 of 100 trips, so it tells us nothing either way</a:t>
            </a:r>
            <a:endParaRPr lang="en-US" sz="1250" dirty="0"/>
          </a:p>
        </p:txBody>
      </p:sp>
      <p:sp>
        <p:nvSpPr>
          <p:cNvPr id="26" name="Definition"/>
          <p:cNvSpPr/>
          <p:nvPr/>
        </p:nvSpPr>
        <p:spPr>
          <a:xfrm>
            <a:off x="6903720" y="4498848"/>
            <a:ext cx="4526280" cy="1399032"/>
          </a:xfrm>
          <a:prstGeom prst="roundRect">
            <a:avLst>
              <a:gd name="adj" fmla="val 5882"/>
            </a:avLst>
          </a:prstGeom>
          <a:solidFill>
            <a:srgbClr val="EAF7FF"/>
          </a:solidFill>
          <a:ln w="12700">
            <a:solidFill>
              <a:srgbClr val="C7EAFE"/>
            </a:solidFill>
          </a:ln>
        </p:spPr>
        <p:txBody>
          <a:bodyPr wrap="square" lIns="201168" tIns="91440" rIns="164592" bIns="91440" rtlCol="0" anchor="ctr">
            <a:noAutofit/>
          </a:bodyPr>
          <a:lstStyle/>
          <a:p>
            <a:pPr marL="0" indent="0" algn="l">
              <a:lnSpc>
                <a:spcPct val="100000"/>
              </a:lnSpc>
              <a:spcAft>
                <a:spcPts val="300"/>
              </a:spcAft>
              <a:buNone/>
            </a:pPr>
            <a:r>
              <a:rPr lang="en-US" sz="1300" b="1" dirty="0">
                <a:solidFill>
                  <a:srgbClr val="003E82"/>
                </a:solidFill>
                <a:latin typeface="Tahoma"/>
                <a:ea typeface="Tahoma"/>
                <a:cs typeface="Tahoma"/>
              </a:rPr>
              <a:t>What is the link-quality score?</a:t>
            </a:r>
            <a:endParaRPr lang="en-US" sz="1300" dirty="0"/>
          </a:p>
          <a:p>
            <a:pPr marL="0" indent="0" algn="l">
              <a:lnSpc>
                <a:spcPct val="100000"/>
              </a:lnSpc>
              <a:buNone/>
            </a:pPr>
            <a:r>
              <a:rPr lang="en-US" sz="1150" dirty="0">
                <a:solidFill>
                  <a:srgbClr val="44546A"/>
                </a:solidFill>
                <a:latin typeface="Tahoma"/>
                <a:ea typeface="Tahoma"/>
                <a:cs typeface="Tahoma"/>
              </a:rPr>
              <a:t>A 0–1 number each radio keeps for how well its links have worked recently, averaged over the radios on the route. A relative score for comparing route-finders, not the share of messages delivered.</a:t>
            </a:r>
            <a:endParaRPr lang="en-US" sz="1150" dirty="0"/>
          </a:p>
        </p:txBody>
      </p:sp>
      <p:cxnSp>
        <p:nvCxnSpPr>
          <p:cNvPr id="27" name="Footer rule"/>
          <p:cNvCxnSpPr/>
          <p:nvPr/>
        </p:nvCxnSpPr>
        <p:spPr>
          <a:xfrm>
            <a:off x="502920" y="6199632"/>
            <a:ext cx="11155680" cy="0"/>
          </a:xfrm>
          <a:prstGeom prst="line">
            <a:avLst/>
          </a:prstGeom>
          <a:ln w="12700">
            <a:solidFill>
              <a:srgbClr val="003E82">
                <a:alpha val="25000"/>
              </a:srgbClr>
            </a:solidFill>
          </a:ln>
        </p:spPr>
      </p:cxnSp>
      <p:pic>
        <p:nvPicPr>
          <p:cNvPr id="28"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29"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0"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15</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600"/>
                                        <p:tgtEl>
                                          <p:spTgt spid="17"/>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300"/>
                                        <p:tgtEl>
                                          <p:spTgt spid="1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left)">
                                      <p:cBhvr>
                                        <p:cTn id="14" dur="800"/>
                                        <p:tgtEl>
                                          <p:spTgt spid="20"/>
                                        </p:tgtEl>
                                      </p:cBhvr>
                                    </p:animEffect>
                                  </p:childTnLst>
                                </p:cTn>
                              </p:par>
                            </p:childTnLst>
                          </p:cTn>
                        </p:par>
                        <p:par>
                          <p:cTn id="15" fill="hold">
                            <p:stCondLst>
                              <p:cond delay="1400"/>
                            </p:stCondLst>
                            <p:childTnLst>
                              <p:par>
                                <p:cTn id="16" presetID="10" presetClass="entr" presetSubtype="0" fill="hold" grpId="0" nodeType="after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300"/>
                                        <p:tgtEl>
                                          <p:spTgt spid="21"/>
                                        </p:tgtEl>
                                      </p:cBhvr>
                                    </p:animEffect>
                                  </p:childTnLst>
                                </p:cTn>
                              </p:par>
                              <p:par>
                                <p:cTn id="19" presetID="23" presetClass="entr" presetSubtype="16"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400" fill="hold"/>
                                        <p:tgtEl>
                                          <p:spTgt spid="22"/>
                                        </p:tgtEl>
                                        <p:attrNameLst>
                                          <p:attrName>ppt_w</p:attrName>
                                        </p:attrNameLst>
                                      </p:cBhvr>
                                      <p:tavLst>
                                        <p:tav tm="0">
                                          <p:val>
                                            <p:fltVal val="0"/>
                                          </p:val>
                                        </p:tav>
                                        <p:tav tm="100000">
                                          <p:val>
                                            <p:strVal val="#ppt_w"/>
                                          </p:val>
                                        </p:tav>
                                      </p:tavLst>
                                    </p:anim>
                                    <p:anim calcmode="lin" valueType="num">
                                      <p:cBhvr>
                                        <p:cTn id="22" dur="400" fill="hold"/>
                                        <p:tgtEl>
                                          <p:spTgt spid="22"/>
                                        </p:tgtEl>
                                        <p:attrNameLst>
                                          <p:attrName>ppt_h</p:attrName>
                                        </p:attrNameLst>
                                      </p:cBhvr>
                                      <p:tavLst>
                                        <p:tav tm="0">
                                          <p:val>
                                            <p:fltVal val="0"/>
                                          </p:val>
                                        </p:tav>
                                        <p:tav tm="100000">
                                          <p:val>
                                            <p:strVal val="#ppt_h"/>
                                          </p:val>
                                        </p:tav>
                                      </p:tavLst>
                                    </p:anim>
                                  </p:childTnLst>
                                </p:cTn>
                              </p:par>
                              <p:par>
                                <p:cTn id="23" presetID="10" presetClass="entr" presetSubtype="0" fill="hold" grpId="0" nodeType="withEffect">
                                  <p:stCondLst>
                                    <p:cond delay="20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5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45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P spid="21" grpId="0" animBg="1"/>
      <p:bldP spid="22" grpId="0" animBg="1"/>
      <p:bldP spid="23" grpId="0" animBg="1"/>
      <p:bldP spid="24" grpId="0" animBg="1"/>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Result 2">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PPO lands in the same range as classical planners</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Result 2 of 6  ·  Average hops to a safe zone  ·  100 trips per agent per grid</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Chart card"/>
          <p:cNvSpPr/>
          <p:nvPr/>
        </p:nvSpPr>
        <p:spPr>
          <a:xfrm>
            <a:off x="758952" y="1691640"/>
            <a:ext cx="6355080" cy="4206240"/>
          </a:xfrm>
          <a:prstGeom prst="roundRect">
            <a:avLst>
              <a:gd name="adj" fmla="val 1956"/>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7" name="Shape 7"/>
          <p:cNvSpPr/>
          <p:nvPr/>
        </p:nvSpPr>
        <p:spPr>
          <a:xfrm>
            <a:off x="1005840" y="1938528"/>
            <a:ext cx="182880" cy="182880"/>
          </a:xfrm>
          <a:prstGeom prst="rect">
            <a:avLst/>
          </a:prstGeom>
          <a:solidFill>
            <a:srgbClr val="9AA8B3"/>
          </a:solidFill>
          <a:ln>
            <a:noFill/>
          </a:ln>
        </p:spPr>
      </p:sp>
      <p:sp>
        <p:nvSpPr>
          <p:cNvPr id="8" name="Shape 8"/>
          <p:cNvSpPr txBox="1"/>
          <p:nvPr/>
        </p:nvSpPr>
        <p:spPr>
          <a:xfrm>
            <a:off x="1261872" y="1847088"/>
            <a:ext cx="2103120" cy="365760"/>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3 fastest classical planners</a:t>
            </a:r>
            <a:endParaRPr lang="en-US" sz="1100" dirty="0"/>
          </a:p>
        </p:txBody>
      </p:sp>
      <p:sp>
        <p:nvSpPr>
          <p:cNvPr id="9" name="Shape 9"/>
          <p:cNvSpPr/>
          <p:nvPr/>
        </p:nvSpPr>
        <p:spPr>
          <a:xfrm>
            <a:off x="3611880" y="1938528"/>
            <a:ext cx="182880" cy="182880"/>
          </a:xfrm>
          <a:prstGeom prst="rect">
            <a:avLst/>
          </a:prstGeom>
          <a:solidFill>
            <a:srgbClr val="EB6834"/>
          </a:solidFill>
          <a:ln>
            <a:noFill/>
          </a:ln>
        </p:spPr>
      </p:sp>
      <p:sp>
        <p:nvSpPr>
          <p:cNvPr id="10" name="Shape 10"/>
          <p:cNvSpPr txBox="1"/>
          <p:nvPr/>
        </p:nvSpPr>
        <p:spPr>
          <a:xfrm>
            <a:off x="3867912" y="1847088"/>
            <a:ext cx="777240" cy="365760"/>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PPO (AI)</a:t>
            </a:r>
            <a:endParaRPr lang="en-US" sz="1100" dirty="0"/>
          </a:p>
        </p:txBody>
      </p:sp>
      <p:sp>
        <p:nvSpPr>
          <p:cNvPr id="11" name="Shape 11"/>
          <p:cNvSpPr/>
          <p:nvPr/>
        </p:nvSpPr>
        <p:spPr>
          <a:xfrm>
            <a:off x="4892040" y="1938528"/>
            <a:ext cx="182880" cy="182880"/>
          </a:xfrm>
          <a:prstGeom prst="rect">
            <a:avLst/>
          </a:prstGeom>
          <a:solidFill>
            <a:srgbClr val="2A78D6"/>
          </a:solidFill>
          <a:ln>
            <a:noFill/>
          </a:ln>
        </p:spPr>
      </p:sp>
      <p:sp>
        <p:nvSpPr>
          <p:cNvPr id="12" name="Shape 12"/>
          <p:cNvSpPr txBox="1"/>
          <p:nvPr/>
        </p:nvSpPr>
        <p:spPr>
          <a:xfrm>
            <a:off x="5148072" y="1847088"/>
            <a:ext cx="1371600" cy="365760"/>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Dynamic Dijkstra</a:t>
            </a:r>
            <a:endParaRPr lang="en-US" sz="1100" dirty="0"/>
          </a:p>
        </p:txBody>
      </p:sp>
      <p:cxnSp>
        <p:nvCxnSpPr>
          <p:cNvPr id="13" name="Line 13"/>
          <p:cNvCxnSpPr/>
          <p:nvPr/>
        </p:nvCxnSpPr>
        <p:spPr>
          <a:xfrm>
            <a:off x="1417320" y="4544568"/>
            <a:ext cx="5394960" cy="0"/>
          </a:xfrm>
          <a:prstGeom prst="line">
            <a:avLst/>
          </a:prstGeom>
          <a:ln w="9525">
            <a:solidFill>
              <a:srgbClr val="E3E8EB"/>
            </a:solidFill>
          </a:ln>
        </p:spPr>
      </p:cxnSp>
      <p:sp>
        <p:nvSpPr>
          <p:cNvPr id="14" name="Shape 14"/>
          <p:cNvSpPr txBox="1"/>
          <p:nvPr/>
        </p:nvSpPr>
        <p:spPr>
          <a:xfrm>
            <a:off x="960120" y="4416552"/>
            <a:ext cx="365760" cy="256032"/>
          </a:xfrm>
          <a:prstGeom prst="rect">
            <a:avLst/>
          </a:prstGeom>
          <a:noFill/>
          <a:ln>
            <a:noFill/>
          </a:ln>
        </p:spPr>
        <p:txBody>
          <a:bodyPr wrap="square" lIns="0" tIns="0" rIns="0" bIns="0" rtlCol="0" anchor="ctr">
            <a:noAutofit/>
          </a:bodyPr>
          <a:lstStyle/>
          <a:p>
            <a:pPr marL="0" indent="0" algn="r">
              <a:buNone/>
            </a:pPr>
            <a:r>
              <a:rPr lang="en-US" sz="1050" dirty="0">
                <a:solidFill>
                  <a:srgbClr val="66788A"/>
                </a:solidFill>
                <a:latin typeface="Tahoma"/>
                <a:ea typeface="Tahoma"/>
                <a:cs typeface="Tahoma"/>
              </a:rPr>
              <a:t>1</a:t>
            </a:r>
            <a:endParaRPr lang="en-US" sz="1050" dirty="0"/>
          </a:p>
        </p:txBody>
      </p:sp>
      <p:cxnSp>
        <p:nvCxnSpPr>
          <p:cNvPr id="15" name="Line 15"/>
          <p:cNvCxnSpPr/>
          <p:nvPr/>
        </p:nvCxnSpPr>
        <p:spPr>
          <a:xfrm>
            <a:off x="1417320" y="4059936"/>
            <a:ext cx="5394960" cy="0"/>
          </a:xfrm>
          <a:prstGeom prst="line">
            <a:avLst/>
          </a:prstGeom>
          <a:ln w="9525">
            <a:solidFill>
              <a:srgbClr val="E3E8EB"/>
            </a:solidFill>
          </a:ln>
        </p:spPr>
      </p:cxnSp>
      <p:sp>
        <p:nvSpPr>
          <p:cNvPr id="16" name="Shape 16"/>
          <p:cNvSpPr txBox="1"/>
          <p:nvPr/>
        </p:nvSpPr>
        <p:spPr>
          <a:xfrm>
            <a:off x="960120" y="3931920"/>
            <a:ext cx="365760" cy="256032"/>
          </a:xfrm>
          <a:prstGeom prst="rect">
            <a:avLst/>
          </a:prstGeom>
          <a:noFill/>
          <a:ln>
            <a:noFill/>
          </a:ln>
        </p:spPr>
        <p:txBody>
          <a:bodyPr wrap="square" lIns="0" tIns="0" rIns="0" bIns="0" rtlCol="0" anchor="ctr">
            <a:noAutofit/>
          </a:bodyPr>
          <a:lstStyle/>
          <a:p>
            <a:pPr marL="0" indent="0" algn="r">
              <a:buNone/>
            </a:pPr>
            <a:r>
              <a:rPr lang="en-US" sz="1050" dirty="0">
                <a:solidFill>
                  <a:srgbClr val="66788A"/>
                </a:solidFill>
                <a:latin typeface="Tahoma"/>
                <a:ea typeface="Tahoma"/>
                <a:cs typeface="Tahoma"/>
              </a:rPr>
              <a:t>2</a:t>
            </a:r>
            <a:endParaRPr lang="en-US" sz="1050" dirty="0"/>
          </a:p>
        </p:txBody>
      </p:sp>
      <p:cxnSp>
        <p:nvCxnSpPr>
          <p:cNvPr id="17" name="Line 17"/>
          <p:cNvCxnSpPr/>
          <p:nvPr/>
        </p:nvCxnSpPr>
        <p:spPr>
          <a:xfrm>
            <a:off x="1417320" y="3575304"/>
            <a:ext cx="5394960" cy="0"/>
          </a:xfrm>
          <a:prstGeom prst="line">
            <a:avLst/>
          </a:prstGeom>
          <a:ln w="9525">
            <a:solidFill>
              <a:srgbClr val="E3E8EB"/>
            </a:solidFill>
          </a:ln>
        </p:spPr>
      </p:cxnSp>
      <p:sp>
        <p:nvSpPr>
          <p:cNvPr id="18" name="Shape 18"/>
          <p:cNvSpPr txBox="1"/>
          <p:nvPr/>
        </p:nvSpPr>
        <p:spPr>
          <a:xfrm>
            <a:off x="960120" y="3447288"/>
            <a:ext cx="365760" cy="256032"/>
          </a:xfrm>
          <a:prstGeom prst="rect">
            <a:avLst/>
          </a:prstGeom>
          <a:noFill/>
          <a:ln>
            <a:noFill/>
          </a:ln>
        </p:spPr>
        <p:txBody>
          <a:bodyPr wrap="square" lIns="0" tIns="0" rIns="0" bIns="0" rtlCol="0" anchor="ctr">
            <a:noAutofit/>
          </a:bodyPr>
          <a:lstStyle/>
          <a:p>
            <a:pPr marL="0" indent="0" algn="r">
              <a:buNone/>
            </a:pPr>
            <a:r>
              <a:rPr lang="en-US" sz="1050" dirty="0">
                <a:solidFill>
                  <a:srgbClr val="66788A"/>
                </a:solidFill>
                <a:latin typeface="Tahoma"/>
                <a:ea typeface="Tahoma"/>
                <a:cs typeface="Tahoma"/>
              </a:rPr>
              <a:t>3</a:t>
            </a:r>
            <a:endParaRPr lang="en-US" sz="1050" dirty="0"/>
          </a:p>
        </p:txBody>
      </p:sp>
      <p:cxnSp>
        <p:nvCxnSpPr>
          <p:cNvPr id="19" name="Line 19"/>
          <p:cNvCxnSpPr/>
          <p:nvPr/>
        </p:nvCxnSpPr>
        <p:spPr>
          <a:xfrm>
            <a:off x="1417320" y="3090672"/>
            <a:ext cx="5394960" cy="0"/>
          </a:xfrm>
          <a:prstGeom prst="line">
            <a:avLst/>
          </a:prstGeom>
          <a:ln w="9525">
            <a:solidFill>
              <a:srgbClr val="E3E8EB"/>
            </a:solidFill>
          </a:ln>
        </p:spPr>
      </p:cxnSp>
      <p:sp>
        <p:nvSpPr>
          <p:cNvPr id="20" name="Shape 20"/>
          <p:cNvSpPr txBox="1"/>
          <p:nvPr/>
        </p:nvSpPr>
        <p:spPr>
          <a:xfrm>
            <a:off x="960120" y="2962656"/>
            <a:ext cx="365760" cy="256032"/>
          </a:xfrm>
          <a:prstGeom prst="rect">
            <a:avLst/>
          </a:prstGeom>
          <a:noFill/>
          <a:ln>
            <a:noFill/>
          </a:ln>
        </p:spPr>
        <p:txBody>
          <a:bodyPr wrap="square" lIns="0" tIns="0" rIns="0" bIns="0" rtlCol="0" anchor="ctr">
            <a:noAutofit/>
          </a:bodyPr>
          <a:lstStyle/>
          <a:p>
            <a:pPr marL="0" indent="0" algn="r">
              <a:buNone/>
            </a:pPr>
            <a:r>
              <a:rPr lang="en-US" sz="1050" dirty="0">
                <a:solidFill>
                  <a:srgbClr val="66788A"/>
                </a:solidFill>
                <a:latin typeface="Tahoma"/>
                <a:ea typeface="Tahoma"/>
                <a:cs typeface="Tahoma"/>
              </a:rPr>
              <a:t>4</a:t>
            </a:r>
            <a:endParaRPr lang="en-US" sz="1050" dirty="0"/>
          </a:p>
        </p:txBody>
      </p:sp>
      <p:cxnSp>
        <p:nvCxnSpPr>
          <p:cNvPr id="21" name="Line 21"/>
          <p:cNvCxnSpPr/>
          <p:nvPr/>
        </p:nvCxnSpPr>
        <p:spPr>
          <a:xfrm>
            <a:off x="1417320" y="2606040"/>
            <a:ext cx="5394960" cy="0"/>
          </a:xfrm>
          <a:prstGeom prst="line">
            <a:avLst/>
          </a:prstGeom>
          <a:ln w="9525">
            <a:solidFill>
              <a:srgbClr val="E3E8EB"/>
            </a:solidFill>
          </a:ln>
        </p:spPr>
      </p:cxnSp>
      <p:sp>
        <p:nvSpPr>
          <p:cNvPr id="22" name="Shape 22"/>
          <p:cNvSpPr txBox="1"/>
          <p:nvPr/>
        </p:nvSpPr>
        <p:spPr>
          <a:xfrm>
            <a:off x="960120" y="2478024"/>
            <a:ext cx="365760" cy="256032"/>
          </a:xfrm>
          <a:prstGeom prst="rect">
            <a:avLst/>
          </a:prstGeom>
          <a:noFill/>
          <a:ln>
            <a:noFill/>
          </a:ln>
        </p:spPr>
        <p:txBody>
          <a:bodyPr wrap="square" lIns="0" tIns="0" rIns="0" bIns="0" rtlCol="0" anchor="ctr">
            <a:noAutofit/>
          </a:bodyPr>
          <a:lstStyle/>
          <a:p>
            <a:pPr marL="0" indent="0" algn="r">
              <a:buNone/>
            </a:pPr>
            <a:r>
              <a:rPr lang="en-US" sz="1050" dirty="0">
                <a:solidFill>
                  <a:srgbClr val="66788A"/>
                </a:solidFill>
                <a:latin typeface="Tahoma"/>
                <a:ea typeface="Tahoma"/>
                <a:cs typeface="Tahoma"/>
              </a:rPr>
              <a:t>5</a:t>
            </a:r>
            <a:endParaRPr lang="en-US" sz="1050" dirty="0"/>
          </a:p>
        </p:txBody>
      </p:sp>
      <p:cxnSp>
        <p:nvCxnSpPr>
          <p:cNvPr id="23" name="Line 23"/>
          <p:cNvCxnSpPr/>
          <p:nvPr/>
        </p:nvCxnSpPr>
        <p:spPr>
          <a:xfrm>
            <a:off x="1417320" y="5029200"/>
            <a:ext cx="5394960" cy="0"/>
          </a:xfrm>
          <a:prstGeom prst="line">
            <a:avLst/>
          </a:prstGeom>
          <a:ln w="12700">
            <a:solidFill>
              <a:srgbClr val="003E82">
                <a:alpha val="60000"/>
              </a:srgbClr>
            </a:solidFill>
          </a:ln>
        </p:spPr>
      </p:cxnSp>
      <p:sp>
        <p:nvSpPr>
          <p:cNvPr id="24" name="10 × 10 grid bar 1"/>
          <p:cNvSpPr/>
          <p:nvPr/>
        </p:nvSpPr>
        <p:spPr>
          <a:xfrm>
            <a:off x="1783080" y="3977549"/>
            <a:ext cx="566928" cy="1051651"/>
          </a:xfrm>
          <a:prstGeom prst="rect">
            <a:avLst/>
          </a:prstGeom>
          <a:solidFill>
            <a:srgbClr val="9AA8B3"/>
          </a:solidFill>
          <a:ln>
            <a:noFill/>
          </a:ln>
        </p:spPr>
      </p:sp>
      <p:sp>
        <p:nvSpPr>
          <p:cNvPr id="25" name="10 × 10 grid value 1"/>
          <p:cNvSpPr txBox="1"/>
          <p:nvPr/>
        </p:nvSpPr>
        <p:spPr>
          <a:xfrm>
            <a:off x="1508760" y="3648365"/>
            <a:ext cx="1115568" cy="292608"/>
          </a:xfrm>
          <a:prstGeom prst="rect">
            <a:avLst/>
          </a:prstGeom>
          <a:noFill/>
          <a:ln>
            <a:noFill/>
          </a:ln>
        </p:spPr>
        <p:txBody>
          <a:bodyPr wrap="square" lIns="0" tIns="0" rIns="0" bIns="0" rtlCol="0" anchor="ctr">
            <a:noAutofit/>
          </a:bodyPr>
          <a:lstStyle/>
          <a:p>
            <a:pPr marL="0" indent="0" algn="ctr">
              <a:buNone/>
            </a:pPr>
            <a:r>
              <a:rPr lang="en-US" sz="1250" b="1" dirty="0">
                <a:solidFill>
                  <a:srgbClr val="08325F"/>
                </a:solidFill>
                <a:latin typeface="Tahoma"/>
                <a:ea typeface="Tahoma"/>
                <a:cs typeface="Tahoma"/>
              </a:rPr>
              <a:t>2.17</a:t>
            </a:r>
            <a:endParaRPr lang="en-US" sz="1250" dirty="0"/>
          </a:p>
        </p:txBody>
      </p:sp>
      <p:sp>
        <p:nvSpPr>
          <p:cNvPr id="26" name="10 × 10 grid bar 2"/>
          <p:cNvSpPr/>
          <p:nvPr/>
        </p:nvSpPr>
        <p:spPr>
          <a:xfrm>
            <a:off x="2459736" y="3827313"/>
            <a:ext cx="566928" cy="1201887"/>
          </a:xfrm>
          <a:prstGeom prst="rect">
            <a:avLst/>
          </a:prstGeom>
          <a:solidFill>
            <a:srgbClr val="EB6834"/>
          </a:solidFill>
          <a:ln>
            <a:noFill/>
          </a:ln>
        </p:spPr>
      </p:sp>
      <p:sp>
        <p:nvSpPr>
          <p:cNvPr id="27" name="10 × 10 grid value 2"/>
          <p:cNvSpPr txBox="1"/>
          <p:nvPr/>
        </p:nvSpPr>
        <p:spPr>
          <a:xfrm>
            <a:off x="2185416" y="3498129"/>
            <a:ext cx="1115568" cy="292608"/>
          </a:xfrm>
          <a:prstGeom prst="rect">
            <a:avLst/>
          </a:prstGeom>
          <a:noFill/>
          <a:ln>
            <a:noFill/>
          </a:ln>
        </p:spPr>
        <p:txBody>
          <a:bodyPr wrap="square" lIns="0" tIns="0" rIns="0" bIns="0" rtlCol="0" anchor="ctr">
            <a:noAutofit/>
          </a:bodyPr>
          <a:lstStyle/>
          <a:p>
            <a:pPr marL="0" indent="0" algn="ctr">
              <a:buNone/>
            </a:pPr>
            <a:r>
              <a:rPr lang="en-US" sz="1250" b="1" dirty="0">
                <a:solidFill>
                  <a:srgbClr val="08325F"/>
                </a:solidFill>
                <a:latin typeface="Tahoma"/>
                <a:ea typeface="Tahoma"/>
                <a:cs typeface="Tahoma"/>
              </a:rPr>
              <a:t>2.48</a:t>
            </a:r>
            <a:endParaRPr lang="en-US" sz="1250" dirty="0"/>
          </a:p>
        </p:txBody>
      </p:sp>
      <p:sp>
        <p:nvSpPr>
          <p:cNvPr id="28" name="10 × 10 grid bar 3"/>
          <p:cNvSpPr/>
          <p:nvPr/>
        </p:nvSpPr>
        <p:spPr>
          <a:xfrm>
            <a:off x="3136392" y="3463839"/>
            <a:ext cx="566928" cy="1565361"/>
          </a:xfrm>
          <a:prstGeom prst="rect">
            <a:avLst/>
          </a:prstGeom>
          <a:solidFill>
            <a:srgbClr val="2A78D6"/>
          </a:solidFill>
          <a:ln>
            <a:noFill/>
          </a:ln>
        </p:spPr>
      </p:sp>
      <p:sp>
        <p:nvSpPr>
          <p:cNvPr id="29" name="10 × 10 grid value 3"/>
          <p:cNvSpPr txBox="1"/>
          <p:nvPr/>
        </p:nvSpPr>
        <p:spPr>
          <a:xfrm>
            <a:off x="2862072" y="3134655"/>
            <a:ext cx="1115568" cy="292608"/>
          </a:xfrm>
          <a:prstGeom prst="rect">
            <a:avLst/>
          </a:prstGeom>
          <a:noFill/>
          <a:ln>
            <a:noFill/>
          </a:ln>
        </p:spPr>
        <p:txBody>
          <a:bodyPr wrap="square" lIns="0" tIns="0" rIns="0" bIns="0" rtlCol="0" anchor="ctr">
            <a:noAutofit/>
          </a:bodyPr>
          <a:lstStyle/>
          <a:p>
            <a:pPr marL="0" indent="0" algn="ctr">
              <a:buNone/>
            </a:pPr>
            <a:r>
              <a:rPr lang="en-US" sz="1250" b="1" dirty="0">
                <a:solidFill>
                  <a:srgbClr val="08325F"/>
                </a:solidFill>
                <a:latin typeface="Tahoma"/>
                <a:ea typeface="Tahoma"/>
                <a:cs typeface="Tahoma"/>
              </a:rPr>
              <a:t>3.23</a:t>
            </a:r>
            <a:endParaRPr lang="en-US" sz="1250" dirty="0"/>
          </a:p>
        </p:txBody>
      </p:sp>
      <p:sp>
        <p:nvSpPr>
          <p:cNvPr id="30" name="Shape 30"/>
          <p:cNvSpPr txBox="1"/>
          <p:nvPr/>
        </p:nvSpPr>
        <p:spPr>
          <a:xfrm>
            <a:off x="1691640" y="5102352"/>
            <a:ext cx="2103120" cy="292608"/>
          </a:xfrm>
          <a:prstGeom prst="rect">
            <a:avLst/>
          </a:prstGeom>
          <a:noFill/>
          <a:ln>
            <a:noFill/>
          </a:ln>
        </p:spPr>
        <p:txBody>
          <a:bodyPr wrap="square" lIns="0" tIns="0" rIns="0" bIns="0" rtlCol="0" anchor="ctr">
            <a:noAutofit/>
          </a:bodyPr>
          <a:lstStyle/>
          <a:p>
            <a:pPr marL="0" indent="0" algn="ctr">
              <a:buNone/>
            </a:pPr>
            <a:r>
              <a:rPr lang="en-US" sz="1250" b="1" dirty="0">
                <a:solidFill>
                  <a:srgbClr val="08325F"/>
                </a:solidFill>
                <a:latin typeface="Tahoma"/>
                <a:ea typeface="Tahoma"/>
                <a:cs typeface="Tahoma"/>
              </a:rPr>
              <a:t>10 × 10 grid</a:t>
            </a:r>
            <a:endParaRPr lang="en-US" sz="1250" dirty="0"/>
          </a:p>
        </p:txBody>
      </p:sp>
      <p:sp>
        <p:nvSpPr>
          <p:cNvPr id="31" name="15 × 15 grid bar 1"/>
          <p:cNvSpPr/>
          <p:nvPr/>
        </p:nvSpPr>
        <p:spPr>
          <a:xfrm>
            <a:off x="4434840" y="3458992"/>
            <a:ext cx="566928" cy="1570208"/>
          </a:xfrm>
          <a:prstGeom prst="rect">
            <a:avLst/>
          </a:prstGeom>
          <a:solidFill>
            <a:srgbClr val="9AA8B3"/>
          </a:solidFill>
          <a:ln>
            <a:noFill/>
          </a:ln>
        </p:spPr>
      </p:sp>
      <p:sp>
        <p:nvSpPr>
          <p:cNvPr id="32" name="15 × 15 grid value 1"/>
          <p:cNvSpPr txBox="1"/>
          <p:nvPr/>
        </p:nvSpPr>
        <p:spPr>
          <a:xfrm>
            <a:off x="4160520" y="3129808"/>
            <a:ext cx="1115568" cy="292608"/>
          </a:xfrm>
          <a:prstGeom prst="rect">
            <a:avLst/>
          </a:prstGeom>
          <a:noFill/>
          <a:ln>
            <a:noFill/>
          </a:ln>
        </p:spPr>
        <p:txBody>
          <a:bodyPr wrap="square" lIns="0" tIns="0" rIns="0" bIns="0" rtlCol="0" anchor="ctr">
            <a:noAutofit/>
          </a:bodyPr>
          <a:lstStyle/>
          <a:p>
            <a:pPr marL="0" indent="0" algn="ctr">
              <a:buNone/>
            </a:pPr>
            <a:r>
              <a:rPr lang="en-US" sz="1050" b="1" dirty="0">
                <a:solidFill>
                  <a:srgbClr val="08325F"/>
                </a:solidFill>
                <a:latin typeface="Tahoma"/>
                <a:ea typeface="Tahoma"/>
                <a:cs typeface="Tahoma"/>
              </a:rPr>
              <a:t>3.23–3.25</a:t>
            </a:r>
            <a:endParaRPr lang="en-US" sz="1050" dirty="0"/>
          </a:p>
        </p:txBody>
      </p:sp>
      <p:sp>
        <p:nvSpPr>
          <p:cNvPr id="33" name="15 × 15 grid bar 2"/>
          <p:cNvSpPr/>
          <p:nvPr/>
        </p:nvSpPr>
        <p:spPr>
          <a:xfrm>
            <a:off x="5111496" y="3303910"/>
            <a:ext cx="566928" cy="1725290"/>
          </a:xfrm>
          <a:prstGeom prst="rect">
            <a:avLst/>
          </a:prstGeom>
          <a:solidFill>
            <a:srgbClr val="EB6834"/>
          </a:solidFill>
          <a:ln>
            <a:noFill/>
          </a:ln>
        </p:spPr>
      </p:sp>
      <p:sp>
        <p:nvSpPr>
          <p:cNvPr id="34" name="15 × 15 grid value 2"/>
          <p:cNvSpPr txBox="1"/>
          <p:nvPr/>
        </p:nvSpPr>
        <p:spPr>
          <a:xfrm>
            <a:off x="4837176" y="2974726"/>
            <a:ext cx="1115568" cy="292608"/>
          </a:xfrm>
          <a:prstGeom prst="rect">
            <a:avLst/>
          </a:prstGeom>
          <a:noFill/>
          <a:ln>
            <a:noFill/>
          </a:ln>
        </p:spPr>
        <p:txBody>
          <a:bodyPr wrap="square" lIns="0" tIns="0" rIns="0" bIns="0" rtlCol="0" anchor="ctr">
            <a:noAutofit/>
          </a:bodyPr>
          <a:lstStyle/>
          <a:p>
            <a:pPr marL="0" indent="0" algn="ctr">
              <a:buNone/>
            </a:pPr>
            <a:r>
              <a:rPr lang="en-US" sz="1250" b="1" dirty="0">
                <a:solidFill>
                  <a:srgbClr val="08325F"/>
                </a:solidFill>
                <a:latin typeface="Tahoma"/>
                <a:ea typeface="Tahoma"/>
                <a:cs typeface="Tahoma"/>
              </a:rPr>
              <a:t>3.56</a:t>
            </a:r>
            <a:endParaRPr lang="en-US" sz="1250" dirty="0"/>
          </a:p>
        </p:txBody>
      </p:sp>
      <p:sp>
        <p:nvSpPr>
          <p:cNvPr id="35" name="15 × 15 grid bar 3"/>
          <p:cNvSpPr/>
          <p:nvPr/>
        </p:nvSpPr>
        <p:spPr>
          <a:xfrm>
            <a:off x="5788152" y="2896819"/>
            <a:ext cx="566928" cy="2132381"/>
          </a:xfrm>
          <a:prstGeom prst="rect">
            <a:avLst/>
          </a:prstGeom>
          <a:solidFill>
            <a:srgbClr val="2A78D6"/>
          </a:solidFill>
          <a:ln>
            <a:noFill/>
          </a:ln>
        </p:spPr>
      </p:sp>
      <p:sp>
        <p:nvSpPr>
          <p:cNvPr id="36" name="15 × 15 grid value 3"/>
          <p:cNvSpPr txBox="1"/>
          <p:nvPr/>
        </p:nvSpPr>
        <p:spPr>
          <a:xfrm>
            <a:off x="5513832" y="2567635"/>
            <a:ext cx="1115568" cy="292608"/>
          </a:xfrm>
          <a:prstGeom prst="rect">
            <a:avLst/>
          </a:prstGeom>
          <a:noFill/>
          <a:ln>
            <a:noFill/>
          </a:ln>
        </p:spPr>
        <p:txBody>
          <a:bodyPr wrap="square" lIns="0" tIns="0" rIns="0" bIns="0" rtlCol="0" anchor="ctr">
            <a:noAutofit/>
          </a:bodyPr>
          <a:lstStyle/>
          <a:p>
            <a:pPr marL="0" indent="0" algn="ctr">
              <a:buNone/>
            </a:pPr>
            <a:r>
              <a:rPr lang="en-US" sz="1250" b="1" dirty="0">
                <a:solidFill>
                  <a:srgbClr val="08325F"/>
                </a:solidFill>
                <a:latin typeface="Tahoma"/>
                <a:ea typeface="Tahoma"/>
                <a:cs typeface="Tahoma"/>
              </a:rPr>
              <a:t>4.40</a:t>
            </a:r>
            <a:endParaRPr lang="en-US" sz="1250" dirty="0"/>
          </a:p>
        </p:txBody>
      </p:sp>
      <p:sp>
        <p:nvSpPr>
          <p:cNvPr id="37" name="Shape 37"/>
          <p:cNvSpPr txBox="1"/>
          <p:nvPr/>
        </p:nvSpPr>
        <p:spPr>
          <a:xfrm>
            <a:off x="4343400" y="5102352"/>
            <a:ext cx="2103120" cy="292608"/>
          </a:xfrm>
          <a:prstGeom prst="rect">
            <a:avLst/>
          </a:prstGeom>
          <a:noFill/>
          <a:ln>
            <a:noFill/>
          </a:ln>
        </p:spPr>
        <p:txBody>
          <a:bodyPr wrap="square" lIns="0" tIns="0" rIns="0" bIns="0" rtlCol="0" anchor="ctr">
            <a:noAutofit/>
          </a:bodyPr>
          <a:lstStyle/>
          <a:p>
            <a:pPr marL="0" indent="0" algn="ctr">
              <a:buNone/>
            </a:pPr>
            <a:r>
              <a:rPr lang="en-US" sz="1250" b="1" dirty="0">
                <a:solidFill>
                  <a:srgbClr val="08325F"/>
                </a:solidFill>
                <a:latin typeface="Tahoma"/>
                <a:ea typeface="Tahoma"/>
                <a:cs typeface="Tahoma"/>
              </a:rPr>
              <a:t>15 × 15 grid</a:t>
            </a:r>
            <a:endParaRPr lang="en-US" sz="1250" dirty="0"/>
          </a:p>
        </p:txBody>
      </p:sp>
      <p:sp>
        <p:nvSpPr>
          <p:cNvPr id="38" name="Shape 38"/>
          <p:cNvSpPr txBox="1"/>
          <p:nvPr/>
        </p:nvSpPr>
        <p:spPr>
          <a:xfrm>
            <a:off x="1005840" y="5486400"/>
            <a:ext cx="5943600" cy="292608"/>
          </a:xfrm>
          <a:prstGeom prst="rect">
            <a:avLst/>
          </a:prstGeom>
          <a:noFill/>
          <a:ln>
            <a:noFill/>
          </a:ln>
        </p:spPr>
        <p:txBody>
          <a:bodyPr wrap="square" lIns="0" tIns="0" rIns="0" bIns="0" rtlCol="0" anchor="ctr">
            <a:noAutofit/>
          </a:bodyPr>
          <a:lstStyle/>
          <a:p>
            <a:pPr marL="0" indent="0" algn="l">
              <a:buNone/>
            </a:pPr>
            <a:r>
              <a:rPr lang="en-US" sz="1100" dirty="0">
                <a:solidFill>
                  <a:srgbClr val="66788A"/>
                </a:solidFill>
                <a:latin typeface="Tahoma"/>
                <a:ea typeface="Tahoma"/>
                <a:cs typeface="Tahoma"/>
              </a:rPr>
              <a:t>Success ≈100% for every agent, so we compare route length</a:t>
            </a:r>
            <a:endParaRPr lang="en-US" sz="1100" dirty="0"/>
          </a:p>
        </p:txBody>
      </p:sp>
      <p:sp>
        <p:nvSpPr>
          <p:cNvPr id="39" name="PPO definition"/>
          <p:cNvSpPr/>
          <p:nvPr/>
        </p:nvSpPr>
        <p:spPr>
          <a:xfrm>
            <a:off x="7406640" y="1691640"/>
            <a:ext cx="4023360" cy="868680"/>
          </a:xfrm>
          <a:prstGeom prst="roundRect">
            <a:avLst>
              <a:gd name="adj" fmla="val 9473"/>
            </a:avLst>
          </a:prstGeom>
          <a:solidFill>
            <a:srgbClr val="EAF7FF"/>
          </a:solidFill>
          <a:ln w="12700">
            <a:solidFill>
              <a:srgbClr val="C7EAFE"/>
            </a:solidFill>
          </a:ln>
        </p:spPr>
        <p:txBody>
          <a:bodyPr wrap="square" lIns="182880" tIns="45720" rIns="137160" bIns="45720" rtlCol="0" anchor="ctr">
            <a:noAutofit/>
          </a:bodyPr>
          <a:lstStyle/>
          <a:p>
            <a:pPr marL="0" indent="0" algn="l">
              <a:lnSpc>
                <a:spcPct val="100000"/>
              </a:lnSpc>
              <a:buNone/>
            </a:pPr>
            <a:r>
              <a:rPr lang="en-US" sz="1250" dirty="0">
                <a:solidFill>
                  <a:srgbClr val="44546A"/>
                </a:solidFill>
                <a:latin typeface="Tahoma"/>
                <a:ea typeface="Tahoma"/>
                <a:cs typeface="Tahoma"/>
              </a:rPr>
              <a:t>PPO: trial-and-error learning, with points for good moves and penalties for bad ones</a:t>
            </a:r>
            <a:endParaRPr lang="en-US" sz="1250" dirty="0"/>
          </a:p>
        </p:txBody>
      </p:sp>
      <p:sp>
        <p:nvSpPr>
          <p:cNvPr id="40" name="Verdict 1"/>
          <p:cNvSpPr/>
          <p:nvPr/>
        </p:nvSpPr>
        <p:spPr>
          <a:xfrm>
            <a:off x="7406640" y="2724912"/>
            <a:ext cx="4023360" cy="1024128"/>
          </a:xfrm>
          <a:prstGeom prst="roundRect">
            <a:avLst>
              <a:gd name="adj" fmla="val 8035"/>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01168" tIns="73152" rIns="137160" bIns="73152" rtlCol="0" anchor="ctr">
            <a:noAutofit/>
          </a:bodyPr>
          <a:lstStyle/>
          <a:p>
            <a:pPr marL="0" indent="0" algn="l">
              <a:lnSpc>
                <a:spcPct val="100000"/>
              </a:lnSpc>
              <a:buNone/>
            </a:pPr>
            <a:r>
              <a:rPr lang="en-US" sz="1200" b="1" dirty="0">
                <a:solidFill>
                  <a:srgbClr val="66788A"/>
                </a:solidFill>
                <a:latin typeface="Tahoma"/>
                <a:ea typeface="Tahoma"/>
                <a:cs typeface="Tahoma"/>
              </a:rPr>
              <a:t>vs dynamic Dijkstra</a:t>
            </a:r>
            <a:endParaRPr lang="en-US" sz="1200" dirty="0"/>
          </a:p>
          <a:p>
            <a:pPr marL="0" indent="0" algn="l">
              <a:lnSpc>
                <a:spcPct val="100000"/>
              </a:lnSpc>
              <a:buNone/>
            </a:pPr>
            <a:r>
              <a:rPr lang="en-US" sz="1500" b="1" dirty="0">
                <a:solidFill>
                  <a:srgbClr val="08325F"/>
                </a:solidFill>
                <a:latin typeface="Tahoma"/>
                <a:ea typeface="Tahoma"/>
                <a:cs typeface="Tahoma"/>
              </a:rPr>
              <a:t>PPO takes fewer hops on both grids</a:t>
            </a:r>
            <a:endParaRPr lang="en-US" sz="1500" dirty="0"/>
          </a:p>
          <a:p>
            <a:pPr marL="0" indent="0" algn="l">
              <a:lnSpc>
                <a:spcPct val="100000"/>
              </a:lnSpc>
              <a:buNone/>
            </a:pPr>
            <a:r>
              <a:rPr lang="en-US" sz="1150" dirty="0">
                <a:solidFill>
                  <a:srgbClr val="66788A"/>
                </a:solidFill>
                <a:latin typeface="Tahoma"/>
                <a:ea typeface="Tahoma"/>
                <a:cs typeface="Tahoma"/>
              </a:rPr>
              <a:t>p = 2.5×10</a:t>
            </a:r>
            <a:r>
              <a:rPr lang="en-US" sz="1150" baseline="30000" dirty="0">
                <a:solidFill>
                  <a:srgbClr val="66788A"/>
                </a:solidFill>
                <a:latin typeface="Tahoma"/>
                <a:ea typeface="Tahoma"/>
                <a:cs typeface="Tahoma"/>
              </a:rPr>
              <a:t>−5</a:t>
            </a:r>
            <a:r>
              <a:rPr lang="en-US" sz="1150" dirty="0">
                <a:solidFill>
                  <a:srgbClr val="66788A"/>
                </a:solidFill>
                <a:latin typeface="Tahoma"/>
                <a:ea typeface="Tahoma"/>
                <a:cs typeface="Tahoma"/>
              </a:rPr>
              <a:t> and 1.9×10</a:t>
            </a:r>
            <a:r>
              <a:rPr lang="en-US" sz="1150" baseline="30000" dirty="0">
                <a:solidFill>
                  <a:srgbClr val="66788A"/>
                </a:solidFill>
                <a:latin typeface="Tahoma"/>
                <a:ea typeface="Tahoma"/>
                <a:cs typeface="Tahoma"/>
              </a:rPr>
              <a:t>−3</a:t>
            </a:r>
            <a:endParaRPr lang="en-US" sz="1150" dirty="0"/>
          </a:p>
        </p:txBody>
      </p:sp>
      <p:sp>
        <p:nvSpPr>
          <p:cNvPr id="41" name="Verdict 2"/>
          <p:cNvSpPr/>
          <p:nvPr/>
        </p:nvSpPr>
        <p:spPr>
          <a:xfrm>
            <a:off x="7406640" y="3886200"/>
            <a:ext cx="4023360" cy="1024128"/>
          </a:xfrm>
          <a:prstGeom prst="roundRect">
            <a:avLst>
              <a:gd name="adj" fmla="val 8035"/>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01168" tIns="73152" rIns="137160" bIns="73152" rtlCol="0" anchor="ctr">
            <a:noAutofit/>
          </a:bodyPr>
          <a:lstStyle/>
          <a:p>
            <a:pPr marL="0" indent="0" algn="l">
              <a:lnSpc>
                <a:spcPct val="100000"/>
              </a:lnSpc>
              <a:buNone/>
            </a:pPr>
            <a:r>
              <a:rPr lang="en-US" sz="1200" b="1" dirty="0">
                <a:solidFill>
                  <a:srgbClr val="66788A"/>
                </a:solidFill>
                <a:latin typeface="Tahoma"/>
                <a:ea typeface="Tahoma"/>
                <a:cs typeface="Tahoma"/>
              </a:rPr>
              <a:t>vs the 3 fastest planners</a:t>
            </a:r>
            <a:endParaRPr lang="en-US" sz="1200" dirty="0"/>
          </a:p>
          <a:p>
            <a:pPr marL="0" indent="0" algn="l">
              <a:lnSpc>
                <a:spcPct val="100000"/>
              </a:lnSpc>
              <a:buNone/>
            </a:pPr>
            <a:r>
              <a:rPr lang="en-US" sz="1350" b="1" dirty="0">
                <a:solidFill>
                  <a:srgbClr val="08325F"/>
                </a:solidFill>
                <a:latin typeface="Tahoma"/>
                <a:ea typeface="Tahoma"/>
                <a:cs typeface="Tahoma"/>
              </a:rPr>
              <a:t>10×10: slightly more hops (p = 0.047)</a:t>
            </a:r>
            <a:endParaRPr lang="en-US" sz="1350" dirty="0"/>
          </a:p>
          <a:p>
            <a:pPr marL="0" indent="0" algn="l">
              <a:lnSpc>
                <a:spcPct val="100000"/>
              </a:lnSpc>
              <a:buNone/>
            </a:pPr>
            <a:r>
              <a:rPr lang="en-US" sz="1300" dirty="0">
                <a:solidFill>
                  <a:srgbClr val="44546A"/>
                </a:solidFill>
                <a:latin typeface="Tahoma"/>
                <a:ea typeface="Tahoma"/>
                <a:cs typeface="Tahoma"/>
              </a:rPr>
              <a:t>15×15: no significant difference (p = 0.255)</a:t>
            </a:r>
            <a:endParaRPr lang="en-US" sz="1300" dirty="0"/>
          </a:p>
        </p:txBody>
      </p:sp>
      <p:sp>
        <p:nvSpPr>
          <p:cNvPr id="42" name="Takeaway"/>
          <p:cNvSpPr/>
          <p:nvPr/>
        </p:nvSpPr>
        <p:spPr>
          <a:xfrm>
            <a:off x="7406640" y="5047488"/>
            <a:ext cx="4023360" cy="850392"/>
          </a:xfrm>
          <a:prstGeom prst="roundRect">
            <a:avLst>
              <a:gd name="adj" fmla="val 9677"/>
            </a:avLst>
          </a:prstGeom>
          <a:solidFill>
            <a:srgbClr val="003E82"/>
          </a:solidFill>
          <a:ln w="12700">
            <a:solidFill>
              <a:srgbClr val="003E82"/>
            </a:solidFill>
          </a:ln>
          <a:effectLst>
            <a:outerShdw blurRad="76200" dist="19050" dir="5400000" algn="t" rotWithShape="0">
              <a:srgbClr val="0A2E5C">
                <a:alpha val="13000"/>
              </a:srgbClr>
            </a:outerShdw>
          </a:effectLst>
        </p:spPr>
        <p:txBody>
          <a:bodyPr wrap="square" lIns="201168" tIns="45720" rIns="137160" bIns="45720" rtlCol="0" anchor="ctr">
            <a:noAutofit/>
          </a:bodyPr>
          <a:lstStyle/>
          <a:p>
            <a:pPr marL="0" indent="0" algn="l">
              <a:lnSpc>
                <a:spcPct val="100000"/>
              </a:lnSpc>
              <a:buNone/>
            </a:pPr>
            <a:r>
              <a:rPr lang="en-US" sz="1300" b="1" dirty="0">
                <a:solidFill>
                  <a:srgbClr val="FFFFFF"/>
                </a:solidFill>
                <a:latin typeface="Tahoma"/>
                <a:ea typeface="Tahoma"/>
                <a:cs typeface="Tahoma"/>
              </a:rPr>
              <a:t>Learns a sensible route, but doesn't beat simple shortest-route methods → exploratory</a:t>
            </a:r>
            <a:endParaRPr lang="en-US" sz="1300" dirty="0"/>
          </a:p>
        </p:txBody>
      </p:sp>
      <p:cxnSp>
        <p:nvCxnSpPr>
          <p:cNvPr id="43" name="Footer rule"/>
          <p:cNvCxnSpPr/>
          <p:nvPr/>
        </p:nvCxnSpPr>
        <p:spPr>
          <a:xfrm>
            <a:off x="502920" y="6199632"/>
            <a:ext cx="11155680" cy="0"/>
          </a:xfrm>
          <a:prstGeom prst="line">
            <a:avLst/>
          </a:prstGeom>
          <a:ln w="12700">
            <a:solidFill>
              <a:srgbClr val="003E82">
                <a:alpha val="25000"/>
              </a:srgbClr>
            </a:solidFill>
          </a:ln>
        </p:spPr>
      </p:cxnSp>
      <p:pic>
        <p:nvPicPr>
          <p:cNvPr id="44"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45"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46"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16</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par>
                                <p:cTn id="8" presetID="22" presetClass="entr" presetSubtype="4" fill="hold" grpId="0" nodeType="withEffect">
                                  <p:stCondLst>
                                    <p:cond delay="120"/>
                                  </p:stCondLst>
                                  <p:childTnLst>
                                    <p:set>
                                      <p:cBhvr>
                                        <p:cTn id="9" dur="1" fill="hold">
                                          <p:stCondLst>
                                            <p:cond delay="0"/>
                                          </p:stCondLst>
                                        </p:cTn>
                                        <p:tgtEl>
                                          <p:spTgt spid="26"/>
                                        </p:tgtEl>
                                        <p:attrNameLst>
                                          <p:attrName>style.visibility</p:attrName>
                                        </p:attrNameLst>
                                      </p:cBhvr>
                                      <p:to>
                                        <p:strVal val="visible"/>
                                      </p:to>
                                    </p:set>
                                    <p:animEffect transition="in" filter="wipe(down)">
                                      <p:cBhvr>
                                        <p:cTn id="10" dur="500"/>
                                        <p:tgtEl>
                                          <p:spTgt spid="26"/>
                                        </p:tgtEl>
                                      </p:cBhvr>
                                    </p:animEffect>
                                  </p:childTnLst>
                                </p:cTn>
                              </p:par>
                              <p:par>
                                <p:cTn id="11" presetID="22" presetClass="entr" presetSubtype="4" fill="hold" grpId="0" nodeType="withEffect">
                                  <p:stCondLst>
                                    <p:cond delay="240"/>
                                  </p:stCondLst>
                                  <p:childTnLst>
                                    <p:set>
                                      <p:cBhvr>
                                        <p:cTn id="12" dur="1" fill="hold">
                                          <p:stCondLst>
                                            <p:cond delay="0"/>
                                          </p:stCondLst>
                                        </p:cTn>
                                        <p:tgtEl>
                                          <p:spTgt spid="28"/>
                                        </p:tgtEl>
                                        <p:attrNameLst>
                                          <p:attrName>style.visibility</p:attrName>
                                        </p:attrNameLst>
                                      </p:cBhvr>
                                      <p:to>
                                        <p:strVal val="visible"/>
                                      </p:to>
                                    </p:set>
                                    <p:animEffect transition="in" filter="wipe(down)">
                                      <p:cBhvr>
                                        <p:cTn id="13" dur="500"/>
                                        <p:tgtEl>
                                          <p:spTgt spid="28"/>
                                        </p:tgtEl>
                                      </p:cBhvr>
                                    </p:animEffect>
                                  </p:childTnLst>
                                </p:cTn>
                              </p:par>
                              <p:par>
                                <p:cTn id="14" presetID="22" presetClass="entr" presetSubtype="4" fill="hold" grpId="0" nodeType="withEffect">
                                  <p:stCondLst>
                                    <p:cond delay="360"/>
                                  </p:stCondLst>
                                  <p:childTnLst>
                                    <p:set>
                                      <p:cBhvr>
                                        <p:cTn id="15" dur="1" fill="hold">
                                          <p:stCondLst>
                                            <p:cond delay="0"/>
                                          </p:stCondLst>
                                        </p:cTn>
                                        <p:tgtEl>
                                          <p:spTgt spid="31"/>
                                        </p:tgtEl>
                                        <p:attrNameLst>
                                          <p:attrName>style.visibility</p:attrName>
                                        </p:attrNameLst>
                                      </p:cBhvr>
                                      <p:to>
                                        <p:strVal val="visible"/>
                                      </p:to>
                                    </p:set>
                                    <p:animEffect transition="in" filter="wipe(down)">
                                      <p:cBhvr>
                                        <p:cTn id="16" dur="500"/>
                                        <p:tgtEl>
                                          <p:spTgt spid="31"/>
                                        </p:tgtEl>
                                      </p:cBhvr>
                                    </p:animEffect>
                                  </p:childTnLst>
                                </p:cTn>
                              </p:par>
                              <p:par>
                                <p:cTn id="17" presetID="22" presetClass="entr" presetSubtype="4" fill="hold" grpId="0" nodeType="withEffect">
                                  <p:stCondLst>
                                    <p:cond delay="480"/>
                                  </p:stCondLst>
                                  <p:childTnLst>
                                    <p:set>
                                      <p:cBhvr>
                                        <p:cTn id="18" dur="1" fill="hold">
                                          <p:stCondLst>
                                            <p:cond delay="0"/>
                                          </p:stCondLst>
                                        </p:cTn>
                                        <p:tgtEl>
                                          <p:spTgt spid="33"/>
                                        </p:tgtEl>
                                        <p:attrNameLst>
                                          <p:attrName>style.visibility</p:attrName>
                                        </p:attrNameLst>
                                      </p:cBhvr>
                                      <p:to>
                                        <p:strVal val="visible"/>
                                      </p:to>
                                    </p:set>
                                    <p:animEffect transition="in" filter="wipe(down)">
                                      <p:cBhvr>
                                        <p:cTn id="19" dur="500"/>
                                        <p:tgtEl>
                                          <p:spTgt spid="33"/>
                                        </p:tgtEl>
                                      </p:cBhvr>
                                    </p:animEffect>
                                  </p:childTnLst>
                                </p:cTn>
                              </p:par>
                              <p:par>
                                <p:cTn id="20" presetID="22" presetClass="entr" presetSubtype="4" fill="hold" grpId="0" nodeType="withEffect">
                                  <p:stCondLst>
                                    <p:cond delay="600"/>
                                  </p:stCondLst>
                                  <p:childTnLst>
                                    <p:set>
                                      <p:cBhvr>
                                        <p:cTn id="21" dur="1" fill="hold">
                                          <p:stCondLst>
                                            <p:cond delay="0"/>
                                          </p:stCondLst>
                                        </p:cTn>
                                        <p:tgtEl>
                                          <p:spTgt spid="35"/>
                                        </p:tgtEl>
                                        <p:attrNameLst>
                                          <p:attrName>style.visibility</p:attrName>
                                        </p:attrNameLst>
                                      </p:cBhvr>
                                      <p:to>
                                        <p:strVal val="visible"/>
                                      </p:to>
                                    </p:set>
                                    <p:animEffect transition="in" filter="wipe(down)">
                                      <p:cBhvr>
                                        <p:cTn id="22" dur="500"/>
                                        <p:tgtEl>
                                          <p:spTgt spid="35"/>
                                        </p:tgtEl>
                                      </p:cBhvr>
                                    </p:animEffect>
                                  </p:childTnLst>
                                </p:cTn>
                              </p:par>
                            </p:childTnLst>
                          </p:cTn>
                        </p:par>
                        <p:par>
                          <p:cTn id="23" fill="hold">
                            <p:stCondLst>
                              <p:cond delay="1100"/>
                            </p:stCondLst>
                            <p:childTnLst>
                              <p:par>
                                <p:cTn id="24" presetID="10" presetClass="entr" presetSubtype="0"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300"/>
                                        <p:tgtEl>
                                          <p:spTgt spid="25"/>
                                        </p:tgtEl>
                                      </p:cBhvr>
                                    </p:animEffect>
                                  </p:childTnLst>
                                </p:cTn>
                              </p:par>
                              <p:par>
                                <p:cTn id="27" presetID="10" presetClass="entr" presetSubtype="0" fill="hold" grpId="0" nodeType="withEffect">
                                  <p:stCondLst>
                                    <p:cond delay="12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300"/>
                                        <p:tgtEl>
                                          <p:spTgt spid="27"/>
                                        </p:tgtEl>
                                      </p:cBhvr>
                                    </p:animEffect>
                                  </p:childTnLst>
                                </p:cTn>
                              </p:par>
                              <p:par>
                                <p:cTn id="30" presetID="10" presetClass="entr" presetSubtype="0" fill="hold" grpId="0" nodeType="withEffect">
                                  <p:stCondLst>
                                    <p:cond delay="24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300"/>
                                        <p:tgtEl>
                                          <p:spTgt spid="29"/>
                                        </p:tgtEl>
                                      </p:cBhvr>
                                    </p:animEffect>
                                  </p:childTnLst>
                                </p:cTn>
                              </p:par>
                              <p:par>
                                <p:cTn id="33" presetID="10" presetClass="entr" presetSubtype="0" fill="hold" grpId="0" nodeType="withEffect">
                                  <p:stCondLst>
                                    <p:cond delay="36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300"/>
                                        <p:tgtEl>
                                          <p:spTgt spid="32"/>
                                        </p:tgtEl>
                                      </p:cBhvr>
                                    </p:animEffect>
                                  </p:childTnLst>
                                </p:cTn>
                              </p:par>
                              <p:par>
                                <p:cTn id="36" presetID="10" presetClass="entr" presetSubtype="0" fill="hold" grpId="0" nodeType="withEffect">
                                  <p:stCondLst>
                                    <p:cond delay="48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300"/>
                                        <p:tgtEl>
                                          <p:spTgt spid="34"/>
                                        </p:tgtEl>
                                      </p:cBhvr>
                                    </p:animEffect>
                                  </p:childTnLst>
                                </p:cTn>
                              </p:par>
                              <p:par>
                                <p:cTn id="39" presetID="10" presetClass="entr" presetSubtype="0" fill="hold" grpId="0" nodeType="withEffect">
                                  <p:stCondLst>
                                    <p:cond delay="60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3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450"/>
                                        <p:tgtEl>
                                          <p:spTgt spid="4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450"/>
                                        <p:tgtEl>
                                          <p:spTgt spid="4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40" grpId="0" animBg="1"/>
      <p:bldP spid="41" grpId="0" animBg="1"/>
      <p:bldP spid="4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Result 3">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Damage weakens long links, but trips still succeed</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Result 3 of 6  ·  Five damage levels (relative stress settings)  ·  250 trips per route-finder per level</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Chart card"/>
          <p:cNvSpPr/>
          <p:nvPr/>
        </p:nvSpPr>
        <p:spPr>
          <a:xfrm>
            <a:off x="758952" y="1691640"/>
            <a:ext cx="6400800" cy="4206240"/>
          </a:xfrm>
          <a:prstGeom prst="roundRect">
            <a:avLst>
              <a:gd name="adj" fmla="val 1956"/>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7" name="Shape 7"/>
          <p:cNvSpPr txBox="1"/>
          <p:nvPr/>
        </p:nvSpPr>
        <p:spPr>
          <a:xfrm>
            <a:off x="1005840" y="1828800"/>
            <a:ext cx="5943600" cy="320040"/>
          </a:xfrm>
          <a:prstGeom prst="rect">
            <a:avLst/>
          </a:prstGeom>
          <a:noFill/>
          <a:ln>
            <a:noFill/>
          </a:ln>
        </p:spPr>
        <p:txBody>
          <a:bodyPr wrap="square" lIns="0" tIns="0" rIns="0" bIns="0" rtlCol="0" anchor="ctr">
            <a:noAutofit/>
          </a:bodyPr>
          <a:lstStyle/>
          <a:p>
            <a:pPr marL="0" indent="0" algn="l">
              <a:buNone/>
            </a:pPr>
            <a:r>
              <a:rPr lang="en-US" sz="1350" b="1" dirty="0">
                <a:solidFill>
                  <a:srgbClr val="08325F"/>
                </a:solidFill>
                <a:latin typeface="Tahoma"/>
                <a:ea typeface="Tahoma"/>
                <a:cs typeface="Tahoma"/>
              </a:rPr>
              <a:t>Distance at which a single link works half the time</a:t>
            </a:r>
            <a:endParaRPr lang="en-US" sz="1350" dirty="0"/>
          </a:p>
        </p:txBody>
      </p:sp>
      <p:sp>
        <p:nvSpPr>
          <p:cNvPr id="8" name="Mesh band"/>
          <p:cNvSpPr/>
          <p:nvPr/>
        </p:nvSpPr>
        <p:spPr>
          <a:xfrm>
            <a:off x="2953512" y="2286000"/>
            <a:ext cx="1961388" cy="2697480"/>
          </a:xfrm>
          <a:prstGeom prst="rect">
            <a:avLst/>
          </a:prstGeom>
          <a:solidFill>
            <a:srgbClr val="00A4C8">
              <a:alpha val="10000"/>
            </a:srgbClr>
          </a:solidFill>
          <a:ln>
            <a:noFill/>
          </a:ln>
        </p:spPr>
      </p:sp>
      <p:sp>
        <p:nvSpPr>
          <p:cNvPr id="9" name="Shape 9"/>
          <p:cNvSpPr txBox="1"/>
          <p:nvPr/>
        </p:nvSpPr>
        <p:spPr>
          <a:xfrm>
            <a:off x="2953512" y="2304288"/>
            <a:ext cx="1961388" cy="256032"/>
          </a:xfrm>
          <a:prstGeom prst="rect">
            <a:avLst/>
          </a:prstGeom>
          <a:noFill/>
          <a:ln>
            <a:noFill/>
          </a:ln>
        </p:spPr>
        <p:txBody>
          <a:bodyPr wrap="square" lIns="0" tIns="0" rIns="0" bIns="0" rtlCol="0" anchor="ctr">
            <a:noAutofit/>
          </a:bodyPr>
          <a:lstStyle/>
          <a:p>
            <a:pPr marL="0" indent="0" algn="ctr">
              <a:buNone/>
            </a:pPr>
            <a:r>
              <a:rPr lang="en-US" sz="1000" b="1" dirty="0">
                <a:solidFill>
                  <a:srgbClr val="00A4C8"/>
                </a:solidFill>
                <a:latin typeface="Tahoma"/>
                <a:ea typeface="Tahoma"/>
                <a:cs typeface="Tahoma"/>
              </a:rPr>
              <a:t>our mesh: 400 m – 1.5 km</a:t>
            </a:r>
            <a:endParaRPr lang="en-US" sz="1000" dirty="0"/>
          </a:p>
        </p:txBody>
      </p:sp>
      <p:cxnSp>
        <p:nvCxnSpPr>
          <p:cNvPr id="10" name="Radio range"/>
          <p:cNvCxnSpPr/>
          <p:nvPr/>
        </p:nvCxnSpPr>
        <p:spPr>
          <a:xfrm>
            <a:off x="4914900" y="2286000"/>
            <a:ext cx="0" cy="2697480"/>
          </a:xfrm>
          <a:prstGeom prst="line">
            <a:avLst/>
          </a:prstGeom>
          <a:ln w="15875">
            <a:solidFill>
              <a:srgbClr val="003E82"/>
            </a:solidFill>
            <a:prstDash val="dash"/>
          </a:ln>
        </p:spPr>
      </p:cxnSp>
      <p:cxnSp>
        <p:nvCxnSpPr>
          <p:cNvPr id="11" name="Line 11"/>
          <p:cNvCxnSpPr/>
          <p:nvPr/>
        </p:nvCxnSpPr>
        <p:spPr>
          <a:xfrm>
            <a:off x="2240280" y="4983480"/>
            <a:ext cx="4462272" cy="0"/>
          </a:xfrm>
          <a:prstGeom prst="line">
            <a:avLst/>
          </a:prstGeom>
          <a:ln w="12700">
            <a:solidFill>
              <a:srgbClr val="003E82">
                <a:alpha val="60000"/>
              </a:srgbClr>
            </a:solidFill>
          </a:ln>
        </p:spPr>
      </p:cxnSp>
      <p:sp>
        <p:nvSpPr>
          <p:cNvPr id="12" name="Shape 12"/>
          <p:cNvSpPr txBox="1"/>
          <p:nvPr/>
        </p:nvSpPr>
        <p:spPr>
          <a:xfrm>
            <a:off x="1920240" y="5020056"/>
            <a:ext cx="640080" cy="237744"/>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0</a:t>
            </a:r>
            <a:endParaRPr lang="en-US" sz="1050" dirty="0"/>
          </a:p>
        </p:txBody>
      </p:sp>
      <p:sp>
        <p:nvSpPr>
          <p:cNvPr id="13" name="Shape 13"/>
          <p:cNvSpPr txBox="1"/>
          <p:nvPr/>
        </p:nvSpPr>
        <p:spPr>
          <a:xfrm>
            <a:off x="2811780" y="5020056"/>
            <a:ext cx="640080" cy="237744"/>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0.5</a:t>
            </a:r>
            <a:endParaRPr lang="en-US" sz="1050" dirty="0"/>
          </a:p>
        </p:txBody>
      </p:sp>
      <p:sp>
        <p:nvSpPr>
          <p:cNvPr id="14" name="Shape 14"/>
          <p:cNvSpPr txBox="1"/>
          <p:nvPr/>
        </p:nvSpPr>
        <p:spPr>
          <a:xfrm>
            <a:off x="3703320" y="5020056"/>
            <a:ext cx="640080" cy="237744"/>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1</a:t>
            </a:r>
            <a:endParaRPr lang="en-US" sz="1050" dirty="0"/>
          </a:p>
        </p:txBody>
      </p:sp>
      <p:sp>
        <p:nvSpPr>
          <p:cNvPr id="15" name="Shape 15"/>
          <p:cNvSpPr txBox="1"/>
          <p:nvPr/>
        </p:nvSpPr>
        <p:spPr>
          <a:xfrm>
            <a:off x="4594860" y="5020056"/>
            <a:ext cx="640080" cy="237744"/>
          </a:xfrm>
          <a:prstGeom prst="rect">
            <a:avLst/>
          </a:prstGeom>
          <a:noFill/>
          <a:ln>
            <a:noFill/>
          </a:ln>
        </p:spPr>
        <p:txBody>
          <a:bodyPr wrap="square" lIns="0" tIns="0" rIns="0" bIns="0" rtlCol="0" anchor="ctr">
            <a:noAutofit/>
          </a:bodyPr>
          <a:lstStyle/>
          <a:p>
            <a:pPr marL="0" indent="0" algn="ctr">
              <a:buNone/>
            </a:pPr>
            <a:r>
              <a:rPr lang="en-US" sz="1050" b="1" dirty="0">
                <a:solidFill>
                  <a:srgbClr val="003E82"/>
                </a:solidFill>
                <a:latin typeface="Tahoma"/>
                <a:ea typeface="Tahoma"/>
                <a:cs typeface="Tahoma"/>
              </a:rPr>
              <a:t>1.5</a:t>
            </a:r>
            <a:endParaRPr lang="en-US" sz="1050" dirty="0"/>
          </a:p>
        </p:txBody>
      </p:sp>
      <p:sp>
        <p:nvSpPr>
          <p:cNvPr id="16" name="Shape 16"/>
          <p:cNvSpPr txBox="1"/>
          <p:nvPr/>
        </p:nvSpPr>
        <p:spPr>
          <a:xfrm>
            <a:off x="5486400" y="5020056"/>
            <a:ext cx="640080" cy="237744"/>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2</a:t>
            </a:r>
            <a:endParaRPr lang="en-US" sz="1050" dirty="0"/>
          </a:p>
        </p:txBody>
      </p:sp>
      <p:sp>
        <p:nvSpPr>
          <p:cNvPr id="17" name="Shape 17"/>
          <p:cNvSpPr txBox="1"/>
          <p:nvPr/>
        </p:nvSpPr>
        <p:spPr>
          <a:xfrm>
            <a:off x="6377940" y="5020056"/>
            <a:ext cx="640080" cy="237744"/>
          </a:xfrm>
          <a:prstGeom prst="rect">
            <a:avLst/>
          </a:prstGeom>
          <a:noFill/>
          <a:ln>
            <a:noFill/>
          </a:ln>
        </p:spPr>
        <p:txBody>
          <a:bodyPr wrap="square" lIns="0" tIns="0" rIns="0" bIns="0" rtlCol="0" anchor="ctr">
            <a:noAutofit/>
          </a:bodyPr>
          <a:lstStyle/>
          <a:p>
            <a:pPr marL="0" indent="0" algn="ctr">
              <a:buNone/>
            </a:pPr>
            <a:r>
              <a:rPr lang="en-US" sz="1050" dirty="0">
                <a:solidFill>
                  <a:srgbClr val="66788A"/>
                </a:solidFill>
                <a:latin typeface="Tahoma"/>
                <a:ea typeface="Tahoma"/>
                <a:cs typeface="Tahoma"/>
              </a:rPr>
              <a:t>2.5 km</a:t>
            </a:r>
            <a:endParaRPr lang="en-US" sz="1050" dirty="0"/>
          </a:p>
        </p:txBody>
      </p:sp>
      <p:grpSp>
        <p:nvGrpSpPr>
          <p:cNvPr id="18" name="Chip intact"/>
          <p:cNvGrpSpPr/>
          <p:nvPr/>
        </p:nvGrpSpPr>
        <p:grpSpPr>
          <a:xfrm>
            <a:off x="914400" y="2532888"/>
            <a:ext cx="1207008" cy="329184"/>
            <a:chOff x="914400" y="2532888"/>
            <a:chExt cx="1207008" cy="329184"/>
          </a:xfrm>
        </p:grpSpPr>
        <p:sp>
          <p:nvSpPr>
            <p:cNvPr id="19" name="Shape 19"/>
            <p:cNvSpPr/>
            <p:nvPr/>
          </p:nvSpPr>
          <p:spPr>
            <a:xfrm>
              <a:off x="914400" y="2532888"/>
              <a:ext cx="1207008" cy="329184"/>
            </a:xfrm>
            <a:prstGeom prst="roundRect">
              <a:avLst>
                <a:gd name="adj" fmla="val 50000"/>
              </a:avLst>
            </a:prstGeom>
            <a:solidFill>
              <a:srgbClr val="FFFFFF"/>
            </a:solidFill>
            <a:ln w="12700">
              <a:solidFill>
                <a:srgbClr val="D3EAF6"/>
              </a:solidFill>
            </a:ln>
          </p:spPr>
        </p:sp>
        <p:sp>
          <p:nvSpPr>
            <p:cNvPr id="20" name="Shape 20"/>
            <p:cNvSpPr/>
            <p:nvPr/>
          </p:nvSpPr>
          <p:spPr>
            <a:xfrm>
              <a:off x="1028700" y="2628900"/>
              <a:ext cx="137160" cy="137160"/>
            </a:xfrm>
            <a:prstGeom prst="ellipse">
              <a:avLst/>
            </a:prstGeom>
            <a:solidFill>
              <a:srgbClr val="1A9850"/>
            </a:solidFill>
            <a:ln>
              <a:noFill/>
            </a:ln>
          </p:spPr>
        </p:sp>
        <p:sp>
          <p:nvSpPr>
            <p:cNvPr id="21" name="Shape 21"/>
            <p:cNvSpPr txBox="1"/>
            <p:nvPr/>
          </p:nvSpPr>
          <p:spPr>
            <a:xfrm>
              <a:off x="1234440" y="2532888"/>
              <a:ext cx="841248" cy="329184"/>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intact</a:t>
              </a:r>
              <a:endParaRPr lang="en-US" sz="1100" dirty="0"/>
            </a:p>
          </p:txBody>
        </p:sp>
      </p:grpSp>
      <p:grpSp>
        <p:nvGrpSpPr>
          <p:cNvPr id="22" name="Lollipop intact"/>
          <p:cNvGrpSpPr/>
          <p:nvPr/>
        </p:nvGrpSpPr>
        <p:grpSpPr>
          <a:xfrm>
            <a:off x="2240280" y="2404872"/>
            <a:ext cx="4416552" cy="292608"/>
            <a:chOff x="2240280" y="2404872"/>
            <a:chExt cx="4416552" cy="292608"/>
          </a:xfrm>
        </p:grpSpPr>
        <p:cxnSp>
          <p:nvCxnSpPr>
            <p:cNvPr id="23" name="Line 23"/>
            <p:cNvCxnSpPr/>
            <p:nvPr/>
          </p:nvCxnSpPr>
          <p:spPr>
            <a:xfrm>
              <a:off x="2240280" y="2697480"/>
              <a:ext cx="4416552" cy="0"/>
            </a:xfrm>
            <a:prstGeom prst="line">
              <a:avLst/>
            </a:prstGeom>
            <a:ln w="38100">
              <a:solidFill>
                <a:srgbClr val="1A9850"/>
              </a:solidFill>
              <a:tailEnd type="triangle" w="med" len="med"/>
            </a:ln>
          </p:spPr>
        </p:cxnSp>
        <p:sp>
          <p:nvSpPr>
            <p:cNvPr id="24" name="Shape 24"/>
            <p:cNvSpPr txBox="1"/>
            <p:nvPr/>
          </p:nvSpPr>
          <p:spPr>
            <a:xfrm>
              <a:off x="5102352" y="2404872"/>
              <a:ext cx="1554480" cy="237744"/>
            </a:xfrm>
            <a:prstGeom prst="rect">
              <a:avLst/>
            </a:prstGeom>
            <a:noFill/>
            <a:ln>
              <a:noFill/>
            </a:ln>
          </p:spPr>
          <p:txBody>
            <a:bodyPr wrap="square" lIns="0" tIns="0" rIns="0" bIns="0" rtlCol="0" anchor="ctr">
              <a:noAutofit/>
            </a:bodyPr>
            <a:lstStyle/>
            <a:p>
              <a:pPr marL="0" indent="0" algn="r">
                <a:buNone/>
              </a:pPr>
              <a:r>
                <a:rPr lang="en-US" sz="1000" dirty="0">
                  <a:solidFill>
                    <a:srgbClr val="66788A"/>
                  </a:solidFill>
                  <a:latin typeface="Tahoma"/>
                  <a:ea typeface="Tahoma"/>
                  <a:cs typeface="Tahoma"/>
                </a:rPr>
                <a:t>far beyond range</a:t>
              </a:r>
              <a:endParaRPr lang="en-US" sz="1000" dirty="0"/>
            </a:p>
          </p:txBody>
        </p:sp>
      </p:grpSp>
      <p:grpSp>
        <p:nvGrpSpPr>
          <p:cNvPr id="25" name="Chip moderate"/>
          <p:cNvGrpSpPr/>
          <p:nvPr/>
        </p:nvGrpSpPr>
        <p:grpSpPr>
          <a:xfrm>
            <a:off x="914400" y="3035808"/>
            <a:ext cx="1207008" cy="329184"/>
            <a:chOff x="914400" y="3035808"/>
            <a:chExt cx="1207008" cy="329184"/>
          </a:xfrm>
        </p:grpSpPr>
        <p:sp>
          <p:nvSpPr>
            <p:cNvPr id="26" name="Shape 26"/>
            <p:cNvSpPr/>
            <p:nvPr/>
          </p:nvSpPr>
          <p:spPr>
            <a:xfrm>
              <a:off x="914400" y="3035808"/>
              <a:ext cx="1207008" cy="329184"/>
            </a:xfrm>
            <a:prstGeom prst="roundRect">
              <a:avLst>
                <a:gd name="adj" fmla="val 50000"/>
              </a:avLst>
            </a:prstGeom>
            <a:solidFill>
              <a:srgbClr val="FFFFFF"/>
            </a:solidFill>
            <a:ln w="12700">
              <a:solidFill>
                <a:srgbClr val="D3EAF6"/>
              </a:solidFill>
            </a:ln>
          </p:spPr>
        </p:sp>
        <p:sp>
          <p:nvSpPr>
            <p:cNvPr id="27" name="Shape 27"/>
            <p:cNvSpPr/>
            <p:nvPr/>
          </p:nvSpPr>
          <p:spPr>
            <a:xfrm>
              <a:off x="1028700" y="3131820"/>
              <a:ext cx="137160" cy="137160"/>
            </a:xfrm>
            <a:prstGeom prst="ellipse">
              <a:avLst/>
            </a:prstGeom>
            <a:solidFill>
              <a:srgbClr val="66BD63"/>
            </a:solidFill>
            <a:ln>
              <a:noFill/>
            </a:ln>
          </p:spPr>
        </p:sp>
        <p:sp>
          <p:nvSpPr>
            <p:cNvPr id="28" name="Shape 28"/>
            <p:cNvSpPr txBox="1"/>
            <p:nvPr/>
          </p:nvSpPr>
          <p:spPr>
            <a:xfrm>
              <a:off x="1234440" y="3035808"/>
              <a:ext cx="841248" cy="329184"/>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moderate</a:t>
              </a:r>
              <a:endParaRPr lang="en-US" sz="1100" dirty="0"/>
            </a:p>
          </p:txBody>
        </p:sp>
      </p:grpSp>
      <p:grpSp>
        <p:nvGrpSpPr>
          <p:cNvPr id="29" name="Lollipop moderate"/>
          <p:cNvGrpSpPr/>
          <p:nvPr/>
        </p:nvGrpSpPr>
        <p:grpSpPr>
          <a:xfrm>
            <a:off x="2240280" y="2907792"/>
            <a:ext cx="4416552" cy="292608"/>
            <a:chOff x="2240280" y="2907792"/>
            <a:chExt cx="4416552" cy="292608"/>
          </a:xfrm>
        </p:grpSpPr>
        <p:cxnSp>
          <p:nvCxnSpPr>
            <p:cNvPr id="30" name="Line 30"/>
            <p:cNvCxnSpPr/>
            <p:nvPr/>
          </p:nvCxnSpPr>
          <p:spPr>
            <a:xfrm>
              <a:off x="2240280" y="3200400"/>
              <a:ext cx="4416552" cy="0"/>
            </a:xfrm>
            <a:prstGeom prst="line">
              <a:avLst/>
            </a:prstGeom>
            <a:ln w="38100">
              <a:solidFill>
                <a:srgbClr val="66BD63"/>
              </a:solidFill>
              <a:tailEnd type="triangle" w="med" len="med"/>
            </a:ln>
          </p:spPr>
        </p:cxnSp>
        <p:sp>
          <p:nvSpPr>
            <p:cNvPr id="31" name="Shape 31"/>
            <p:cNvSpPr txBox="1"/>
            <p:nvPr/>
          </p:nvSpPr>
          <p:spPr>
            <a:xfrm>
              <a:off x="5102352" y="2907792"/>
              <a:ext cx="1554480" cy="237744"/>
            </a:xfrm>
            <a:prstGeom prst="rect">
              <a:avLst/>
            </a:prstGeom>
            <a:noFill/>
            <a:ln>
              <a:noFill/>
            </a:ln>
          </p:spPr>
          <p:txBody>
            <a:bodyPr wrap="square" lIns="0" tIns="0" rIns="0" bIns="0" rtlCol="0" anchor="ctr">
              <a:noAutofit/>
            </a:bodyPr>
            <a:lstStyle/>
            <a:p>
              <a:pPr marL="0" indent="0" algn="r">
                <a:buNone/>
              </a:pPr>
              <a:r>
                <a:rPr lang="en-US" sz="1000" dirty="0">
                  <a:solidFill>
                    <a:srgbClr val="66788A"/>
                  </a:solidFill>
                  <a:latin typeface="Tahoma"/>
                  <a:ea typeface="Tahoma"/>
                  <a:cs typeface="Tahoma"/>
                </a:rPr>
                <a:t>far beyond range</a:t>
              </a:r>
              <a:endParaRPr lang="en-US" sz="1000" dirty="0"/>
            </a:p>
          </p:txBody>
        </p:sp>
      </p:grpSp>
      <p:grpSp>
        <p:nvGrpSpPr>
          <p:cNvPr id="32" name="Chip heavy"/>
          <p:cNvGrpSpPr/>
          <p:nvPr/>
        </p:nvGrpSpPr>
        <p:grpSpPr>
          <a:xfrm>
            <a:off x="914400" y="3538728"/>
            <a:ext cx="1207008" cy="329184"/>
            <a:chOff x="914400" y="3538728"/>
            <a:chExt cx="1207008" cy="329184"/>
          </a:xfrm>
        </p:grpSpPr>
        <p:sp>
          <p:nvSpPr>
            <p:cNvPr id="33" name="Shape 33"/>
            <p:cNvSpPr/>
            <p:nvPr/>
          </p:nvSpPr>
          <p:spPr>
            <a:xfrm>
              <a:off x="914400" y="3538728"/>
              <a:ext cx="1207008" cy="329184"/>
            </a:xfrm>
            <a:prstGeom prst="roundRect">
              <a:avLst>
                <a:gd name="adj" fmla="val 50000"/>
              </a:avLst>
            </a:prstGeom>
            <a:solidFill>
              <a:srgbClr val="FFFFFF"/>
            </a:solidFill>
            <a:ln w="12700">
              <a:solidFill>
                <a:srgbClr val="D3EAF6"/>
              </a:solidFill>
            </a:ln>
          </p:spPr>
        </p:sp>
        <p:sp>
          <p:nvSpPr>
            <p:cNvPr id="34" name="Shape 34"/>
            <p:cNvSpPr/>
            <p:nvPr/>
          </p:nvSpPr>
          <p:spPr>
            <a:xfrm>
              <a:off x="1028700" y="3634740"/>
              <a:ext cx="137160" cy="137160"/>
            </a:xfrm>
            <a:prstGeom prst="ellipse">
              <a:avLst/>
            </a:prstGeom>
            <a:solidFill>
              <a:srgbClr val="E6B422"/>
            </a:solidFill>
            <a:ln>
              <a:noFill/>
            </a:ln>
          </p:spPr>
        </p:sp>
        <p:sp>
          <p:nvSpPr>
            <p:cNvPr id="35" name="Shape 35"/>
            <p:cNvSpPr txBox="1"/>
            <p:nvPr/>
          </p:nvSpPr>
          <p:spPr>
            <a:xfrm>
              <a:off x="1234440" y="3538728"/>
              <a:ext cx="841248" cy="329184"/>
            </a:xfrm>
            <a:prstGeom prst="rect">
              <a:avLst/>
            </a:prstGeom>
            <a:noFill/>
            <a:ln>
              <a:noFill/>
            </a:ln>
          </p:spPr>
          <p:txBody>
            <a:bodyPr wrap="square" lIns="0" tIns="0" rIns="0" bIns="0" rtlCol="0" anchor="ctr">
              <a:noAutofit/>
            </a:bodyPr>
            <a:lstStyle/>
            <a:p>
              <a:pPr marL="0" indent="0" algn="l">
                <a:buNone/>
              </a:pPr>
              <a:r>
                <a:rPr lang="en-US" sz="1100" b="1" dirty="0">
                  <a:solidFill>
                    <a:srgbClr val="08325F"/>
                  </a:solidFill>
                  <a:latin typeface="Tahoma"/>
                  <a:ea typeface="Tahoma"/>
                  <a:cs typeface="Tahoma"/>
                </a:rPr>
                <a:t>heavy</a:t>
              </a:r>
              <a:endParaRPr lang="en-US" sz="1100" dirty="0"/>
            </a:p>
          </p:txBody>
        </p:sp>
      </p:grpSp>
      <p:grpSp>
        <p:nvGrpSpPr>
          <p:cNvPr id="36" name="Lollipop heavy"/>
          <p:cNvGrpSpPr/>
          <p:nvPr/>
        </p:nvGrpSpPr>
        <p:grpSpPr>
          <a:xfrm>
            <a:off x="2240280" y="3557016"/>
            <a:ext cx="4572000" cy="292608"/>
            <a:chOff x="2240280" y="3557016"/>
            <a:chExt cx="4572000" cy="292608"/>
          </a:xfrm>
        </p:grpSpPr>
        <p:cxnSp>
          <p:nvCxnSpPr>
            <p:cNvPr id="37" name="Line 37"/>
            <p:cNvCxnSpPr/>
            <p:nvPr/>
          </p:nvCxnSpPr>
          <p:spPr>
            <a:xfrm>
              <a:off x="2240280" y="3703320"/>
              <a:ext cx="3566160" cy="0"/>
            </a:xfrm>
            <a:prstGeom prst="line">
              <a:avLst/>
            </a:prstGeom>
            <a:ln w="38100">
              <a:solidFill>
                <a:srgbClr val="E6B422"/>
              </a:solidFill>
            </a:ln>
          </p:spPr>
        </p:cxnSp>
        <p:sp>
          <p:nvSpPr>
            <p:cNvPr id="38" name="Shape 38"/>
            <p:cNvSpPr/>
            <p:nvPr/>
          </p:nvSpPr>
          <p:spPr>
            <a:xfrm>
              <a:off x="5715000" y="3611880"/>
              <a:ext cx="182880" cy="182880"/>
            </a:xfrm>
            <a:prstGeom prst="ellipse">
              <a:avLst/>
            </a:prstGeom>
            <a:solidFill>
              <a:srgbClr val="E6B422"/>
            </a:solidFill>
            <a:ln w="19050">
              <a:solidFill>
                <a:srgbClr val="FFFFFF"/>
              </a:solidFill>
            </a:ln>
          </p:spPr>
        </p:sp>
        <p:sp>
          <p:nvSpPr>
            <p:cNvPr id="39" name="Shape 39"/>
            <p:cNvSpPr txBox="1"/>
            <p:nvPr/>
          </p:nvSpPr>
          <p:spPr>
            <a:xfrm>
              <a:off x="5943600" y="3557016"/>
              <a:ext cx="868680" cy="292608"/>
            </a:xfrm>
            <a:prstGeom prst="rect">
              <a:avLst/>
            </a:prstGeom>
            <a:noFill/>
            <a:ln>
              <a:noFill/>
            </a:ln>
          </p:spPr>
          <p:txBody>
            <a:bodyPr wrap="square" lIns="0" tIns="0" rIns="0" bIns="0" rtlCol="0" anchor="ctr">
              <a:noAutofit/>
            </a:bodyPr>
            <a:lstStyle/>
            <a:p>
              <a:pPr marL="0" indent="0" algn="l">
                <a:buNone/>
              </a:pPr>
              <a:r>
                <a:rPr lang="en-US" sz="1200" b="1" dirty="0">
                  <a:solidFill>
                    <a:srgbClr val="08325F"/>
                  </a:solidFill>
                  <a:latin typeface="Tahoma"/>
                  <a:ea typeface="Tahoma"/>
                  <a:cs typeface="Tahoma"/>
                </a:rPr>
                <a:t>≈2 km</a:t>
              </a:r>
              <a:endParaRPr lang="en-US" sz="1200" dirty="0"/>
            </a:p>
          </p:txBody>
        </p:sp>
      </p:grpSp>
      <p:grpSp>
        <p:nvGrpSpPr>
          <p:cNvPr id="40" name="Chip severe"/>
          <p:cNvGrpSpPr/>
          <p:nvPr/>
        </p:nvGrpSpPr>
        <p:grpSpPr>
          <a:xfrm>
            <a:off x="914400" y="4041648"/>
            <a:ext cx="1207008" cy="329184"/>
            <a:chOff x="914400" y="4041648"/>
            <a:chExt cx="1207008" cy="329184"/>
          </a:xfrm>
        </p:grpSpPr>
        <p:sp>
          <p:nvSpPr>
            <p:cNvPr id="41" name="Shape 41"/>
            <p:cNvSpPr/>
            <p:nvPr/>
          </p:nvSpPr>
          <p:spPr>
            <a:xfrm>
              <a:off x="914400" y="4041648"/>
              <a:ext cx="1207008" cy="329184"/>
            </a:xfrm>
            <a:prstGeom prst="roundRect">
              <a:avLst>
                <a:gd name="adj" fmla="val 50000"/>
              </a:avLst>
            </a:prstGeom>
            <a:solidFill>
              <a:srgbClr val="FFFFFF"/>
            </a:solidFill>
            <a:ln w="12700">
              <a:solidFill>
                <a:srgbClr val="D3EAF6"/>
              </a:solidFill>
            </a:ln>
          </p:spPr>
        </p:sp>
        <p:sp>
          <p:nvSpPr>
            <p:cNvPr id="42" name="Shape 42"/>
            <p:cNvSpPr/>
            <p:nvPr/>
          </p:nvSpPr>
          <p:spPr>
            <a:xfrm>
              <a:off x="1028700" y="4137660"/>
              <a:ext cx="137160" cy="137160"/>
            </a:xfrm>
            <a:prstGeom prst="ellipse">
              <a:avLst/>
            </a:prstGeom>
            <a:solidFill>
              <a:srgbClr val="F46D43"/>
            </a:solidFill>
            <a:ln>
              <a:noFill/>
            </a:ln>
          </p:spPr>
        </p:sp>
        <p:sp>
          <p:nvSpPr>
            <p:cNvPr id="43" name="Shape 43"/>
            <p:cNvSpPr txBox="1"/>
            <p:nvPr/>
          </p:nvSpPr>
          <p:spPr>
            <a:xfrm>
              <a:off x="1234440" y="4041648"/>
              <a:ext cx="841248" cy="329184"/>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severe</a:t>
              </a:r>
              <a:endParaRPr lang="en-US" sz="1100" dirty="0"/>
            </a:p>
          </p:txBody>
        </p:sp>
      </p:grpSp>
      <p:grpSp>
        <p:nvGrpSpPr>
          <p:cNvPr id="44" name="Lollipop severe"/>
          <p:cNvGrpSpPr/>
          <p:nvPr/>
        </p:nvGrpSpPr>
        <p:grpSpPr>
          <a:xfrm>
            <a:off x="2240280" y="4059936"/>
            <a:ext cx="2842412" cy="292608"/>
            <a:chOff x="2240280" y="4059936"/>
            <a:chExt cx="2842412" cy="292608"/>
          </a:xfrm>
        </p:grpSpPr>
        <p:cxnSp>
          <p:nvCxnSpPr>
            <p:cNvPr id="45" name="Line 45"/>
            <p:cNvCxnSpPr/>
            <p:nvPr/>
          </p:nvCxnSpPr>
          <p:spPr>
            <a:xfrm>
              <a:off x="2240280" y="4206240"/>
              <a:ext cx="1836572" cy="0"/>
            </a:xfrm>
            <a:prstGeom prst="line">
              <a:avLst/>
            </a:prstGeom>
            <a:ln w="38100">
              <a:solidFill>
                <a:srgbClr val="F46D43"/>
              </a:solidFill>
            </a:ln>
          </p:spPr>
        </p:cxnSp>
        <p:sp>
          <p:nvSpPr>
            <p:cNvPr id="46" name="Shape 46"/>
            <p:cNvSpPr/>
            <p:nvPr/>
          </p:nvSpPr>
          <p:spPr>
            <a:xfrm>
              <a:off x="3985412" y="4114800"/>
              <a:ext cx="182880" cy="182880"/>
            </a:xfrm>
            <a:prstGeom prst="ellipse">
              <a:avLst/>
            </a:prstGeom>
            <a:solidFill>
              <a:srgbClr val="F46D43"/>
            </a:solidFill>
            <a:ln w="19050">
              <a:solidFill>
                <a:srgbClr val="FFFFFF"/>
              </a:solidFill>
            </a:ln>
          </p:spPr>
        </p:sp>
        <p:sp>
          <p:nvSpPr>
            <p:cNvPr id="47" name="Shape 47"/>
            <p:cNvSpPr txBox="1"/>
            <p:nvPr/>
          </p:nvSpPr>
          <p:spPr>
            <a:xfrm>
              <a:off x="4214012" y="4059936"/>
              <a:ext cx="868680" cy="292608"/>
            </a:xfrm>
            <a:prstGeom prst="rect">
              <a:avLst/>
            </a:prstGeom>
            <a:noFill/>
            <a:ln>
              <a:noFill/>
            </a:ln>
          </p:spPr>
          <p:txBody>
            <a:bodyPr wrap="square" lIns="0" tIns="0" rIns="0" bIns="0" rtlCol="0" anchor="ctr">
              <a:noAutofit/>
            </a:bodyPr>
            <a:lstStyle/>
            <a:p>
              <a:pPr marL="0" indent="0" algn="l">
                <a:buNone/>
              </a:pPr>
              <a:r>
                <a:rPr lang="en-US" sz="1200" b="1" dirty="0">
                  <a:solidFill>
                    <a:srgbClr val="08325F"/>
                  </a:solidFill>
                  <a:latin typeface="Tahoma"/>
                  <a:ea typeface="Tahoma"/>
                  <a:cs typeface="Tahoma"/>
                </a:rPr>
                <a:t>≈1 km</a:t>
              </a:r>
              <a:endParaRPr lang="en-US" sz="1200" dirty="0"/>
            </a:p>
          </p:txBody>
        </p:sp>
      </p:grpSp>
      <p:grpSp>
        <p:nvGrpSpPr>
          <p:cNvPr id="48" name="Chip extreme"/>
          <p:cNvGrpSpPr/>
          <p:nvPr/>
        </p:nvGrpSpPr>
        <p:grpSpPr>
          <a:xfrm>
            <a:off x="914400" y="4544568"/>
            <a:ext cx="1207008" cy="329184"/>
            <a:chOff x="914400" y="4544568"/>
            <a:chExt cx="1207008" cy="329184"/>
          </a:xfrm>
        </p:grpSpPr>
        <p:sp>
          <p:nvSpPr>
            <p:cNvPr id="49" name="Shape 49"/>
            <p:cNvSpPr/>
            <p:nvPr/>
          </p:nvSpPr>
          <p:spPr>
            <a:xfrm>
              <a:off x="914400" y="4544568"/>
              <a:ext cx="1207008" cy="329184"/>
            </a:xfrm>
            <a:prstGeom prst="roundRect">
              <a:avLst>
                <a:gd name="adj" fmla="val 50000"/>
              </a:avLst>
            </a:prstGeom>
            <a:solidFill>
              <a:srgbClr val="FFFFFF"/>
            </a:solidFill>
            <a:ln w="12700">
              <a:solidFill>
                <a:srgbClr val="D3EAF6"/>
              </a:solidFill>
            </a:ln>
          </p:spPr>
        </p:sp>
        <p:sp>
          <p:nvSpPr>
            <p:cNvPr id="50" name="Shape 50"/>
            <p:cNvSpPr/>
            <p:nvPr/>
          </p:nvSpPr>
          <p:spPr>
            <a:xfrm>
              <a:off x="1028700" y="4640580"/>
              <a:ext cx="137160" cy="137160"/>
            </a:xfrm>
            <a:prstGeom prst="ellipse">
              <a:avLst/>
            </a:prstGeom>
            <a:solidFill>
              <a:srgbClr val="D73027"/>
            </a:solidFill>
            <a:ln>
              <a:noFill/>
            </a:ln>
          </p:spPr>
        </p:sp>
        <p:sp>
          <p:nvSpPr>
            <p:cNvPr id="51" name="Shape 51"/>
            <p:cNvSpPr txBox="1"/>
            <p:nvPr/>
          </p:nvSpPr>
          <p:spPr>
            <a:xfrm>
              <a:off x="1234440" y="4544568"/>
              <a:ext cx="841248" cy="329184"/>
            </a:xfrm>
            <a:prstGeom prst="rect">
              <a:avLst/>
            </a:prstGeom>
            <a:noFill/>
            <a:ln>
              <a:noFill/>
            </a:ln>
          </p:spPr>
          <p:txBody>
            <a:bodyPr wrap="square" lIns="0" tIns="0" rIns="0" bIns="0" rtlCol="0" anchor="ctr">
              <a:noAutofit/>
            </a:bodyPr>
            <a:lstStyle/>
            <a:p>
              <a:pPr marL="0" indent="0" algn="l">
                <a:buNone/>
              </a:pPr>
              <a:r>
                <a:rPr lang="en-US" sz="1100" dirty="0">
                  <a:solidFill>
                    <a:srgbClr val="08325F"/>
                  </a:solidFill>
                  <a:latin typeface="Tahoma"/>
                  <a:ea typeface="Tahoma"/>
                  <a:cs typeface="Tahoma"/>
                </a:rPr>
                <a:t>extreme</a:t>
              </a:r>
              <a:endParaRPr lang="en-US" sz="1100" dirty="0"/>
            </a:p>
          </p:txBody>
        </p:sp>
      </p:grpSp>
      <p:grpSp>
        <p:nvGrpSpPr>
          <p:cNvPr id="52" name="Lollipop extreme"/>
          <p:cNvGrpSpPr/>
          <p:nvPr/>
        </p:nvGrpSpPr>
        <p:grpSpPr>
          <a:xfrm>
            <a:off x="2240280" y="4562856"/>
            <a:ext cx="2141662" cy="292608"/>
            <a:chOff x="2240280" y="4562856"/>
            <a:chExt cx="2141662" cy="292608"/>
          </a:xfrm>
        </p:grpSpPr>
        <p:cxnSp>
          <p:nvCxnSpPr>
            <p:cNvPr id="53" name="Line 53"/>
            <p:cNvCxnSpPr/>
            <p:nvPr/>
          </p:nvCxnSpPr>
          <p:spPr>
            <a:xfrm>
              <a:off x="2240280" y="4709160"/>
              <a:ext cx="1135822" cy="0"/>
            </a:xfrm>
            <a:prstGeom prst="line">
              <a:avLst/>
            </a:prstGeom>
            <a:ln w="38100">
              <a:solidFill>
                <a:srgbClr val="D73027"/>
              </a:solidFill>
            </a:ln>
          </p:spPr>
        </p:cxnSp>
        <p:sp>
          <p:nvSpPr>
            <p:cNvPr id="54" name="Shape 54"/>
            <p:cNvSpPr/>
            <p:nvPr/>
          </p:nvSpPr>
          <p:spPr>
            <a:xfrm>
              <a:off x="3284662" y="4617720"/>
              <a:ext cx="182880" cy="182880"/>
            </a:xfrm>
            <a:prstGeom prst="ellipse">
              <a:avLst/>
            </a:prstGeom>
            <a:solidFill>
              <a:srgbClr val="D73027"/>
            </a:solidFill>
            <a:ln w="19050">
              <a:solidFill>
                <a:srgbClr val="FFFFFF"/>
              </a:solidFill>
            </a:ln>
          </p:spPr>
        </p:sp>
        <p:sp>
          <p:nvSpPr>
            <p:cNvPr id="55" name="Shape 55"/>
            <p:cNvSpPr txBox="1"/>
            <p:nvPr/>
          </p:nvSpPr>
          <p:spPr>
            <a:xfrm>
              <a:off x="3513262" y="4562856"/>
              <a:ext cx="868680" cy="292608"/>
            </a:xfrm>
            <a:prstGeom prst="rect">
              <a:avLst/>
            </a:prstGeom>
            <a:noFill/>
            <a:ln>
              <a:noFill/>
            </a:ln>
          </p:spPr>
          <p:txBody>
            <a:bodyPr wrap="square" lIns="0" tIns="0" rIns="0" bIns="0" rtlCol="0" anchor="ctr">
              <a:noAutofit/>
            </a:bodyPr>
            <a:lstStyle/>
            <a:p>
              <a:pPr marL="0" indent="0" algn="l">
                <a:buNone/>
              </a:pPr>
              <a:r>
                <a:rPr lang="en-US" sz="1200" b="1" dirty="0">
                  <a:solidFill>
                    <a:srgbClr val="08325F"/>
                  </a:solidFill>
                  <a:latin typeface="Tahoma"/>
                  <a:ea typeface="Tahoma"/>
                  <a:cs typeface="Tahoma"/>
                </a:rPr>
                <a:t>≈640 m</a:t>
              </a:r>
              <a:endParaRPr lang="en-US" sz="1200" dirty="0"/>
            </a:p>
          </p:txBody>
        </p:sp>
      </p:grpSp>
      <p:sp>
        <p:nvSpPr>
          <p:cNvPr id="56" name="Severe highlight"/>
          <p:cNvSpPr/>
          <p:nvPr/>
        </p:nvSpPr>
        <p:spPr>
          <a:xfrm>
            <a:off x="850392" y="3977640"/>
            <a:ext cx="6172200" cy="457200"/>
          </a:xfrm>
          <a:prstGeom prst="roundRect">
            <a:avLst>
              <a:gd name="adj" fmla="val 50000"/>
            </a:avLst>
          </a:prstGeom>
          <a:noFill/>
          <a:ln w="28575">
            <a:solidFill>
              <a:srgbClr val="F46D43"/>
            </a:solidFill>
          </a:ln>
        </p:spPr>
      </p:sp>
      <p:sp>
        <p:nvSpPr>
          <p:cNvPr id="57" name="Severe callout"/>
          <p:cNvSpPr/>
          <p:nvPr/>
        </p:nvSpPr>
        <p:spPr>
          <a:xfrm>
            <a:off x="7452360" y="1691640"/>
            <a:ext cx="3977640" cy="1874520"/>
          </a:xfrm>
          <a:prstGeom prst="roundRect">
            <a:avLst>
              <a:gd name="adj" fmla="val 4390"/>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28600" tIns="91440" rIns="182880" bIns="91440" rtlCol="0" anchor="ctr">
            <a:noAutofit/>
          </a:bodyPr>
          <a:lstStyle/>
          <a:p>
            <a:pPr marL="0" indent="0" algn="l">
              <a:lnSpc>
                <a:spcPct val="102000"/>
              </a:lnSpc>
              <a:spcAft>
                <a:spcPts val="600"/>
              </a:spcAft>
              <a:buNone/>
            </a:pPr>
            <a:r>
              <a:rPr lang="en-US" sz="1500" b="1" dirty="0">
                <a:solidFill>
                  <a:srgbClr val="08325F"/>
                </a:solidFill>
                <a:latin typeface="Tahoma"/>
                <a:ea typeface="Tahoma"/>
                <a:cs typeface="Tahoma"/>
              </a:rPr>
              <a:t>Severe is the first level where links within range fail often</a:t>
            </a:r>
            <a:endParaRPr lang="en-US" sz="1500" dirty="0"/>
          </a:p>
          <a:p>
            <a:pPr marL="0" indent="0" algn="l">
              <a:lnSpc>
                <a:spcPct val="102000"/>
              </a:lnSpc>
              <a:buNone/>
            </a:pPr>
            <a:r>
              <a:rPr lang="en-US" sz="1250" dirty="0">
                <a:solidFill>
                  <a:srgbClr val="44546A"/>
                </a:solidFill>
                <a:latin typeface="Tahoma"/>
                <a:ea typeface="Tahoma"/>
                <a:cs typeface="Tahoma"/>
              </a:rPr>
              <a:t>Heavy: halfway point ≈2 km, outside our range</a:t>
            </a:r>
            <a:endParaRPr lang="en-US" sz="1250" dirty="0"/>
          </a:p>
          <a:p>
            <a:pPr marL="0" indent="0" algn="l">
              <a:lnSpc>
                <a:spcPct val="102000"/>
              </a:lnSpc>
              <a:buNone/>
            </a:pPr>
            <a:r>
              <a:rPr lang="en-US" sz="1250" dirty="0">
                <a:solidFill>
                  <a:srgbClr val="44546A"/>
                </a:solidFill>
                <a:latin typeface="Tahoma"/>
                <a:ea typeface="Tahoma"/>
                <a:cs typeface="Tahoma"/>
              </a:rPr>
              <a:t>Severe: ≈1 km, inside it</a:t>
            </a:r>
            <a:endParaRPr lang="en-US" sz="1250" dirty="0"/>
          </a:p>
        </p:txBody>
      </p:sp>
      <p:sp>
        <p:nvSpPr>
          <p:cNvPr id="58" name="Success callout"/>
          <p:cNvSpPr/>
          <p:nvPr/>
        </p:nvSpPr>
        <p:spPr>
          <a:xfrm>
            <a:off x="7452360" y="3703320"/>
            <a:ext cx="3977640" cy="2194560"/>
          </a:xfrm>
          <a:prstGeom prst="roundRect">
            <a:avLst>
              <a:gd name="adj" fmla="val 3750"/>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28600" tIns="91440" rIns="182880" bIns="91440" rtlCol="0" anchor="ctr">
            <a:noAutofit/>
          </a:bodyPr>
          <a:lstStyle/>
          <a:p>
            <a:pPr marL="0" indent="0" algn="l">
              <a:lnSpc>
                <a:spcPct val="100000"/>
              </a:lnSpc>
              <a:buNone/>
            </a:pPr>
            <a:r>
              <a:rPr lang="en-US" sz="4400" b="1" dirty="0">
                <a:solidFill>
                  <a:srgbClr val="EB6834"/>
                </a:solidFill>
                <a:latin typeface="Tahoma"/>
                <a:ea typeface="Tahoma"/>
                <a:cs typeface="Tahoma"/>
              </a:rPr>
              <a:t>99.6%</a:t>
            </a:r>
            <a:endParaRPr lang="en-US" sz="4400" dirty="0"/>
          </a:p>
          <a:p>
            <a:pPr marL="0" indent="0" algn="l">
              <a:lnSpc>
                <a:spcPct val="100000"/>
              </a:lnSpc>
              <a:spcAft>
                <a:spcPts val="400"/>
              </a:spcAft>
              <a:buNone/>
            </a:pPr>
            <a:r>
              <a:rPr lang="en-US" sz="1400" b="1" dirty="0">
                <a:solidFill>
                  <a:srgbClr val="08325F"/>
                </a:solidFill>
                <a:latin typeface="Tahoma"/>
                <a:ea typeface="Tahoma"/>
                <a:cs typeface="Tahoma"/>
              </a:rPr>
              <a:t>of trips: PPO reaches a safe zone at every damage level</a:t>
            </a:r>
            <a:endParaRPr lang="en-US" sz="1400" dirty="0"/>
          </a:p>
          <a:p>
            <a:pPr marL="0" indent="0" algn="l">
              <a:lnSpc>
                <a:spcPct val="100000"/>
              </a:lnSpc>
              <a:buNone/>
            </a:pPr>
            <a:r>
              <a:rPr lang="en-US" sz="1200" dirty="0">
                <a:solidFill>
                  <a:srgbClr val="44546A"/>
                </a:solidFill>
                <a:latin typeface="Tahoma"/>
                <a:ea typeface="Tahoma"/>
                <a:cs typeface="Tahoma"/>
              </a:rPr>
              <a:t>1 trip in 250 fails · classical planners: 100%</a:t>
            </a:r>
            <a:endParaRPr lang="en-US" sz="1200" dirty="0"/>
          </a:p>
        </p:txBody>
      </p:sp>
      <p:cxnSp>
        <p:nvCxnSpPr>
          <p:cNvPr id="59" name="Footer rule"/>
          <p:cNvCxnSpPr/>
          <p:nvPr/>
        </p:nvCxnSpPr>
        <p:spPr>
          <a:xfrm>
            <a:off x="502920" y="6199632"/>
            <a:ext cx="11155680" cy="0"/>
          </a:xfrm>
          <a:prstGeom prst="line">
            <a:avLst/>
          </a:prstGeom>
          <a:ln w="12700">
            <a:solidFill>
              <a:srgbClr val="003E82">
                <a:alpha val="25000"/>
              </a:srgbClr>
            </a:solidFill>
          </a:ln>
        </p:spPr>
      </p:cxnSp>
      <p:pic>
        <p:nvPicPr>
          <p:cNvPr id="60"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61"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62"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17</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450"/>
                                        <p:tgtEl>
                                          <p:spTgt spid="22"/>
                                        </p:tgtEl>
                                      </p:cBhvr>
                                    </p:animEffect>
                                  </p:childTnLst>
                                </p:cTn>
                              </p:par>
                            </p:childTnLst>
                          </p:cTn>
                        </p:par>
                        <p:par>
                          <p:cTn id="8" fill="hold">
                            <p:stCondLst>
                              <p:cond delay="45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450"/>
                                        <p:tgtEl>
                                          <p:spTgt spid="29"/>
                                        </p:tgtEl>
                                      </p:cBhvr>
                                    </p:animEffect>
                                  </p:childTnLst>
                                </p:cTn>
                              </p:par>
                            </p:childTnLst>
                          </p:cTn>
                        </p:par>
                        <p:par>
                          <p:cTn id="12" fill="hold">
                            <p:stCondLst>
                              <p:cond delay="900"/>
                            </p:stCondLst>
                            <p:childTnLst>
                              <p:par>
                                <p:cTn id="13" presetID="22" presetClass="entr" presetSubtype="8"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450"/>
                                        <p:tgtEl>
                                          <p:spTgt spid="36"/>
                                        </p:tgtEl>
                                      </p:cBhvr>
                                    </p:animEffect>
                                  </p:childTnLst>
                                </p:cTn>
                              </p:par>
                            </p:childTnLst>
                          </p:cTn>
                        </p:par>
                        <p:par>
                          <p:cTn id="16" fill="hold">
                            <p:stCondLst>
                              <p:cond delay="1350"/>
                            </p:stCondLst>
                            <p:childTnLst>
                              <p:par>
                                <p:cTn id="17" presetID="22" presetClass="entr" presetSubtype="8"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ipe(left)">
                                      <p:cBhvr>
                                        <p:cTn id="19" dur="450"/>
                                        <p:tgtEl>
                                          <p:spTgt spid="44"/>
                                        </p:tgtEl>
                                      </p:cBhvr>
                                    </p:animEffect>
                                  </p:childTnLst>
                                </p:cTn>
                              </p:par>
                            </p:childTnLst>
                          </p:cTn>
                        </p:par>
                        <p:par>
                          <p:cTn id="20" fill="hold">
                            <p:stCondLst>
                              <p:cond delay="1800"/>
                            </p:stCondLst>
                            <p:childTnLst>
                              <p:par>
                                <p:cTn id="21" presetID="22" presetClass="entr" presetSubtype="8"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wipe(left)">
                                      <p:cBhvr>
                                        <p:cTn id="23" dur="450"/>
                                        <p:tgtEl>
                                          <p:spTgt spid="5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450"/>
                                        <p:tgtEl>
                                          <p:spTgt spid="5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450"/>
                                        <p:tgtEl>
                                          <p:spTgt spid="5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4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Livelock">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The AI's one weak spot: a livelock</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Result 3 of 6 (continued)  ·  Reward per trip: a normal trip scores just over 100</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Reward card"/>
          <p:cNvSpPr/>
          <p:nvPr/>
        </p:nvSpPr>
        <p:spPr>
          <a:xfrm>
            <a:off x="758952" y="1691640"/>
            <a:ext cx="4434840" cy="3566160"/>
          </a:xfrm>
          <a:prstGeom prst="roundRect">
            <a:avLst>
              <a:gd name="adj" fmla="val 2307"/>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7" name="Shape 7"/>
          <p:cNvSpPr txBox="1"/>
          <p:nvPr/>
        </p:nvSpPr>
        <p:spPr>
          <a:xfrm>
            <a:off x="1051560" y="1874520"/>
            <a:ext cx="3931920" cy="292608"/>
          </a:xfrm>
          <a:prstGeom prst="rect">
            <a:avLst/>
          </a:prstGeom>
          <a:noFill/>
          <a:ln>
            <a:noFill/>
          </a:ln>
        </p:spPr>
        <p:txBody>
          <a:bodyPr wrap="square" lIns="0" tIns="0" rIns="0" bIns="0" rtlCol="0" anchor="ctr">
            <a:noAutofit/>
          </a:bodyPr>
          <a:lstStyle/>
          <a:p>
            <a:pPr marL="0" indent="0" algn="l">
              <a:buNone/>
            </a:pPr>
            <a:r>
              <a:rPr lang="en-US" sz="1300" b="1" dirty="0">
                <a:solidFill>
                  <a:srgbClr val="66788A"/>
                </a:solidFill>
                <a:latin typeface="Tahoma"/>
                <a:ea typeface="Tahoma"/>
                <a:cs typeface="Tahoma"/>
              </a:rPr>
              <a:t>4 of 5 seed groups</a:t>
            </a:r>
            <a:endParaRPr lang="en-US" sz="1300" dirty="0"/>
          </a:p>
        </p:txBody>
      </p:sp>
      <p:sp>
        <p:nvSpPr>
          <p:cNvPr id="8" name="Shape 8"/>
          <p:cNvSpPr txBox="1"/>
          <p:nvPr/>
        </p:nvSpPr>
        <p:spPr>
          <a:xfrm>
            <a:off x="1051560" y="2194560"/>
            <a:ext cx="3931920" cy="685800"/>
          </a:xfrm>
          <a:prstGeom prst="rect">
            <a:avLst/>
          </a:prstGeom>
          <a:noFill/>
          <a:ln>
            <a:noFill/>
          </a:ln>
        </p:spPr>
        <p:txBody>
          <a:bodyPr wrap="square" lIns="0" tIns="0" rIns="0" bIns="0" rtlCol="0" anchor="ctr">
            <a:noAutofit/>
          </a:bodyPr>
          <a:lstStyle/>
          <a:p>
            <a:pPr marL="0" indent="0" algn="l">
              <a:buNone/>
            </a:pPr>
            <a:r>
              <a:rPr lang="en-US" sz="3400" b="1" dirty="0">
                <a:solidFill>
                  <a:srgbClr val="003E82"/>
                </a:solidFill>
                <a:latin typeface="Tahoma"/>
                <a:ea typeface="Tahoma"/>
                <a:cs typeface="Tahoma"/>
              </a:rPr>
              <a:t>101.4 – 102.2</a:t>
            </a:r>
            <a:endParaRPr lang="en-US" sz="3400" dirty="0"/>
          </a:p>
        </p:txBody>
      </p:sp>
      <p:sp>
        <p:nvSpPr>
          <p:cNvPr id="9" name="Shape 9"/>
          <p:cNvSpPr txBox="1"/>
          <p:nvPr/>
        </p:nvSpPr>
        <p:spPr>
          <a:xfrm>
            <a:off x="1051560" y="2852928"/>
            <a:ext cx="3931920" cy="274320"/>
          </a:xfrm>
          <a:prstGeom prst="rect">
            <a:avLst/>
          </a:prstGeom>
          <a:noFill/>
          <a:ln>
            <a:noFill/>
          </a:ln>
        </p:spPr>
        <p:txBody>
          <a:bodyPr wrap="square" lIns="0" tIns="0" rIns="0" bIns="0" rtlCol="0" anchor="ctr">
            <a:noAutofit/>
          </a:bodyPr>
          <a:lstStyle/>
          <a:p>
            <a:pPr marL="0" indent="0" algn="l">
              <a:buNone/>
            </a:pPr>
            <a:r>
              <a:rPr lang="en-US" sz="1200" dirty="0">
                <a:solidFill>
                  <a:srgbClr val="44546A"/>
                </a:solidFill>
                <a:latin typeface="Tahoma"/>
                <a:ea typeface="Tahoma"/>
                <a:cs typeface="Tahoma"/>
              </a:rPr>
              <a:t>average reward, at every damage level</a:t>
            </a:r>
            <a:endParaRPr lang="en-US" sz="1200" dirty="0"/>
          </a:p>
        </p:txBody>
      </p:sp>
      <p:grpSp>
        <p:nvGrpSpPr>
          <p:cNvPr id="10" name="Fourth group"/>
          <p:cNvGrpSpPr/>
          <p:nvPr/>
        </p:nvGrpSpPr>
        <p:grpSpPr>
          <a:xfrm>
            <a:off x="1051560" y="3383280"/>
            <a:ext cx="3931920" cy="1618488"/>
            <a:chOff x="1051560" y="3383280"/>
            <a:chExt cx="3931920" cy="1618488"/>
          </a:xfrm>
        </p:grpSpPr>
        <p:cxnSp>
          <p:nvCxnSpPr>
            <p:cNvPr id="11" name="Line 11"/>
            <p:cNvCxnSpPr/>
            <p:nvPr/>
          </p:nvCxnSpPr>
          <p:spPr>
            <a:xfrm>
              <a:off x="1051560" y="3383280"/>
              <a:ext cx="3840480" cy="0"/>
            </a:xfrm>
            <a:prstGeom prst="line">
              <a:avLst/>
            </a:prstGeom>
            <a:ln w="12700">
              <a:solidFill>
                <a:srgbClr val="D3EAF6"/>
              </a:solidFill>
            </a:ln>
          </p:spPr>
        </p:cxnSp>
        <p:sp>
          <p:nvSpPr>
            <p:cNvPr id="12" name="Shape 12"/>
            <p:cNvSpPr txBox="1"/>
            <p:nvPr/>
          </p:nvSpPr>
          <p:spPr>
            <a:xfrm>
              <a:off x="1051560" y="3520440"/>
              <a:ext cx="3931920" cy="292608"/>
            </a:xfrm>
            <a:prstGeom prst="rect">
              <a:avLst/>
            </a:prstGeom>
            <a:noFill/>
            <a:ln>
              <a:noFill/>
            </a:ln>
          </p:spPr>
          <p:txBody>
            <a:bodyPr wrap="square" lIns="0" tIns="0" rIns="0" bIns="0" rtlCol="0" anchor="ctr">
              <a:noAutofit/>
            </a:bodyPr>
            <a:lstStyle/>
            <a:p>
              <a:pPr marL="0" indent="0" algn="l">
                <a:buNone/>
              </a:pPr>
              <a:r>
                <a:rPr lang="en-US" sz="1300" b="1" dirty="0">
                  <a:solidFill>
                    <a:srgbClr val="66788A"/>
                  </a:solidFill>
                  <a:latin typeface="Tahoma"/>
                  <a:ea typeface="Tahoma"/>
                  <a:cs typeface="Tahoma"/>
                </a:rPr>
                <a:t>The 4th seed group</a:t>
              </a:r>
              <a:endParaRPr lang="en-US" sz="1300" dirty="0"/>
            </a:p>
          </p:txBody>
        </p:sp>
        <p:sp>
          <p:nvSpPr>
            <p:cNvPr id="13" name="Shape 13"/>
            <p:cNvSpPr txBox="1"/>
            <p:nvPr/>
          </p:nvSpPr>
          <p:spPr>
            <a:xfrm>
              <a:off x="1051560" y="3840480"/>
              <a:ext cx="3931920" cy="685800"/>
            </a:xfrm>
            <a:prstGeom prst="rect">
              <a:avLst/>
            </a:prstGeom>
            <a:noFill/>
            <a:ln>
              <a:noFill/>
            </a:ln>
          </p:spPr>
          <p:txBody>
            <a:bodyPr wrap="square" lIns="0" tIns="0" rIns="0" bIns="0" rtlCol="0" anchor="ctr">
              <a:noAutofit/>
            </a:bodyPr>
            <a:lstStyle/>
            <a:p>
              <a:pPr marL="0" indent="0" algn="l">
                <a:buNone/>
              </a:pPr>
              <a:r>
                <a:rPr lang="en-US" sz="3400" b="1" dirty="0">
                  <a:solidFill>
                    <a:srgbClr val="D64545"/>
                  </a:solidFill>
                  <a:latin typeface="Tahoma"/>
                  <a:ea typeface="Tahoma"/>
                  <a:cs typeface="Tahoma"/>
                </a:rPr>
                <a:t>≈17  ·  ≈23</a:t>
              </a:r>
              <a:endParaRPr lang="en-US" sz="3400" dirty="0"/>
            </a:p>
          </p:txBody>
        </p:sp>
        <p:sp>
          <p:nvSpPr>
            <p:cNvPr id="14" name="Shape 14"/>
            <p:cNvSpPr txBox="1"/>
            <p:nvPr/>
          </p:nvSpPr>
          <p:spPr>
            <a:xfrm>
              <a:off x="1051560" y="4498848"/>
              <a:ext cx="3931920" cy="502920"/>
            </a:xfrm>
            <a:prstGeom prst="rect">
              <a:avLst/>
            </a:prstGeom>
            <a:noFill/>
            <a:ln>
              <a:noFill/>
            </a:ln>
          </p:spPr>
          <p:txBody>
            <a:bodyPr wrap="square" lIns="0" tIns="0" rIns="0" bIns="0" rtlCol="0" anchor="ctr">
              <a:noAutofit/>
            </a:bodyPr>
            <a:lstStyle/>
            <a:p>
              <a:pPr marL="0" indent="0" algn="l">
                <a:buNone/>
              </a:pPr>
              <a:r>
                <a:rPr lang="en-US" sz="1200" dirty="0">
                  <a:solidFill>
                    <a:srgbClr val="44546A"/>
                  </a:solidFill>
                  <a:latin typeface="Tahoma"/>
                  <a:ea typeface="Tahoma"/>
                  <a:cs typeface="Tahoma"/>
                </a:rPr>
                <a:t>intact to heavy  ·  severe and extreme</a:t>
              </a:r>
              <a:endParaRPr lang="en-US" sz="1200" dirty="0"/>
            </a:p>
          </p:txBody>
        </p:sp>
      </p:grpSp>
      <p:grpSp>
        <p:nvGrpSpPr>
          <p:cNvPr id="15" name="Loop"/>
          <p:cNvGrpSpPr/>
          <p:nvPr/>
        </p:nvGrpSpPr>
        <p:grpSpPr>
          <a:xfrm>
            <a:off x="5486400" y="1691640"/>
            <a:ext cx="5943600" cy="3566160"/>
            <a:chOff x="5486400" y="1691640"/>
            <a:chExt cx="5943600" cy="3566160"/>
          </a:xfrm>
        </p:grpSpPr>
        <p:sp>
          <p:nvSpPr>
            <p:cNvPr id="16" name="Shape 16"/>
            <p:cNvSpPr/>
            <p:nvPr/>
          </p:nvSpPr>
          <p:spPr>
            <a:xfrm>
              <a:off x="5486400" y="1691640"/>
              <a:ext cx="5943600" cy="3566160"/>
            </a:xfrm>
            <a:prstGeom prst="roundRect">
              <a:avLst>
                <a:gd name="adj" fmla="val 2307"/>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7" name="Shape 17"/>
            <p:cNvSpPr txBox="1"/>
            <p:nvPr/>
          </p:nvSpPr>
          <p:spPr>
            <a:xfrm>
              <a:off x="5715000" y="1828800"/>
              <a:ext cx="5486400" cy="292608"/>
            </a:xfrm>
            <a:prstGeom prst="rect">
              <a:avLst/>
            </a:prstGeom>
            <a:noFill/>
            <a:ln>
              <a:noFill/>
            </a:ln>
          </p:spPr>
          <p:txBody>
            <a:bodyPr wrap="square" lIns="0" tIns="0" rIns="0" bIns="0" rtlCol="0" anchor="ctr">
              <a:noAutofit/>
            </a:bodyPr>
            <a:lstStyle/>
            <a:p>
              <a:pPr marL="0" indent="0" algn="l">
                <a:buNone/>
              </a:pPr>
              <a:r>
                <a:rPr lang="en-US" sz="1300" b="1" dirty="0">
                  <a:solidFill>
                    <a:srgbClr val="66788A"/>
                  </a:solidFill>
                  <a:latin typeface="Tahoma"/>
                  <a:ea typeface="Tahoma"/>
                  <a:cs typeface="Tahoma"/>
                </a:rPr>
                <a:t>The stuck loop</a:t>
              </a:r>
              <a:endParaRPr lang="en-US" sz="1300" dirty="0"/>
            </a:p>
          </p:txBody>
        </p:sp>
        <p:sp>
          <p:nvSpPr>
            <p:cNvPr id="18" name="Shape 18"/>
            <p:cNvSpPr/>
            <p:nvPr/>
          </p:nvSpPr>
          <p:spPr>
            <a:xfrm>
              <a:off x="5760720" y="2514600"/>
              <a:ext cx="1874520" cy="777240"/>
            </a:xfrm>
            <a:prstGeom prst="roundRect">
              <a:avLst>
                <a:gd name="adj" fmla="val 14000"/>
              </a:avLst>
            </a:prstGeom>
            <a:solidFill>
              <a:srgbClr val="F2F8FC"/>
            </a:solidFill>
            <a:ln w="12700">
              <a:solidFill>
                <a:srgbClr val="D3EAF6"/>
              </a:solidFill>
            </a:ln>
          </p:spPr>
          <p:txBody>
            <a:bodyPr wrap="square" lIns="0" tIns="0" rIns="0" bIns="0" rtlCol="0" anchor="ctr">
              <a:noAutofit/>
            </a:bodyPr>
            <a:lstStyle/>
            <a:p>
              <a:pPr marL="0" indent="0" algn="ctr">
                <a:lnSpc>
                  <a:spcPct val="100000"/>
                </a:lnSpc>
                <a:buNone/>
              </a:pPr>
              <a:r>
                <a:rPr lang="en-US" sz="1250" b="1" dirty="0">
                  <a:solidFill>
                    <a:srgbClr val="08325F"/>
                  </a:solidFill>
                  <a:latin typeface="Tahoma"/>
                  <a:ea typeface="Tahoma"/>
                  <a:cs typeface="Tahoma"/>
                </a:rPr>
                <a:t>Picks neighbour</a:t>
              </a:r>
              <a:br>
                <a:rPr lang="en-US" sz="1250" b="1" dirty="0">
                  <a:solidFill>
                    <a:srgbClr val="08325F"/>
                  </a:solidFill>
                  <a:latin typeface="Tahoma"/>
                  <a:ea typeface="Tahoma"/>
                  <a:cs typeface="Tahoma"/>
                </a:rPr>
              </a:br>
              <a:r>
                <a:rPr lang="en-US" sz="1250" b="1" dirty="0">
                  <a:solidFill>
                    <a:srgbClr val="08325F"/>
                  </a:solidFill>
                  <a:latin typeface="Tahoma"/>
                  <a:ea typeface="Tahoma"/>
                  <a:cs typeface="Tahoma"/>
                </a:rPr>
                <a:t>slot 0 again</a:t>
              </a:r>
              <a:endParaRPr lang="en-US" sz="1250" dirty="0"/>
            </a:p>
          </p:txBody>
        </p:sp>
        <p:sp>
          <p:nvSpPr>
            <p:cNvPr id="19" name="Shape 19"/>
            <p:cNvSpPr/>
            <p:nvPr/>
          </p:nvSpPr>
          <p:spPr>
            <a:xfrm>
              <a:off x="9281160" y="2514600"/>
              <a:ext cx="1874520" cy="777240"/>
            </a:xfrm>
            <a:prstGeom prst="roundRect">
              <a:avLst>
                <a:gd name="adj" fmla="val 14000"/>
              </a:avLst>
            </a:prstGeom>
            <a:solidFill>
              <a:srgbClr val="F2F8FC"/>
            </a:solidFill>
            <a:ln w="12700">
              <a:solidFill>
                <a:srgbClr val="D3EAF6"/>
              </a:solidFill>
            </a:ln>
          </p:spPr>
          <p:txBody>
            <a:bodyPr wrap="square" lIns="0" tIns="0" rIns="0" bIns="0" rtlCol="0" anchor="ctr">
              <a:noAutofit/>
            </a:bodyPr>
            <a:lstStyle/>
            <a:p>
              <a:pPr marL="0" indent="0" algn="ctr">
                <a:lnSpc>
                  <a:spcPct val="100000"/>
                </a:lnSpc>
                <a:buNone/>
              </a:pPr>
              <a:r>
                <a:rPr lang="en-US" sz="1250" b="1" dirty="0">
                  <a:solidFill>
                    <a:srgbClr val="08325F"/>
                  </a:solidFill>
                  <a:latin typeface="Tahoma"/>
                  <a:ea typeface="Tahoma"/>
                  <a:cs typeface="Tahoma"/>
                </a:rPr>
                <a:t>It has died:</a:t>
              </a:r>
              <a:br>
                <a:rPr lang="en-US" sz="1250" b="1" dirty="0">
                  <a:solidFill>
                    <a:srgbClr val="08325F"/>
                  </a:solidFill>
                  <a:latin typeface="Tahoma"/>
                  <a:ea typeface="Tahoma"/>
                  <a:cs typeface="Tahoma"/>
                </a:rPr>
              </a:br>
              <a:r>
                <a:rPr lang="en-US" sz="1250" b="1" dirty="0">
                  <a:solidFill>
                    <a:srgbClr val="08325F"/>
                  </a:solidFill>
                  <a:latin typeface="Tahoma"/>
                  <a:ea typeface="Tahoma"/>
                  <a:cs typeface="Tahoma"/>
                </a:rPr>
                <a:t>rejected, −20</a:t>
              </a:r>
              <a:endParaRPr lang="en-US" sz="1250" dirty="0"/>
            </a:p>
          </p:txBody>
        </p:sp>
        <p:sp>
          <p:nvSpPr>
            <p:cNvPr id="20" name="Shape 20"/>
            <p:cNvSpPr/>
            <p:nvPr/>
          </p:nvSpPr>
          <p:spPr>
            <a:xfrm>
              <a:off x="7516368" y="3931920"/>
              <a:ext cx="1874520" cy="777240"/>
            </a:xfrm>
            <a:prstGeom prst="roundRect">
              <a:avLst>
                <a:gd name="adj" fmla="val 14000"/>
              </a:avLst>
            </a:prstGeom>
            <a:solidFill>
              <a:srgbClr val="F2F8FC"/>
            </a:solidFill>
            <a:ln w="12700">
              <a:solidFill>
                <a:srgbClr val="D3EAF6"/>
              </a:solidFill>
            </a:ln>
          </p:spPr>
          <p:txBody>
            <a:bodyPr wrap="square" lIns="0" tIns="0" rIns="0" bIns="0" rtlCol="0" anchor="ctr">
              <a:noAutofit/>
            </a:bodyPr>
            <a:lstStyle/>
            <a:p>
              <a:pPr marL="0" indent="0" algn="ctr">
                <a:lnSpc>
                  <a:spcPct val="100000"/>
                </a:lnSpc>
                <a:buNone/>
              </a:pPr>
              <a:r>
                <a:rPr lang="en-US" sz="1250" b="1" dirty="0">
                  <a:solidFill>
                    <a:srgbClr val="08325F"/>
                  </a:solidFill>
                  <a:latin typeface="Tahoma"/>
                  <a:ea typeface="Tahoma"/>
                  <a:cs typeface="Tahoma"/>
                </a:rPr>
                <a:t>Next view looks</a:t>
              </a:r>
              <a:br>
                <a:rPr lang="en-US" sz="1250" b="1" dirty="0">
                  <a:solidFill>
                    <a:srgbClr val="08325F"/>
                  </a:solidFill>
                  <a:latin typeface="Tahoma"/>
                  <a:ea typeface="Tahoma"/>
                  <a:cs typeface="Tahoma"/>
                </a:rPr>
              </a:br>
              <a:r>
                <a:rPr lang="en-US" sz="1250" b="1" dirty="0">
                  <a:solidFill>
                    <a:srgbClr val="08325F"/>
                  </a:solidFill>
                  <a:latin typeface="Tahoma"/>
                  <a:ea typeface="Tahoma"/>
                  <a:cs typeface="Tahoma"/>
                </a:rPr>
                <a:t>almost the same</a:t>
              </a:r>
              <a:endParaRPr lang="en-US" sz="1250" dirty="0"/>
            </a:p>
          </p:txBody>
        </p:sp>
      </p:grpSp>
      <p:sp>
        <p:nvSpPr>
          <p:cNvPr id="21" name="Loop arrow"/>
          <p:cNvSpPr/>
          <p:nvPr/>
        </p:nvSpPr>
        <p:spPr>
          <a:xfrm>
            <a:off x="7818120" y="2240280"/>
            <a:ext cx="1280160" cy="1280160"/>
          </a:xfrm>
          <a:prstGeom prst="circularArrow">
            <a:avLst>
              <a:gd name="adj1" fmla="val 12500"/>
              <a:gd name="adj2" fmla="val 1142319"/>
              <a:gd name="adj3" fmla="val 16200000"/>
              <a:gd name="adj4" fmla="val 0"/>
              <a:gd name="adj5" fmla="val 12500"/>
            </a:avLst>
          </a:prstGeom>
          <a:solidFill>
            <a:srgbClr val="EB6834"/>
          </a:solidFill>
          <a:ln>
            <a:noFill/>
          </a:ln>
        </p:spPr>
      </p:sp>
      <p:grpSp>
        <p:nvGrpSpPr>
          <p:cNvPr id="22" name="Cause"/>
          <p:cNvGrpSpPr/>
          <p:nvPr/>
        </p:nvGrpSpPr>
        <p:grpSpPr>
          <a:xfrm>
            <a:off x="5715000" y="4754880"/>
            <a:ext cx="5486400" cy="365760"/>
            <a:chOff x="5715000" y="4754880"/>
            <a:chExt cx="5486400" cy="365760"/>
          </a:xfrm>
        </p:grpSpPr>
        <p:sp>
          <p:nvSpPr>
            <p:cNvPr id="23" name="Shape 23"/>
            <p:cNvSpPr txBox="1"/>
            <p:nvPr/>
          </p:nvSpPr>
          <p:spPr>
            <a:xfrm>
              <a:off x="5715000" y="4754880"/>
              <a:ext cx="5486400" cy="365760"/>
            </a:xfrm>
            <a:prstGeom prst="rect">
              <a:avLst/>
            </a:prstGeom>
            <a:noFill/>
            <a:ln>
              <a:noFill/>
            </a:ln>
          </p:spPr>
          <p:txBody>
            <a:bodyPr wrap="square" lIns="0" tIns="0" rIns="0" bIns="0" rtlCol="0" anchor="ctr">
              <a:noAutofit/>
            </a:bodyPr>
            <a:lstStyle/>
            <a:p>
              <a:pPr marL="0" indent="0" algn="l">
                <a:buNone/>
              </a:pPr>
              <a:r>
                <a:rPr lang="en-US" sz="1250" b="1" dirty="0">
                  <a:solidFill>
                    <a:srgbClr val="B85700"/>
                  </a:solidFill>
                  <a:latin typeface="Tahoma"/>
                  <a:ea typeface="Tahoma"/>
                  <a:cs typeface="Tahoma"/>
                </a:rPr>
                <a:t>Cause: </a:t>
              </a:r>
              <a:r>
                <a:rPr lang="en-US" sz="1250" b="1" dirty="0">
                  <a:solidFill>
                    <a:srgbClr val="08325F"/>
                  </a:solidFill>
                  <a:latin typeface="Tahoma"/>
                  <a:ea typeface="Tahoma"/>
                  <a:cs typeface="Tahoma"/>
                </a:rPr>
                <a:t>a fixed list of 8 neighbours, where dead ones stay listed</a:t>
              </a:r>
              <a:endParaRPr lang="en-US" sz="1250" dirty="0"/>
            </a:p>
          </p:txBody>
        </p:sp>
      </p:grpSp>
      <p:sp>
        <p:nvSpPr>
          <p:cNvPr id="24" name="Every level"/>
          <p:cNvSpPr/>
          <p:nvPr/>
        </p:nvSpPr>
        <p:spPr>
          <a:xfrm>
            <a:off x="758952" y="5413248"/>
            <a:ext cx="4434840" cy="566928"/>
          </a:xfrm>
          <a:prstGeom prst="roundRect">
            <a:avLst>
              <a:gd name="adj" fmla="val 14516"/>
            </a:avLst>
          </a:prstGeom>
          <a:solidFill>
            <a:srgbClr val="EAF7FF"/>
          </a:solidFill>
          <a:ln w="12700">
            <a:solidFill>
              <a:srgbClr val="C7EAFE"/>
            </a:solidFill>
          </a:ln>
        </p:spPr>
        <p:txBody>
          <a:bodyPr wrap="square" lIns="182880" tIns="0" rIns="137160" bIns="0" rtlCol="0" anchor="ctr">
            <a:noAutofit/>
          </a:bodyPr>
          <a:lstStyle/>
          <a:p>
            <a:pPr marL="0" indent="0" algn="l">
              <a:lnSpc>
                <a:spcPct val="100000"/>
              </a:lnSpc>
              <a:buNone/>
            </a:pPr>
            <a:r>
              <a:rPr lang="en-US" sz="1200" b="1" dirty="0">
                <a:solidFill>
                  <a:srgbClr val="003E82"/>
                </a:solidFill>
                <a:latin typeface="Tahoma"/>
                <a:ea typeface="Tahoma"/>
                <a:cs typeface="Tahoma"/>
              </a:rPr>
              <a:t>Same group at every level, even intact: a design issue, not damage</a:t>
            </a:r>
            <a:endParaRPr lang="en-US" sz="1200" dirty="0"/>
          </a:p>
        </p:txBody>
      </p:sp>
      <p:sp>
        <p:nvSpPr>
          <p:cNvPr id="25" name="Sweep takeaway"/>
          <p:cNvSpPr/>
          <p:nvPr/>
        </p:nvSpPr>
        <p:spPr>
          <a:xfrm>
            <a:off x="5486400" y="5413248"/>
            <a:ext cx="5943600" cy="566928"/>
          </a:xfrm>
          <a:prstGeom prst="roundRect">
            <a:avLst>
              <a:gd name="adj" fmla="val 14516"/>
            </a:avLst>
          </a:prstGeom>
          <a:solidFill>
            <a:srgbClr val="003E82"/>
          </a:solidFill>
          <a:ln w="12700">
            <a:solidFill>
              <a:srgbClr val="003E82"/>
            </a:solidFill>
          </a:ln>
          <a:effectLst>
            <a:outerShdw blurRad="76200" dist="19050" dir="5400000" algn="t" rotWithShape="0">
              <a:srgbClr val="0A2E5C">
                <a:alpha val="13000"/>
              </a:srgbClr>
            </a:outerShdw>
          </a:effectLst>
        </p:spPr>
        <p:txBody>
          <a:bodyPr wrap="square" lIns="182880" tIns="0" rIns="137160" bIns="0" rtlCol="0" anchor="ctr">
            <a:noAutofit/>
          </a:bodyPr>
          <a:lstStyle/>
          <a:p>
            <a:pPr marL="0" indent="0" algn="l">
              <a:lnSpc>
                <a:spcPct val="100000"/>
              </a:lnSpc>
              <a:buNone/>
            </a:pPr>
            <a:r>
              <a:rPr lang="en-US" sz="1150" b="1" dirty="0">
                <a:solidFill>
                  <a:srgbClr val="FFFFFF"/>
                </a:solidFill>
                <a:latin typeface="Tahoma"/>
                <a:ea typeface="Tahoma"/>
                <a:cs typeface="Tahoma"/>
              </a:rPr>
              <a:t>Damage weakens long links but doesn't stop trips: the sweep compares route-finders under rising stress</a:t>
            </a:r>
            <a:endParaRPr lang="en-US" sz="1150" dirty="0"/>
          </a:p>
        </p:txBody>
      </p:sp>
      <p:cxnSp>
        <p:nvCxnSpPr>
          <p:cNvPr id="26" name="Footer rule"/>
          <p:cNvCxnSpPr/>
          <p:nvPr/>
        </p:nvCxnSpPr>
        <p:spPr>
          <a:xfrm>
            <a:off x="502920" y="6199632"/>
            <a:ext cx="11155680" cy="0"/>
          </a:xfrm>
          <a:prstGeom prst="line">
            <a:avLst/>
          </a:prstGeom>
          <a:ln w="12700">
            <a:solidFill>
              <a:srgbClr val="003E82">
                <a:alpha val="25000"/>
              </a:srgbClr>
            </a:solidFill>
          </a:ln>
        </p:spPr>
      </p:cxnSp>
      <p:pic>
        <p:nvPicPr>
          <p:cNvPr id="27"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28"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29"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18</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50"/>
                                        <p:tgtEl>
                                          <p:spTgt spid="21"/>
                                        </p:tgtEl>
                                      </p:cBhvr>
                                    </p:animEffect>
                                  </p:childTnLst>
                                </p:cTn>
                              </p:par>
                            </p:childTnLst>
                          </p:cTn>
                        </p:par>
                        <p:par>
                          <p:cTn id="16" fill="hold">
                            <p:stCondLst>
                              <p:cond delay="450"/>
                            </p:stCondLst>
                            <p:childTnLst>
                              <p:par>
                                <p:cTn id="17" presetID="8" presetClass="emph" presetSubtype="0" repeatCount="2000" fill="hold" grpId="1" nodeType="afterEffect">
                                  <p:stCondLst>
                                    <p:cond delay="0"/>
                                  </p:stCondLst>
                                  <p:childTnLst>
                                    <p:animRot by="21600000">
                                      <p:cBhvr>
                                        <p:cTn id="18" dur="1400" fill="hold"/>
                                        <p:tgtEl>
                                          <p:spTgt spid="21"/>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50"/>
                                        <p:tgtEl>
                                          <p:spTgt spid="22"/>
                                        </p:tgtEl>
                                      </p:cBhvr>
                                    </p:animEffect>
                                  </p:childTnLst>
                                </p:cTn>
                              </p:par>
                              <p:par>
                                <p:cTn id="24" presetID="10" presetClass="entr" presetSubtype="0" fill="hold" grpId="0" nodeType="withEffect">
                                  <p:stCondLst>
                                    <p:cond delay="20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5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4" grpId="0" animBg="1"/>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Result 4">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A faster simulator for RL training</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Result 4 of 6  ·  Time-stepped backend vs our own SimPy reference, collisions on</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Lanes card"/>
          <p:cNvSpPr/>
          <p:nvPr/>
        </p:nvSpPr>
        <p:spPr>
          <a:xfrm>
            <a:off x="758952" y="1691640"/>
            <a:ext cx="6400800" cy="4206240"/>
          </a:xfrm>
          <a:prstGeom prst="roundRect">
            <a:avLst>
              <a:gd name="adj" fmla="val 1956"/>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7" name="Shape 7"/>
          <p:cNvSpPr txBox="1"/>
          <p:nvPr/>
        </p:nvSpPr>
        <p:spPr>
          <a:xfrm>
            <a:off x="1005840" y="1828800"/>
            <a:ext cx="5943600" cy="329184"/>
          </a:xfrm>
          <a:prstGeom prst="rect">
            <a:avLst/>
          </a:prstGeom>
          <a:noFill/>
          <a:ln>
            <a:noFill/>
          </a:ln>
        </p:spPr>
        <p:txBody>
          <a:bodyPr wrap="square" lIns="0" tIns="0" rIns="0" bIns="0" rtlCol="0" anchor="ctr">
            <a:noAutofit/>
          </a:bodyPr>
          <a:lstStyle/>
          <a:p>
            <a:pPr marL="0" indent="0" algn="l">
              <a:buNone/>
            </a:pPr>
            <a:r>
              <a:rPr lang="en-US" sz="1350" b="1" dirty="0">
                <a:solidFill>
                  <a:srgbClr val="08325F"/>
                </a:solidFill>
                <a:latin typeface="Tahoma"/>
                <a:ea typeface="Tahoma"/>
                <a:cs typeface="Tahoma"/>
              </a:rPr>
              <a:t>Reference (SimPy): one transmission event at a time</a:t>
            </a:r>
            <a:endParaRPr lang="en-US" sz="1350" dirty="0"/>
          </a:p>
        </p:txBody>
      </p:sp>
      <p:sp>
        <p:nvSpPr>
          <p:cNvPr id="8" name="Shape 8"/>
          <p:cNvSpPr txBox="1"/>
          <p:nvPr/>
        </p:nvSpPr>
        <p:spPr>
          <a:xfrm>
            <a:off x="1005840" y="3657600"/>
            <a:ext cx="5943600" cy="329184"/>
          </a:xfrm>
          <a:prstGeom prst="rect">
            <a:avLst/>
          </a:prstGeom>
          <a:noFill/>
          <a:ln>
            <a:noFill/>
          </a:ln>
        </p:spPr>
        <p:txBody>
          <a:bodyPr wrap="square" lIns="0" tIns="0" rIns="0" bIns="0" rtlCol="0" anchor="ctr">
            <a:noAutofit/>
          </a:bodyPr>
          <a:lstStyle/>
          <a:p>
            <a:pPr marL="0" indent="0" algn="l">
              <a:buNone/>
            </a:pPr>
            <a:r>
              <a:rPr lang="en-US" sz="1350" b="1" dirty="0">
                <a:solidFill>
                  <a:srgbClr val="08325F"/>
                </a:solidFill>
                <a:latin typeface="Tahoma"/>
                <a:ea typeface="Tahoma"/>
                <a:cs typeface="Tahoma"/>
              </a:rPr>
              <a:t>Time-stepped: every radio moves forward together</a:t>
            </a:r>
            <a:endParaRPr lang="en-US" sz="1350" dirty="0"/>
          </a:p>
        </p:txBody>
      </p:sp>
      <p:sp>
        <p:nvSpPr>
          <p:cNvPr id="9" name="Event 00"/>
          <p:cNvSpPr/>
          <p:nvPr/>
        </p:nvSpPr>
        <p:spPr>
          <a:xfrm>
            <a:off x="1143000" y="2331720"/>
            <a:ext cx="292608" cy="292608"/>
          </a:xfrm>
          <a:prstGeom prst="roundRect">
            <a:avLst>
              <a:gd name="adj" fmla="val 16000"/>
            </a:avLst>
          </a:prstGeom>
          <a:solidFill>
            <a:srgbClr val="9AA8B3"/>
          </a:solidFill>
          <a:ln>
            <a:noFill/>
          </a:ln>
        </p:spPr>
      </p:sp>
      <p:sp>
        <p:nvSpPr>
          <p:cNvPr id="10" name="Event 01"/>
          <p:cNvSpPr/>
          <p:nvPr/>
        </p:nvSpPr>
        <p:spPr>
          <a:xfrm>
            <a:off x="1545336" y="2331720"/>
            <a:ext cx="292608" cy="292608"/>
          </a:xfrm>
          <a:prstGeom prst="roundRect">
            <a:avLst>
              <a:gd name="adj" fmla="val 16000"/>
            </a:avLst>
          </a:prstGeom>
          <a:solidFill>
            <a:srgbClr val="9AA8B3"/>
          </a:solidFill>
          <a:ln>
            <a:noFill/>
          </a:ln>
        </p:spPr>
      </p:sp>
      <p:sp>
        <p:nvSpPr>
          <p:cNvPr id="11" name="Event 02"/>
          <p:cNvSpPr/>
          <p:nvPr/>
        </p:nvSpPr>
        <p:spPr>
          <a:xfrm>
            <a:off x="1947672" y="2331720"/>
            <a:ext cx="292608" cy="292608"/>
          </a:xfrm>
          <a:prstGeom prst="roundRect">
            <a:avLst>
              <a:gd name="adj" fmla="val 16000"/>
            </a:avLst>
          </a:prstGeom>
          <a:solidFill>
            <a:srgbClr val="9AA8B3"/>
          </a:solidFill>
          <a:ln>
            <a:noFill/>
          </a:ln>
        </p:spPr>
      </p:sp>
      <p:sp>
        <p:nvSpPr>
          <p:cNvPr id="12" name="Event 03"/>
          <p:cNvSpPr/>
          <p:nvPr/>
        </p:nvSpPr>
        <p:spPr>
          <a:xfrm>
            <a:off x="2350008" y="2331720"/>
            <a:ext cx="292608" cy="292608"/>
          </a:xfrm>
          <a:prstGeom prst="roundRect">
            <a:avLst>
              <a:gd name="adj" fmla="val 16000"/>
            </a:avLst>
          </a:prstGeom>
          <a:solidFill>
            <a:srgbClr val="9AA8B3"/>
          </a:solidFill>
          <a:ln>
            <a:noFill/>
          </a:ln>
        </p:spPr>
      </p:sp>
      <p:sp>
        <p:nvSpPr>
          <p:cNvPr id="13" name="Event 04"/>
          <p:cNvSpPr/>
          <p:nvPr/>
        </p:nvSpPr>
        <p:spPr>
          <a:xfrm>
            <a:off x="2752344" y="2331720"/>
            <a:ext cx="292608" cy="292608"/>
          </a:xfrm>
          <a:prstGeom prst="roundRect">
            <a:avLst>
              <a:gd name="adj" fmla="val 16000"/>
            </a:avLst>
          </a:prstGeom>
          <a:solidFill>
            <a:srgbClr val="9AA8B3"/>
          </a:solidFill>
          <a:ln>
            <a:noFill/>
          </a:ln>
        </p:spPr>
      </p:sp>
      <p:sp>
        <p:nvSpPr>
          <p:cNvPr id="14" name="Event 05"/>
          <p:cNvSpPr/>
          <p:nvPr/>
        </p:nvSpPr>
        <p:spPr>
          <a:xfrm>
            <a:off x="3154680" y="2331720"/>
            <a:ext cx="292608" cy="292608"/>
          </a:xfrm>
          <a:prstGeom prst="roundRect">
            <a:avLst>
              <a:gd name="adj" fmla="val 16000"/>
            </a:avLst>
          </a:prstGeom>
          <a:solidFill>
            <a:srgbClr val="9AA8B3"/>
          </a:solidFill>
          <a:ln>
            <a:noFill/>
          </a:ln>
        </p:spPr>
      </p:sp>
      <p:sp>
        <p:nvSpPr>
          <p:cNvPr id="15" name="Event 06"/>
          <p:cNvSpPr/>
          <p:nvPr/>
        </p:nvSpPr>
        <p:spPr>
          <a:xfrm>
            <a:off x="3557016" y="2331720"/>
            <a:ext cx="292608" cy="292608"/>
          </a:xfrm>
          <a:prstGeom prst="roundRect">
            <a:avLst>
              <a:gd name="adj" fmla="val 16000"/>
            </a:avLst>
          </a:prstGeom>
          <a:solidFill>
            <a:srgbClr val="9AA8B3"/>
          </a:solidFill>
          <a:ln>
            <a:noFill/>
          </a:ln>
        </p:spPr>
      </p:sp>
      <p:sp>
        <p:nvSpPr>
          <p:cNvPr id="16" name="Event 07"/>
          <p:cNvSpPr/>
          <p:nvPr/>
        </p:nvSpPr>
        <p:spPr>
          <a:xfrm>
            <a:off x="3959352" y="2331720"/>
            <a:ext cx="292608" cy="292608"/>
          </a:xfrm>
          <a:prstGeom prst="roundRect">
            <a:avLst>
              <a:gd name="adj" fmla="val 16000"/>
            </a:avLst>
          </a:prstGeom>
          <a:solidFill>
            <a:srgbClr val="9AA8B3"/>
          </a:solidFill>
          <a:ln>
            <a:noFill/>
          </a:ln>
        </p:spPr>
      </p:sp>
      <p:sp>
        <p:nvSpPr>
          <p:cNvPr id="17" name="Event 10"/>
          <p:cNvSpPr/>
          <p:nvPr/>
        </p:nvSpPr>
        <p:spPr>
          <a:xfrm>
            <a:off x="1143000" y="2734056"/>
            <a:ext cx="292608" cy="292608"/>
          </a:xfrm>
          <a:prstGeom prst="roundRect">
            <a:avLst>
              <a:gd name="adj" fmla="val 16000"/>
            </a:avLst>
          </a:prstGeom>
          <a:solidFill>
            <a:srgbClr val="9AA8B3"/>
          </a:solidFill>
          <a:ln>
            <a:noFill/>
          </a:ln>
        </p:spPr>
      </p:sp>
      <p:sp>
        <p:nvSpPr>
          <p:cNvPr id="18" name="Event 11"/>
          <p:cNvSpPr/>
          <p:nvPr/>
        </p:nvSpPr>
        <p:spPr>
          <a:xfrm>
            <a:off x="1545336" y="2734056"/>
            <a:ext cx="292608" cy="292608"/>
          </a:xfrm>
          <a:prstGeom prst="roundRect">
            <a:avLst>
              <a:gd name="adj" fmla="val 16000"/>
            </a:avLst>
          </a:prstGeom>
          <a:solidFill>
            <a:srgbClr val="9AA8B3"/>
          </a:solidFill>
          <a:ln>
            <a:noFill/>
          </a:ln>
        </p:spPr>
      </p:sp>
      <p:sp>
        <p:nvSpPr>
          <p:cNvPr id="19" name="Event 12"/>
          <p:cNvSpPr/>
          <p:nvPr/>
        </p:nvSpPr>
        <p:spPr>
          <a:xfrm>
            <a:off x="1947672" y="2734056"/>
            <a:ext cx="292608" cy="292608"/>
          </a:xfrm>
          <a:prstGeom prst="roundRect">
            <a:avLst>
              <a:gd name="adj" fmla="val 16000"/>
            </a:avLst>
          </a:prstGeom>
          <a:solidFill>
            <a:srgbClr val="9AA8B3"/>
          </a:solidFill>
          <a:ln>
            <a:noFill/>
          </a:ln>
        </p:spPr>
      </p:sp>
      <p:sp>
        <p:nvSpPr>
          <p:cNvPr id="20" name="Event 13"/>
          <p:cNvSpPr/>
          <p:nvPr/>
        </p:nvSpPr>
        <p:spPr>
          <a:xfrm>
            <a:off x="2350008" y="2734056"/>
            <a:ext cx="292608" cy="292608"/>
          </a:xfrm>
          <a:prstGeom prst="roundRect">
            <a:avLst>
              <a:gd name="adj" fmla="val 16000"/>
            </a:avLst>
          </a:prstGeom>
          <a:solidFill>
            <a:srgbClr val="9AA8B3"/>
          </a:solidFill>
          <a:ln>
            <a:noFill/>
          </a:ln>
        </p:spPr>
      </p:sp>
      <p:sp>
        <p:nvSpPr>
          <p:cNvPr id="21" name="Event 14"/>
          <p:cNvSpPr/>
          <p:nvPr/>
        </p:nvSpPr>
        <p:spPr>
          <a:xfrm>
            <a:off x="2752344" y="2734056"/>
            <a:ext cx="292608" cy="292608"/>
          </a:xfrm>
          <a:prstGeom prst="roundRect">
            <a:avLst>
              <a:gd name="adj" fmla="val 16000"/>
            </a:avLst>
          </a:prstGeom>
          <a:solidFill>
            <a:srgbClr val="9AA8B3"/>
          </a:solidFill>
          <a:ln>
            <a:noFill/>
          </a:ln>
        </p:spPr>
      </p:sp>
      <p:sp>
        <p:nvSpPr>
          <p:cNvPr id="22" name="Event 15"/>
          <p:cNvSpPr/>
          <p:nvPr/>
        </p:nvSpPr>
        <p:spPr>
          <a:xfrm>
            <a:off x="3154680" y="2734056"/>
            <a:ext cx="292608" cy="292608"/>
          </a:xfrm>
          <a:prstGeom prst="roundRect">
            <a:avLst>
              <a:gd name="adj" fmla="val 16000"/>
            </a:avLst>
          </a:prstGeom>
          <a:solidFill>
            <a:srgbClr val="9AA8B3"/>
          </a:solidFill>
          <a:ln>
            <a:noFill/>
          </a:ln>
        </p:spPr>
      </p:sp>
      <p:sp>
        <p:nvSpPr>
          <p:cNvPr id="23" name="Event 16"/>
          <p:cNvSpPr/>
          <p:nvPr/>
        </p:nvSpPr>
        <p:spPr>
          <a:xfrm>
            <a:off x="3557016" y="2734056"/>
            <a:ext cx="292608" cy="292608"/>
          </a:xfrm>
          <a:prstGeom prst="roundRect">
            <a:avLst>
              <a:gd name="adj" fmla="val 16000"/>
            </a:avLst>
          </a:prstGeom>
          <a:solidFill>
            <a:srgbClr val="9AA8B3"/>
          </a:solidFill>
          <a:ln>
            <a:noFill/>
          </a:ln>
        </p:spPr>
      </p:sp>
      <p:sp>
        <p:nvSpPr>
          <p:cNvPr id="24" name="Event 17"/>
          <p:cNvSpPr/>
          <p:nvPr/>
        </p:nvSpPr>
        <p:spPr>
          <a:xfrm>
            <a:off x="3959352" y="2734056"/>
            <a:ext cx="292608" cy="292608"/>
          </a:xfrm>
          <a:prstGeom prst="roundRect">
            <a:avLst>
              <a:gd name="adj" fmla="val 16000"/>
            </a:avLst>
          </a:prstGeom>
          <a:solidFill>
            <a:srgbClr val="9AA8B3"/>
          </a:solidFill>
          <a:ln>
            <a:noFill/>
          </a:ln>
        </p:spPr>
      </p:sp>
      <p:sp>
        <p:nvSpPr>
          <p:cNvPr id="25" name="Event 20"/>
          <p:cNvSpPr/>
          <p:nvPr/>
        </p:nvSpPr>
        <p:spPr>
          <a:xfrm>
            <a:off x="1143000" y="3136392"/>
            <a:ext cx="292608" cy="292608"/>
          </a:xfrm>
          <a:prstGeom prst="roundRect">
            <a:avLst>
              <a:gd name="adj" fmla="val 16000"/>
            </a:avLst>
          </a:prstGeom>
          <a:solidFill>
            <a:srgbClr val="9AA8B3"/>
          </a:solidFill>
          <a:ln>
            <a:noFill/>
          </a:ln>
        </p:spPr>
      </p:sp>
      <p:sp>
        <p:nvSpPr>
          <p:cNvPr id="26" name="Event 21"/>
          <p:cNvSpPr/>
          <p:nvPr/>
        </p:nvSpPr>
        <p:spPr>
          <a:xfrm>
            <a:off x="1545336" y="3136392"/>
            <a:ext cx="292608" cy="292608"/>
          </a:xfrm>
          <a:prstGeom prst="roundRect">
            <a:avLst>
              <a:gd name="adj" fmla="val 16000"/>
            </a:avLst>
          </a:prstGeom>
          <a:solidFill>
            <a:srgbClr val="9AA8B3"/>
          </a:solidFill>
          <a:ln>
            <a:noFill/>
          </a:ln>
        </p:spPr>
      </p:sp>
      <p:sp>
        <p:nvSpPr>
          <p:cNvPr id="27" name="Event 22"/>
          <p:cNvSpPr/>
          <p:nvPr/>
        </p:nvSpPr>
        <p:spPr>
          <a:xfrm>
            <a:off x="1947672" y="3136392"/>
            <a:ext cx="292608" cy="292608"/>
          </a:xfrm>
          <a:prstGeom prst="roundRect">
            <a:avLst>
              <a:gd name="adj" fmla="val 16000"/>
            </a:avLst>
          </a:prstGeom>
          <a:solidFill>
            <a:srgbClr val="9AA8B3"/>
          </a:solidFill>
          <a:ln>
            <a:noFill/>
          </a:ln>
        </p:spPr>
      </p:sp>
      <p:sp>
        <p:nvSpPr>
          <p:cNvPr id="28" name="Event 23"/>
          <p:cNvSpPr/>
          <p:nvPr/>
        </p:nvSpPr>
        <p:spPr>
          <a:xfrm>
            <a:off x="2350008" y="3136392"/>
            <a:ext cx="292608" cy="292608"/>
          </a:xfrm>
          <a:prstGeom prst="roundRect">
            <a:avLst>
              <a:gd name="adj" fmla="val 16000"/>
            </a:avLst>
          </a:prstGeom>
          <a:solidFill>
            <a:srgbClr val="9AA8B3"/>
          </a:solidFill>
          <a:ln>
            <a:noFill/>
          </a:ln>
        </p:spPr>
      </p:sp>
      <p:sp>
        <p:nvSpPr>
          <p:cNvPr id="29" name="Event 24"/>
          <p:cNvSpPr/>
          <p:nvPr/>
        </p:nvSpPr>
        <p:spPr>
          <a:xfrm>
            <a:off x="2752344" y="3136392"/>
            <a:ext cx="292608" cy="292608"/>
          </a:xfrm>
          <a:prstGeom prst="roundRect">
            <a:avLst>
              <a:gd name="adj" fmla="val 16000"/>
            </a:avLst>
          </a:prstGeom>
          <a:solidFill>
            <a:srgbClr val="9AA8B3"/>
          </a:solidFill>
          <a:ln>
            <a:noFill/>
          </a:ln>
        </p:spPr>
      </p:sp>
      <p:sp>
        <p:nvSpPr>
          <p:cNvPr id="30" name="Event 25"/>
          <p:cNvSpPr/>
          <p:nvPr/>
        </p:nvSpPr>
        <p:spPr>
          <a:xfrm>
            <a:off x="3154680" y="3136392"/>
            <a:ext cx="292608" cy="292608"/>
          </a:xfrm>
          <a:prstGeom prst="roundRect">
            <a:avLst>
              <a:gd name="adj" fmla="val 16000"/>
            </a:avLst>
          </a:prstGeom>
          <a:solidFill>
            <a:srgbClr val="9AA8B3"/>
          </a:solidFill>
          <a:ln>
            <a:noFill/>
          </a:ln>
        </p:spPr>
      </p:sp>
      <p:sp>
        <p:nvSpPr>
          <p:cNvPr id="31" name="Event 26"/>
          <p:cNvSpPr/>
          <p:nvPr/>
        </p:nvSpPr>
        <p:spPr>
          <a:xfrm>
            <a:off x="3557016" y="3136392"/>
            <a:ext cx="292608" cy="292608"/>
          </a:xfrm>
          <a:prstGeom prst="roundRect">
            <a:avLst>
              <a:gd name="adj" fmla="val 16000"/>
            </a:avLst>
          </a:prstGeom>
          <a:solidFill>
            <a:srgbClr val="9AA8B3"/>
          </a:solidFill>
          <a:ln>
            <a:noFill/>
          </a:ln>
        </p:spPr>
      </p:sp>
      <p:sp>
        <p:nvSpPr>
          <p:cNvPr id="32" name="Event 27"/>
          <p:cNvSpPr/>
          <p:nvPr/>
        </p:nvSpPr>
        <p:spPr>
          <a:xfrm>
            <a:off x="3959352" y="3136392"/>
            <a:ext cx="292608" cy="292608"/>
          </a:xfrm>
          <a:prstGeom prst="roundRect">
            <a:avLst>
              <a:gd name="adj" fmla="val 16000"/>
            </a:avLst>
          </a:prstGeom>
          <a:solidFill>
            <a:srgbClr val="9AA8B3"/>
          </a:solidFill>
          <a:ln>
            <a:noFill/>
          </a:ln>
        </p:spPr>
      </p:sp>
      <p:grpSp>
        <p:nvGrpSpPr>
          <p:cNvPr id="33" name="Step column 1"/>
          <p:cNvGrpSpPr/>
          <p:nvPr/>
        </p:nvGrpSpPr>
        <p:grpSpPr>
          <a:xfrm>
            <a:off x="1143000" y="4160520"/>
            <a:ext cx="292608" cy="1097280"/>
            <a:chOff x="1143000" y="4160520"/>
            <a:chExt cx="292608" cy="1097280"/>
          </a:xfrm>
        </p:grpSpPr>
        <p:sp>
          <p:nvSpPr>
            <p:cNvPr id="34" name="Shape 34"/>
            <p:cNvSpPr/>
            <p:nvPr/>
          </p:nvSpPr>
          <p:spPr>
            <a:xfrm>
              <a:off x="1143000" y="4160520"/>
              <a:ext cx="292608" cy="292608"/>
            </a:xfrm>
            <a:prstGeom prst="roundRect">
              <a:avLst>
                <a:gd name="adj" fmla="val 16000"/>
              </a:avLst>
            </a:prstGeom>
            <a:solidFill>
              <a:srgbClr val="2A78D6"/>
            </a:solidFill>
            <a:ln>
              <a:noFill/>
            </a:ln>
          </p:spPr>
        </p:sp>
        <p:sp>
          <p:nvSpPr>
            <p:cNvPr id="35" name="Shape 35"/>
            <p:cNvSpPr/>
            <p:nvPr/>
          </p:nvSpPr>
          <p:spPr>
            <a:xfrm>
              <a:off x="1143000" y="4562856"/>
              <a:ext cx="292608" cy="292608"/>
            </a:xfrm>
            <a:prstGeom prst="roundRect">
              <a:avLst>
                <a:gd name="adj" fmla="val 16000"/>
              </a:avLst>
            </a:prstGeom>
            <a:solidFill>
              <a:srgbClr val="2A78D6"/>
            </a:solidFill>
            <a:ln>
              <a:noFill/>
            </a:ln>
          </p:spPr>
        </p:sp>
        <p:sp>
          <p:nvSpPr>
            <p:cNvPr id="36" name="Shape 36"/>
            <p:cNvSpPr/>
            <p:nvPr/>
          </p:nvSpPr>
          <p:spPr>
            <a:xfrm>
              <a:off x="1143000" y="4965192"/>
              <a:ext cx="292608" cy="292608"/>
            </a:xfrm>
            <a:prstGeom prst="roundRect">
              <a:avLst>
                <a:gd name="adj" fmla="val 16000"/>
              </a:avLst>
            </a:prstGeom>
            <a:solidFill>
              <a:srgbClr val="2A78D6"/>
            </a:solidFill>
            <a:ln>
              <a:noFill/>
            </a:ln>
          </p:spPr>
        </p:sp>
      </p:grpSp>
      <p:grpSp>
        <p:nvGrpSpPr>
          <p:cNvPr id="37" name="Step column 2"/>
          <p:cNvGrpSpPr/>
          <p:nvPr/>
        </p:nvGrpSpPr>
        <p:grpSpPr>
          <a:xfrm>
            <a:off x="1545336" y="4160520"/>
            <a:ext cx="292608" cy="1097280"/>
            <a:chOff x="1545336" y="4160520"/>
            <a:chExt cx="292608" cy="1097280"/>
          </a:xfrm>
        </p:grpSpPr>
        <p:sp>
          <p:nvSpPr>
            <p:cNvPr id="38" name="Shape 38"/>
            <p:cNvSpPr/>
            <p:nvPr/>
          </p:nvSpPr>
          <p:spPr>
            <a:xfrm>
              <a:off x="1545336" y="4160520"/>
              <a:ext cx="292608" cy="292608"/>
            </a:xfrm>
            <a:prstGeom prst="roundRect">
              <a:avLst>
                <a:gd name="adj" fmla="val 16000"/>
              </a:avLst>
            </a:prstGeom>
            <a:solidFill>
              <a:srgbClr val="2A78D6"/>
            </a:solidFill>
            <a:ln>
              <a:noFill/>
            </a:ln>
          </p:spPr>
        </p:sp>
        <p:sp>
          <p:nvSpPr>
            <p:cNvPr id="39" name="Shape 39"/>
            <p:cNvSpPr/>
            <p:nvPr/>
          </p:nvSpPr>
          <p:spPr>
            <a:xfrm>
              <a:off x="1545336" y="4562856"/>
              <a:ext cx="292608" cy="292608"/>
            </a:xfrm>
            <a:prstGeom prst="roundRect">
              <a:avLst>
                <a:gd name="adj" fmla="val 16000"/>
              </a:avLst>
            </a:prstGeom>
            <a:solidFill>
              <a:srgbClr val="2A78D6"/>
            </a:solidFill>
            <a:ln>
              <a:noFill/>
            </a:ln>
          </p:spPr>
        </p:sp>
        <p:sp>
          <p:nvSpPr>
            <p:cNvPr id="40" name="Shape 40"/>
            <p:cNvSpPr/>
            <p:nvPr/>
          </p:nvSpPr>
          <p:spPr>
            <a:xfrm>
              <a:off x="1545336" y="4965192"/>
              <a:ext cx="292608" cy="292608"/>
            </a:xfrm>
            <a:prstGeom prst="roundRect">
              <a:avLst>
                <a:gd name="adj" fmla="val 16000"/>
              </a:avLst>
            </a:prstGeom>
            <a:solidFill>
              <a:srgbClr val="2A78D6"/>
            </a:solidFill>
            <a:ln>
              <a:noFill/>
            </a:ln>
          </p:spPr>
        </p:sp>
      </p:grpSp>
      <p:grpSp>
        <p:nvGrpSpPr>
          <p:cNvPr id="41" name="Step column 3"/>
          <p:cNvGrpSpPr/>
          <p:nvPr/>
        </p:nvGrpSpPr>
        <p:grpSpPr>
          <a:xfrm>
            <a:off x="1947672" y="4160520"/>
            <a:ext cx="292608" cy="1097280"/>
            <a:chOff x="1947672" y="4160520"/>
            <a:chExt cx="292608" cy="1097280"/>
          </a:xfrm>
        </p:grpSpPr>
        <p:sp>
          <p:nvSpPr>
            <p:cNvPr id="42" name="Shape 42"/>
            <p:cNvSpPr/>
            <p:nvPr/>
          </p:nvSpPr>
          <p:spPr>
            <a:xfrm>
              <a:off x="1947672" y="4160520"/>
              <a:ext cx="292608" cy="292608"/>
            </a:xfrm>
            <a:prstGeom prst="roundRect">
              <a:avLst>
                <a:gd name="adj" fmla="val 16000"/>
              </a:avLst>
            </a:prstGeom>
            <a:solidFill>
              <a:srgbClr val="2A78D6"/>
            </a:solidFill>
            <a:ln>
              <a:noFill/>
            </a:ln>
          </p:spPr>
        </p:sp>
        <p:sp>
          <p:nvSpPr>
            <p:cNvPr id="43" name="Shape 43"/>
            <p:cNvSpPr/>
            <p:nvPr/>
          </p:nvSpPr>
          <p:spPr>
            <a:xfrm>
              <a:off x="1947672" y="4562856"/>
              <a:ext cx="292608" cy="292608"/>
            </a:xfrm>
            <a:prstGeom prst="roundRect">
              <a:avLst>
                <a:gd name="adj" fmla="val 16000"/>
              </a:avLst>
            </a:prstGeom>
            <a:solidFill>
              <a:srgbClr val="2A78D6"/>
            </a:solidFill>
            <a:ln>
              <a:noFill/>
            </a:ln>
          </p:spPr>
        </p:sp>
        <p:sp>
          <p:nvSpPr>
            <p:cNvPr id="44" name="Shape 44"/>
            <p:cNvSpPr/>
            <p:nvPr/>
          </p:nvSpPr>
          <p:spPr>
            <a:xfrm>
              <a:off x="1947672" y="4965192"/>
              <a:ext cx="292608" cy="292608"/>
            </a:xfrm>
            <a:prstGeom prst="roundRect">
              <a:avLst>
                <a:gd name="adj" fmla="val 16000"/>
              </a:avLst>
            </a:prstGeom>
            <a:solidFill>
              <a:srgbClr val="2A78D6"/>
            </a:solidFill>
            <a:ln>
              <a:noFill/>
            </a:ln>
          </p:spPr>
        </p:sp>
      </p:grpSp>
      <p:grpSp>
        <p:nvGrpSpPr>
          <p:cNvPr id="45" name="Step column 4"/>
          <p:cNvGrpSpPr/>
          <p:nvPr/>
        </p:nvGrpSpPr>
        <p:grpSpPr>
          <a:xfrm>
            <a:off x="2350008" y="4160520"/>
            <a:ext cx="292608" cy="1097280"/>
            <a:chOff x="2350008" y="4160520"/>
            <a:chExt cx="292608" cy="1097280"/>
          </a:xfrm>
        </p:grpSpPr>
        <p:sp>
          <p:nvSpPr>
            <p:cNvPr id="46" name="Shape 46"/>
            <p:cNvSpPr/>
            <p:nvPr/>
          </p:nvSpPr>
          <p:spPr>
            <a:xfrm>
              <a:off x="2350008" y="4160520"/>
              <a:ext cx="292608" cy="292608"/>
            </a:xfrm>
            <a:prstGeom prst="roundRect">
              <a:avLst>
                <a:gd name="adj" fmla="val 16000"/>
              </a:avLst>
            </a:prstGeom>
            <a:solidFill>
              <a:srgbClr val="2A78D6"/>
            </a:solidFill>
            <a:ln>
              <a:noFill/>
            </a:ln>
          </p:spPr>
        </p:sp>
        <p:sp>
          <p:nvSpPr>
            <p:cNvPr id="47" name="Shape 47"/>
            <p:cNvSpPr/>
            <p:nvPr/>
          </p:nvSpPr>
          <p:spPr>
            <a:xfrm>
              <a:off x="2350008" y="4562856"/>
              <a:ext cx="292608" cy="292608"/>
            </a:xfrm>
            <a:prstGeom prst="roundRect">
              <a:avLst>
                <a:gd name="adj" fmla="val 16000"/>
              </a:avLst>
            </a:prstGeom>
            <a:solidFill>
              <a:srgbClr val="2A78D6"/>
            </a:solidFill>
            <a:ln>
              <a:noFill/>
            </a:ln>
          </p:spPr>
        </p:sp>
        <p:sp>
          <p:nvSpPr>
            <p:cNvPr id="48" name="Shape 48"/>
            <p:cNvSpPr/>
            <p:nvPr/>
          </p:nvSpPr>
          <p:spPr>
            <a:xfrm>
              <a:off x="2350008" y="4965192"/>
              <a:ext cx="292608" cy="292608"/>
            </a:xfrm>
            <a:prstGeom prst="roundRect">
              <a:avLst>
                <a:gd name="adj" fmla="val 16000"/>
              </a:avLst>
            </a:prstGeom>
            <a:solidFill>
              <a:srgbClr val="2A78D6"/>
            </a:solidFill>
            <a:ln>
              <a:noFill/>
            </a:ln>
          </p:spPr>
        </p:sp>
      </p:grpSp>
      <p:grpSp>
        <p:nvGrpSpPr>
          <p:cNvPr id="49" name="Step column 5"/>
          <p:cNvGrpSpPr/>
          <p:nvPr/>
        </p:nvGrpSpPr>
        <p:grpSpPr>
          <a:xfrm>
            <a:off x="2752344" y="4160520"/>
            <a:ext cx="292608" cy="1097280"/>
            <a:chOff x="2752344" y="4160520"/>
            <a:chExt cx="292608" cy="1097280"/>
          </a:xfrm>
        </p:grpSpPr>
        <p:sp>
          <p:nvSpPr>
            <p:cNvPr id="50" name="Shape 50"/>
            <p:cNvSpPr/>
            <p:nvPr/>
          </p:nvSpPr>
          <p:spPr>
            <a:xfrm>
              <a:off x="2752344" y="4160520"/>
              <a:ext cx="292608" cy="292608"/>
            </a:xfrm>
            <a:prstGeom prst="roundRect">
              <a:avLst>
                <a:gd name="adj" fmla="val 16000"/>
              </a:avLst>
            </a:prstGeom>
            <a:solidFill>
              <a:srgbClr val="2A78D6"/>
            </a:solidFill>
            <a:ln>
              <a:noFill/>
            </a:ln>
          </p:spPr>
        </p:sp>
        <p:sp>
          <p:nvSpPr>
            <p:cNvPr id="51" name="Shape 51"/>
            <p:cNvSpPr/>
            <p:nvPr/>
          </p:nvSpPr>
          <p:spPr>
            <a:xfrm>
              <a:off x="2752344" y="4562856"/>
              <a:ext cx="292608" cy="292608"/>
            </a:xfrm>
            <a:prstGeom prst="roundRect">
              <a:avLst>
                <a:gd name="adj" fmla="val 16000"/>
              </a:avLst>
            </a:prstGeom>
            <a:solidFill>
              <a:srgbClr val="2A78D6"/>
            </a:solidFill>
            <a:ln>
              <a:noFill/>
            </a:ln>
          </p:spPr>
        </p:sp>
        <p:sp>
          <p:nvSpPr>
            <p:cNvPr id="52" name="Shape 52"/>
            <p:cNvSpPr/>
            <p:nvPr/>
          </p:nvSpPr>
          <p:spPr>
            <a:xfrm>
              <a:off x="2752344" y="4965192"/>
              <a:ext cx="292608" cy="292608"/>
            </a:xfrm>
            <a:prstGeom prst="roundRect">
              <a:avLst>
                <a:gd name="adj" fmla="val 16000"/>
              </a:avLst>
            </a:prstGeom>
            <a:solidFill>
              <a:srgbClr val="2A78D6"/>
            </a:solidFill>
            <a:ln>
              <a:noFill/>
            </a:ln>
          </p:spPr>
        </p:sp>
      </p:grpSp>
      <p:grpSp>
        <p:nvGrpSpPr>
          <p:cNvPr id="53" name="Step column 6"/>
          <p:cNvGrpSpPr/>
          <p:nvPr/>
        </p:nvGrpSpPr>
        <p:grpSpPr>
          <a:xfrm>
            <a:off x="3154680" y="4160520"/>
            <a:ext cx="292608" cy="1097280"/>
            <a:chOff x="3154680" y="4160520"/>
            <a:chExt cx="292608" cy="1097280"/>
          </a:xfrm>
        </p:grpSpPr>
        <p:sp>
          <p:nvSpPr>
            <p:cNvPr id="54" name="Shape 54"/>
            <p:cNvSpPr/>
            <p:nvPr/>
          </p:nvSpPr>
          <p:spPr>
            <a:xfrm>
              <a:off x="3154680" y="4160520"/>
              <a:ext cx="292608" cy="292608"/>
            </a:xfrm>
            <a:prstGeom prst="roundRect">
              <a:avLst>
                <a:gd name="adj" fmla="val 16000"/>
              </a:avLst>
            </a:prstGeom>
            <a:solidFill>
              <a:srgbClr val="2A78D6"/>
            </a:solidFill>
            <a:ln>
              <a:noFill/>
            </a:ln>
          </p:spPr>
        </p:sp>
        <p:sp>
          <p:nvSpPr>
            <p:cNvPr id="55" name="Shape 55"/>
            <p:cNvSpPr/>
            <p:nvPr/>
          </p:nvSpPr>
          <p:spPr>
            <a:xfrm>
              <a:off x="3154680" y="4562856"/>
              <a:ext cx="292608" cy="292608"/>
            </a:xfrm>
            <a:prstGeom prst="roundRect">
              <a:avLst>
                <a:gd name="adj" fmla="val 16000"/>
              </a:avLst>
            </a:prstGeom>
            <a:solidFill>
              <a:srgbClr val="2A78D6"/>
            </a:solidFill>
            <a:ln>
              <a:noFill/>
            </a:ln>
          </p:spPr>
        </p:sp>
        <p:sp>
          <p:nvSpPr>
            <p:cNvPr id="56" name="Shape 56"/>
            <p:cNvSpPr/>
            <p:nvPr/>
          </p:nvSpPr>
          <p:spPr>
            <a:xfrm>
              <a:off x="3154680" y="4965192"/>
              <a:ext cx="292608" cy="292608"/>
            </a:xfrm>
            <a:prstGeom prst="roundRect">
              <a:avLst>
                <a:gd name="adj" fmla="val 16000"/>
              </a:avLst>
            </a:prstGeom>
            <a:solidFill>
              <a:srgbClr val="2A78D6"/>
            </a:solidFill>
            <a:ln>
              <a:noFill/>
            </a:ln>
          </p:spPr>
        </p:sp>
      </p:grpSp>
      <p:grpSp>
        <p:nvGrpSpPr>
          <p:cNvPr id="57" name="Step column 7"/>
          <p:cNvGrpSpPr/>
          <p:nvPr/>
        </p:nvGrpSpPr>
        <p:grpSpPr>
          <a:xfrm>
            <a:off x="3557016" y="4160520"/>
            <a:ext cx="292608" cy="1097280"/>
            <a:chOff x="3557016" y="4160520"/>
            <a:chExt cx="292608" cy="1097280"/>
          </a:xfrm>
        </p:grpSpPr>
        <p:sp>
          <p:nvSpPr>
            <p:cNvPr id="58" name="Shape 58"/>
            <p:cNvSpPr/>
            <p:nvPr/>
          </p:nvSpPr>
          <p:spPr>
            <a:xfrm>
              <a:off x="3557016" y="4160520"/>
              <a:ext cx="292608" cy="292608"/>
            </a:xfrm>
            <a:prstGeom prst="roundRect">
              <a:avLst>
                <a:gd name="adj" fmla="val 16000"/>
              </a:avLst>
            </a:prstGeom>
            <a:solidFill>
              <a:srgbClr val="2A78D6"/>
            </a:solidFill>
            <a:ln>
              <a:noFill/>
            </a:ln>
          </p:spPr>
        </p:sp>
        <p:sp>
          <p:nvSpPr>
            <p:cNvPr id="59" name="Shape 59"/>
            <p:cNvSpPr/>
            <p:nvPr/>
          </p:nvSpPr>
          <p:spPr>
            <a:xfrm>
              <a:off x="3557016" y="4562856"/>
              <a:ext cx="292608" cy="292608"/>
            </a:xfrm>
            <a:prstGeom prst="roundRect">
              <a:avLst>
                <a:gd name="adj" fmla="val 16000"/>
              </a:avLst>
            </a:prstGeom>
            <a:solidFill>
              <a:srgbClr val="2A78D6"/>
            </a:solidFill>
            <a:ln>
              <a:noFill/>
            </a:ln>
          </p:spPr>
        </p:sp>
        <p:sp>
          <p:nvSpPr>
            <p:cNvPr id="60" name="Shape 60"/>
            <p:cNvSpPr/>
            <p:nvPr/>
          </p:nvSpPr>
          <p:spPr>
            <a:xfrm>
              <a:off x="3557016" y="4965192"/>
              <a:ext cx="292608" cy="292608"/>
            </a:xfrm>
            <a:prstGeom prst="roundRect">
              <a:avLst>
                <a:gd name="adj" fmla="val 16000"/>
              </a:avLst>
            </a:prstGeom>
            <a:solidFill>
              <a:srgbClr val="2A78D6"/>
            </a:solidFill>
            <a:ln>
              <a:noFill/>
            </a:ln>
          </p:spPr>
        </p:sp>
      </p:grpSp>
      <p:grpSp>
        <p:nvGrpSpPr>
          <p:cNvPr id="61" name="Step column 8"/>
          <p:cNvGrpSpPr/>
          <p:nvPr/>
        </p:nvGrpSpPr>
        <p:grpSpPr>
          <a:xfrm>
            <a:off x="3959352" y="4160520"/>
            <a:ext cx="292608" cy="1097280"/>
            <a:chOff x="3959352" y="4160520"/>
            <a:chExt cx="292608" cy="1097280"/>
          </a:xfrm>
        </p:grpSpPr>
        <p:sp>
          <p:nvSpPr>
            <p:cNvPr id="62" name="Shape 62"/>
            <p:cNvSpPr/>
            <p:nvPr/>
          </p:nvSpPr>
          <p:spPr>
            <a:xfrm>
              <a:off x="3959352" y="4160520"/>
              <a:ext cx="292608" cy="292608"/>
            </a:xfrm>
            <a:prstGeom prst="roundRect">
              <a:avLst>
                <a:gd name="adj" fmla="val 16000"/>
              </a:avLst>
            </a:prstGeom>
            <a:solidFill>
              <a:srgbClr val="2A78D6"/>
            </a:solidFill>
            <a:ln>
              <a:noFill/>
            </a:ln>
          </p:spPr>
        </p:sp>
        <p:sp>
          <p:nvSpPr>
            <p:cNvPr id="63" name="Shape 63"/>
            <p:cNvSpPr/>
            <p:nvPr/>
          </p:nvSpPr>
          <p:spPr>
            <a:xfrm>
              <a:off x="3959352" y="4562856"/>
              <a:ext cx="292608" cy="292608"/>
            </a:xfrm>
            <a:prstGeom prst="roundRect">
              <a:avLst>
                <a:gd name="adj" fmla="val 16000"/>
              </a:avLst>
            </a:prstGeom>
            <a:solidFill>
              <a:srgbClr val="2A78D6"/>
            </a:solidFill>
            <a:ln>
              <a:noFill/>
            </a:ln>
          </p:spPr>
        </p:sp>
        <p:sp>
          <p:nvSpPr>
            <p:cNvPr id="64" name="Shape 64"/>
            <p:cNvSpPr/>
            <p:nvPr/>
          </p:nvSpPr>
          <p:spPr>
            <a:xfrm>
              <a:off x="3959352" y="4965192"/>
              <a:ext cx="292608" cy="292608"/>
            </a:xfrm>
            <a:prstGeom prst="roundRect">
              <a:avLst>
                <a:gd name="adj" fmla="val 16000"/>
              </a:avLst>
            </a:prstGeom>
            <a:solidFill>
              <a:srgbClr val="2A78D6"/>
            </a:solidFill>
            <a:ln>
              <a:noFill/>
            </a:ln>
          </p:spPr>
        </p:sp>
      </p:grpSp>
      <p:sp>
        <p:nvSpPr>
          <p:cNvPr id="65" name="Shape 65"/>
          <p:cNvSpPr txBox="1"/>
          <p:nvPr/>
        </p:nvSpPr>
        <p:spPr>
          <a:xfrm>
            <a:off x="4526280" y="2331720"/>
            <a:ext cx="2468880" cy="1097280"/>
          </a:xfrm>
          <a:prstGeom prst="rect">
            <a:avLst/>
          </a:prstGeom>
          <a:noFill/>
          <a:ln>
            <a:noFill/>
          </a:ln>
        </p:spPr>
        <p:txBody>
          <a:bodyPr wrap="square" lIns="0" tIns="0" rIns="0" bIns="0" rtlCol="0" anchor="ctr">
            <a:noAutofit/>
          </a:bodyPr>
          <a:lstStyle/>
          <a:p>
            <a:pPr marL="0" indent="0" algn="l">
              <a:lnSpc>
                <a:spcPct val="102000"/>
              </a:lnSpc>
              <a:buNone/>
            </a:pPr>
            <a:r>
              <a:rPr lang="en-US" sz="1200" dirty="0">
                <a:solidFill>
                  <a:srgbClr val="44546A"/>
                </a:solidFill>
                <a:latin typeface="Tahoma"/>
                <a:ea typeface="Tahoma"/>
                <a:cs typeface="Tahoma"/>
              </a:rPr>
              <a:t>Each event handled separately: accurate, but slow for AI training</a:t>
            </a:r>
            <a:endParaRPr lang="en-US" sz="1200" dirty="0"/>
          </a:p>
        </p:txBody>
      </p:sp>
      <p:sp>
        <p:nvSpPr>
          <p:cNvPr id="66" name="Shape 66"/>
          <p:cNvSpPr txBox="1"/>
          <p:nvPr/>
        </p:nvSpPr>
        <p:spPr>
          <a:xfrm>
            <a:off x="4526280" y="4160520"/>
            <a:ext cx="2468880" cy="1097280"/>
          </a:xfrm>
          <a:prstGeom prst="rect">
            <a:avLst/>
          </a:prstGeom>
          <a:noFill/>
          <a:ln>
            <a:noFill/>
          </a:ln>
        </p:spPr>
        <p:txBody>
          <a:bodyPr wrap="square" lIns="0" tIns="0" rIns="0" bIns="0" rtlCol="0" anchor="ctr">
            <a:noAutofit/>
          </a:bodyPr>
          <a:lstStyle/>
          <a:p>
            <a:pPr marL="0" indent="0" algn="l">
              <a:lnSpc>
                <a:spcPct val="102000"/>
              </a:lnSpc>
              <a:buNone/>
            </a:pPr>
            <a:r>
              <a:rPr lang="en-US" sz="1200" dirty="0">
                <a:solidFill>
                  <a:srgbClr val="44546A"/>
                </a:solidFill>
                <a:latin typeface="Tahoma"/>
                <a:ea typeface="Tahoma"/>
                <a:cs typeface="Tahoma"/>
              </a:rPr>
              <a:t>One shared time step for all radios, same models for links, failures and collisions</a:t>
            </a:r>
            <a:endParaRPr lang="en-US" sz="1200" dirty="0"/>
          </a:p>
        </p:txBody>
      </p:sp>
      <p:sp>
        <p:nvSpPr>
          <p:cNvPr id="67" name="Speed-up"/>
          <p:cNvSpPr/>
          <p:nvPr/>
        </p:nvSpPr>
        <p:spPr>
          <a:xfrm>
            <a:off x="7452360" y="1691640"/>
            <a:ext cx="3977640" cy="2331720"/>
          </a:xfrm>
          <a:prstGeom prst="roundRect">
            <a:avLst>
              <a:gd name="adj" fmla="val 3529"/>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28600" tIns="45720" rIns="182880" bIns="45720" rtlCol="0" anchor="ctr">
            <a:noAutofit/>
          </a:bodyPr>
          <a:lstStyle/>
          <a:p>
            <a:pPr marL="0" indent="0" algn="l">
              <a:lnSpc>
                <a:spcPct val="95000"/>
              </a:lnSpc>
              <a:buNone/>
            </a:pPr>
            <a:r>
              <a:rPr lang="en-US" sz="1400" dirty="0">
                <a:solidFill>
                  <a:srgbClr val="44546A"/>
                </a:solidFill>
                <a:latin typeface="Tahoma"/>
                <a:ea typeface="Tahoma"/>
                <a:cs typeface="Tahoma"/>
              </a:rPr>
              <a:t>up to</a:t>
            </a:r>
            <a:endParaRPr lang="en-US" sz="1400" dirty="0"/>
          </a:p>
          <a:p>
            <a:pPr marL="0" indent="0" algn="l">
              <a:lnSpc>
                <a:spcPct val="95000"/>
              </a:lnSpc>
              <a:buNone/>
            </a:pPr>
            <a:r>
              <a:rPr lang="en-US" sz="6400" b="1" dirty="0">
                <a:solidFill>
                  <a:srgbClr val="EB6834"/>
                </a:solidFill>
                <a:latin typeface="Tahoma"/>
                <a:ea typeface="Tahoma"/>
                <a:cs typeface="Tahoma"/>
              </a:rPr>
              <a:t>7.3×</a:t>
            </a:r>
            <a:endParaRPr lang="en-US" sz="6400" dirty="0"/>
          </a:p>
          <a:p>
            <a:pPr marL="0" indent="0" algn="l">
              <a:lnSpc>
                <a:spcPct val="95000"/>
              </a:lnSpc>
              <a:buNone/>
            </a:pPr>
            <a:r>
              <a:rPr lang="en-US" sz="1400" b="1" dirty="0">
                <a:solidFill>
                  <a:srgbClr val="08325F"/>
                </a:solidFill>
                <a:latin typeface="Tahoma"/>
                <a:ea typeface="Tahoma"/>
                <a:cs typeface="Tahoma"/>
              </a:rPr>
              <a:t>faster than our reference simulator</a:t>
            </a:r>
            <a:endParaRPr lang="en-US" sz="1400" dirty="0"/>
          </a:p>
        </p:txBody>
      </p:sp>
      <p:sp>
        <p:nvSpPr>
          <p:cNvPr id="68" name="Speed-up detail"/>
          <p:cNvSpPr/>
          <p:nvPr/>
        </p:nvSpPr>
        <p:spPr>
          <a:xfrm>
            <a:off x="7452360" y="4160520"/>
            <a:ext cx="3977640" cy="1737360"/>
          </a:xfrm>
          <a:prstGeom prst="roundRect">
            <a:avLst>
              <a:gd name="adj" fmla="val 4736"/>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28600" tIns="91440" rIns="182880" bIns="91440" rtlCol="0" anchor="ctr">
            <a:noAutofit/>
          </a:bodyPr>
          <a:lstStyle/>
          <a:p>
            <a:pPr marL="201168" indent="-201168" algn="l">
              <a:lnSpc>
                <a:spcPct val="102000"/>
              </a:lnSpc>
              <a:spcAft>
                <a:spcPts val="800"/>
              </a:spcAft>
              <a:buClr>
                <a:srgbClr val="FF9100"/>
              </a:buClr>
              <a:buSzPct val="100000"/>
              <a:buFont typeface="Arial"/>
              <a:buChar char="•"/>
            </a:pPr>
            <a:r>
              <a:rPr lang="en-US" sz="1350" dirty="0">
                <a:solidFill>
                  <a:srgbClr val="44546A"/>
                </a:solidFill>
                <a:latin typeface="Tahoma"/>
                <a:ea typeface="Tahoma"/>
                <a:cs typeface="Tahoma"/>
              </a:rPr>
              <a:t>≈4.7× at the 10×10 grid used for the main results</a:t>
            </a:r>
            <a:endParaRPr lang="en-US" sz="1350" dirty="0"/>
          </a:p>
          <a:p>
            <a:pPr marL="201168" indent="-201168" algn="l">
              <a:lnSpc>
                <a:spcPct val="102000"/>
              </a:lnSpc>
              <a:spcAft>
                <a:spcPts val="800"/>
              </a:spcAft>
              <a:buClr>
                <a:srgbClr val="FF9100"/>
              </a:buClr>
              <a:buSzPct val="100000"/>
              <a:buFont typeface="Arial"/>
              <a:buChar char="•"/>
            </a:pPr>
            <a:r>
              <a:rPr lang="en-US" sz="1350" dirty="0">
                <a:solidFill>
                  <a:srgbClr val="44546A"/>
                </a:solidFill>
                <a:latin typeface="Tahoma"/>
                <a:ea typeface="Tahoma"/>
                <a:cs typeface="Tahoma"/>
              </a:rPr>
              <a:t>Training needs 200,000 practice steps per run</a:t>
            </a:r>
            <a:endParaRPr lang="en-US" sz="1350" dirty="0"/>
          </a:p>
        </p:txBody>
      </p:sp>
      <p:cxnSp>
        <p:nvCxnSpPr>
          <p:cNvPr id="69" name="Footer rule"/>
          <p:cNvCxnSpPr/>
          <p:nvPr/>
        </p:nvCxnSpPr>
        <p:spPr>
          <a:xfrm>
            <a:off x="502920" y="6199632"/>
            <a:ext cx="11155680" cy="0"/>
          </a:xfrm>
          <a:prstGeom prst="line">
            <a:avLst/>
          </a:prstGeom>
          <a:ln w="12700">
            <a:solidFill>
              <a:srgbClr val="003E82">
                <a:alpha val="25000"/>
              </a:srgbClr>
            </a:solidFill>
          </a:ln>
        </p:spPr>
      </p:cxnSp>
      <p:pic>
        <p:nvPicPr>
          <p:cNvPr id="70"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71"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72"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19</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0"/>
                                        <p:tgtEl>
                                          <p:spTgt spid="9"/>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80"/>
                                        <p:tgtEl>
                                          <p:spTgt spid="17"/>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80"/>
                                        <p:tgtEl>
                                          <p:spTgt spid="25"/>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80"/>
                                        <p:tgtEl>
                                          <p:spTgt spid="10"/>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80"/>
                                        <p:tgtEl>
                                          <p:spTgt spid="18"/>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80"/>
                                        <p:tgtEl>
                                          <p:spTgt spid="26"/>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80"/>
                                        <p:tgtEl>
                                          <p:spTgt spid="11"/>
                                        </p:tgtEl>
                                      </p:cBhvr>
                                    </p:animEffect>
                                  </p:childTnLst>
                                </p:cTn>
                              </p:par>
                              <p:par>
                                <p:cTn id="26" presetID="10" presetClass="entr" presetSubtype="0" fill="hold" grpId="0" nodeType="withEffect">
                                  <p:stCondLst>
                                    <p:cond delay="70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80"/>
                                        <p:tgtEl>
                                          <p:spTgt spid="19"/>
                                        </p:tgtEl>
                                      </p:cBhvr>
                                    </p:animEffect>
                                  </p:childTnLst>
                                </p:cTn>
                              </p:par>
                              <p:par>
                                <p:cTn id="29" presetID="10" presetClass="entr" presetSubtype="0" fill="hold" grpId="0" nodeType="withEffect">
                                  <p:stCondLst>
                                    <p:cond delay="80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80"/>
                                        <p:tgtEl>
                                          <p:spTgt spid="27"/>
                                        </p:tgtEl>
                                      </p:cBhvr>
                                    </p:animEffect>
                                  </p:childTnLst>
                                </p:cTn>
                              </p:par>
                              <p:par>
                                <p:cTn id="32" presetID="10" presetClass="entr" presetSubtype="0" fill="hold" grpId="0" nodeType="withEffect">
                                  <p:stCondLst>
                                    <p:cond delay="90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80"/>
                                        <p:tgtEl>
                                          <p:spTgt spid="12"/>
                                        </p:tgtEl>
                                      </p:cBhvr>
                                    </p:animEffect>
                                  </p:childTnLst>
                                </p:cTn>
                              </p:par>
                              <p:par>
                                <p:cTn id="35" presetID="10" presetClass="entr" presetSubtype="0" fill="hold" grpId="0" nodeType="withEffect">
                                  <p:stCondLst>
                                    <p:cond delay="100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80"/>
                                        <p:tgtEl>
                                          <p:spTgt spid="20"/>
                                        </p:tgtEl>
                                      </p:cBhvr>
                                    </p:animEffect>
                                  </p:childTnLst>
                                </p:cTn>
                              </p:par>
                              <p:par>
                                <p:cTn id="38" presetID="10" presetClass="entr" presetSubtype="0" fill="hold" grpId="0" nodeType="withEffect">
                                  <p:stCondLst>
                                    <p:cond delay="110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80"/>
                                        <p:tgtEl>
                                          <p:spTgt spid="28"/>
                                        </p:tgtEl>
                                      </p:cBhvr>
                                    </p:animEffect>
                                  </p:childTnLst>
                                </p:cTn>
                              </p:par>
                              <p:par>
                                <p:cTn id="41" presetID="10" presetClass="entr" presetSubtype="0" fill="hold" grpId="0" nodeType="withEffect">
                                  <p:stCondLst>
                                    <p:cond delay="12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80"/>
                                        <p:tgtEl>
                                          <p:spTgt spid="13"/>
                                        </p:tgtEl>
                                      </p:cBhvr>
                                    </p:animEffect>
                                  </p:childTnLst>
                                </p:cTn>
                              </p:par>
                              <p:par>
                                <p:cTn id="44" presetID="10" presetClass="entr" presetSubtype="0" fill="hold" grpId="0" nodeType="withEffect">
                                  <p:stCondLst>
                                    <p:cond delay="130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80"/>
                                        <p:tgtEl>
                                          <p:spTgt spid="21"/>
                                        </p:tgtEl>
                                      </p:cBhvr>
                                    </p:animEffect>
                                  </p:childTnLst>
                                </p:cTn>
                              </p:par>
                              <p:par>
                                <p:cTn id="47" presetID="10" presetClass="entr" presetSubtype="0" fill="hold" grpId="0" nodeType="withEffect">
                                  <p:stCondLst>
                                    <p:cond delay="140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80"/>
                                        <p:tgtEl>
                                          <p:spTgt spid="29"/>
                                        </p:tgtEl>
                                      </p:cBhvr>
                                    </p:animEffect>
                                  </p:childTnLst>
                                </p:cTn>
                              </p:par>
                              <p:par>
                                <p:cTn id="50" presetID="10" presetClass="entr" presetSubtype="0" fill="hold" grpId="0" nodeType="withEffect">
                                  <p:stCondLst>
                                    <p:cond delay="150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80"/>
                                        <p:tgtEl>
                                          <p:spTgt spid="14"/>
                                        </p:tgtEl>
                                      </p:cBhvr>
                                    </p:animEffect>
                                  </p:childTnLst>
                                </p:cTn>
                              </p:par>
                              <p:par>
                                <p:cTn id="53" presetID="10" presetClass="entr" presetSubtype="0" fill="hold" grpId="0" nodeType="withEffect">
                                  <p:stCondLst>
                                    <p:cond delay="160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80"/>
                                        <p:tgtEl>
                                          <p:spTgt spid="22"/>
                                        </p:tgtEl>
                                      </p:cBhvr>
                                    </p:animEffect>
                                  </p:childTnLst>
                                </p:cTn>
                              </p:par>
                              <p:par>
                                <p:cTn id="56" presetID="10" presetClass="entr" presetSubtype="0" fill="hold" grpId="0" nodeType="withEffect">
                                  <p:stCondLst>
                                    <p:cond delay="170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80"/>
                                        <p:tgtEl>
                                          <p:spTgt spid="30"/>
                                        </p:tgtEl>
                                      </p:cBhvr>
                                    </p:animEffect>
                                  </p:childTnLst>
                                </p:cTn>
                              </p:par>
                              <p:par>
                                <p:cTn id="59" presetID="10" presetClass="entr" presetSubtype="0" fill="hold" grpId="0" nodeType="withEffect">
                                  <p:stCondLst>
                                    <p:cond delay="180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80"/>
                                        <p:tgtEl>
                                          <p:spTgt spid="15"/>
                                        </p:tgtEl>
                                      </p:cBhvr>
                                    </p:animEffect>
                                  </p:childTnLst>
                                </p:cTn>
                              </p:par>
                              <p:par>
                                <p:cTn id="62" presetID="10" presetClass="entr" presetSubtype="0" fill="hold" grpId="0" nodeType="withEffect">
                                  <p:stCondLst>
                                    <p:cond delay="19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80"/>
                                        <p:tgtEl>
                                          <p:spTgt spid="23"/>
                                        </p:tgtEl>
                                      </p:cBhvr>
                                    </p:animEffect>
                                  </p:childTnLst>
                                </p:cTn>
                              </p:par>
                              <p:par>
                                <p:cTn id="65" presetID="10" presetClass="entr" presetSubtype="0" fill="hold" grpId="0" nodeType="withEffect">
                                  <p:stCondLst>
                                    <p:cond delay="200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80"/>
                                        <p:tgtEl>
                                          <p:spTgt spid="31"/>
                                        </p:tgtEl>
                                      </p:cBhvr>
                                    </p:animEffect>
                                  </p:childTnLst>
                                </p:cTn>
                              </p:par>
                              <p:par>
                                <p:cTn id="68" presetID="10" presetClass="entr" presetSubtype="0" fill="hold" grpId="0" nodeType="withEffect">
                                  <p:stCondLst>
                                    <p:cond delay="210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80"/>
                                        <p:tgtEl>
                                          <p:spTgt spid="16"/>
                                        </p:tgtEl>
                                      </p:cBhvr>
                                    </p:animEffect>
                                  </p:childTnLst>
                                </p:cTn>
                              </p:par>
                              <p:par>
                                <p:cTn id="71" presetID="10" presetClass="entr" presetSubtype="0" fill="hold" grpId="0" nodeType="withEffect">
                                  <p:stCondLst>
                                    <p:cond delay="220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80"/>
                                        <p:tgtEl>
                                          <p:spTgt spid="24"/>
                                        </p:tgtEl>
                                      </p:cBhvr>
                                    </p:animEffect>
                                  </p:childTnLst>
                                </p:cTn>
                              </p:par>
                              <p:par>
                                <p:cTn id="74" presetID="10" presetClass="entr" presetSubtype="0" fill="hold" grpId="0" nodeType="withEffect">
                                  <p:stCondLst>
                                    <p:cond delay="230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80"/>
                                        <p:tgtEl>
                                          <p:spTgt spid="32"/>
                                        </p:tgtEl>
                                      </p:cBhvr>
                                    </p:animEffect>
                                  </p:childTnLst>
                                </p:cTn>
                              </p:par>
                              <p:par>
                                <p:cTn id="77" presetID="10" presetClass="entr" presetSubtype="0" fill="hold"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80"/>
                                        <p:tgtEl>
                                          <p:spTgt spid="33"/>
                                        </p:tgtEl>
                                      </p:cBhvr>
                                    </p:animEffect>
                                  </p:childTnLst>
                                </p:cTn>
                              </p:par>
                              <p:par>
                                <p:cTn id="80" presetID="10" presetClass="entr" presetSubtype="0" fill="hold" nodeType="withEffect">
                                  <p:stCondLst>
                                    <p:cond delay="41"/>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80"/>
                                        <p:tgtEl>
                                          <p:spTgt spid="37"/>
                                        </p:tgtEl>
                                      </p:cBhvr>
                                    </p:animEffect>
                                  </p:childTnLst>
                                </p:cTn>
                              </p:par>
                              <p:par>
                                <p:cTn id="83" presetID="10" presetClass="entr" presetSubtype="0" fill="hold" nodeType="withEffect">
                                  <p:stCondLst>
                                    <p:cond delay="82"/>
                                  </p:stCondLst>
                                  <p:childTnLst>
                                    <p:set>
                                      <p:cBhvr>
                                        <p:cTn id="84" dur="1" fill="hold">
                                          <p:stCondLst>
                                            <p:cond delay="0"/>
                                          </p:stCondLst>
                                        </p:cTn>
                                        <p:tgtEl>
                                          <p:spTgt spid="41"/>
                                        </p:tgtEl>
                                        <p:attrNameLst>
                                          <p:attrName>style.visibility</p:attrName>
                                        </p:attrNameLst>
                                      </p:cBhvr>
                                      <p:to>
                                        <p:strVal val="visible"/>
                                      </p:to>
                                    </p:set>
                                    <p:animEffect transition="in" filter="fade">
                                      <p:cBhvr>
                                        <p:cTn id="85" dur="80"/>
                                        <p:tgtEl>
                                          <p:spTgt spid="41"/>
                                        </p:tgtEl>
                                      </p:cBhvr>
                                    </p:animEffect>
                                  </p:childTnLst>
                                </p:cTn>
                              </p:par>
                              <p:par>
                                <p:cTn id="86" presetID="10" presetClass="entr" presetSubtype="0" fill="hold" nodeType="withEffect">
                                  <p:stCondLst>
                                    <p:cond delay="123"/>
                                  </p:stCondLst>
                                  <p:childTnLst>
                                    <p:set>
                                      <p:cBhvr>
                                        <p:cTn id="87" dur="1" fill="hold">
                                          <p:stCondLst>
                                            <p:cond delay="0"/>
                                          </p:stCondLst>
                                        </p:cTn>
                                        <p:tgtEl>
                                          <p:spTgt spid="45"/>
                                        </p:tgtEl>
                                        <p:attrNameLst>
                                          <p:attrName>style.visibility</p:attrName>
                                        </p:attrNameLst>
                                      </p:cBhvr>
                                      <p:to>
                                        <p:strVal val="visible"/>
                                      </p:to>
                                    </p:set>
                                    <p:animEffect transition="in" filter="fade">
                                      <p:cBhvr>
                                        <p:cTn id="88" dur="80"/>
                                        <p:tgtEl>
                                          <p:spTgt spid="45"/>
                                        </p:tgtEl>
                                      </p:cBhvr>
                                    </p:animEffect>
                                  </p:childTnLst>
                                </p:cTn>
                              </p:par>
                              <p:par>
                                <p:cTn id="89" presetID="10" presetClass="entr" presetSubtype="0" fill="hold" nodeType="withEffect">
                                  <p:stCondLst>
                                    <p:cond delay="164"/>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80"/>
                                        <p:tgtEl>
                                          <p:spTgt spid="49"/>
                                        </p:tgtEl>
                                      </p:cBhvr>
                                    </p:animEffect>
                                  </p:childTnLst>
                                </p:cTn>
                              </p:par>
                              <p:par>
                                <p:cTn id="92" presetID="10" presetClass="entr" presetSubtype="0" fill="hold" nodeType="withEffect">
                                  <p:stCondLst>
                                    <p:cond delay="205"/>
                                  </p:stCondLst>
                                  <p:childTnLst>
                                    <p:set>
                                      <p:cBhvr>
                                        <p:cTn id="93" dur="1" fill="hold">
                                          <p:stCondLst>
                                            <p:cond delay="0"/>
                                          </p:stCondLst>
                                        </p:cTn>
                                        <p:tgtEl>
                                          <p:spTgt spid="53"/>
                                        </p:tgtEl>
                                        <p:attrNameLst>
                                          <p:attrName>style.visibility</p:attrName>
                                        </p:attrNameLst>
                                      </p:cBhvr>
                                      <p:to>
                                        <p:strVal val="visible"/>
                                      </p:to>
                                    </p:set>
                                    <p:animEffect transition="in" filter="fade">
                                      <p:cBhvr>
                                        <p:cTn id="94" dur="80"/>
                                        <p:tgtEl>
                                          <p:spTgt spid="53"/>
                                        </p:tgtEl>
                                      </p:cBhvr>
                                    </p:animEffect>
                                  </p:childTnLst>
                                </p:cTn>
                              </p:par>
                              <p:par>
                                <p:cTn id="95" presetID="10" presetClass="entr" presetSubtype="0" fill="hold" nodeType="withEffect">
                                  <p:stCondLst>
                                    <p:cond delay="246"/>
                                  </p:stCondLst>
                                  <p:childTnLst>
                                    <p:set>
                                      <p:cBhvr>
                                        <p:cTn id="96" dur="1" fill="hold">
                                          <p:stCondLst>
                                            <p:cond delay="0"/>
                                          </p:stCondLst>
                                        </p:cTn>
                                        <p:tgtEl>
                                          <p:spTgt spid="57"/>
                                        </p:tgtEl>
                                        <p:attrNameLst>
                                          <p:attrName>style.visibility</p:attrName>
                                        </p:attrNameLst>
                                      </p:cBhvr>
                                      <p:to>
                                        <p:strVal val="visible"/>
                                      </p:to>
                                    </p:set>
                                    <p:animEffect transition="in" filter="fade">
                                      <p:cBhvr>
                                        <p:cTn id="97" dur="80"/>
                                        <p:tgtEl>
                                          <p:spTgt spid="57"/>
                                        </p:tgtEl>
                                      </p:cBhvr>
                                    </p:animEffect>
                                  </p:childTnLst>
                                </p:cTn>
                              </p:par>
                              <p:par>
                                <p:cTn id="98" presetID="10" presetClass="entr" presetSubtype="0" fill="hold" nodeType="withEffect">
                                  <p:stCondLst>
                                    <p:cond delay="287"/>
                                  </p:stCondLst>
                                  <p:childTnLst>
                                    <p:set>
                                      <p:cBhvr>
                                        <p:cTn id="99" dur="1" fill="hold">
                                          <p:stCondLst>
                                            <p:cond delay="0"/>
                                          </p:stCondLst>
                                        </p:cTn>
                                        <p:tgtEl>
                                          <p:spTgt spid="61"/>
                                        </p:tgtEl>
                                        <p:attrNameLst>
                                          <p:attrName>style.visibility</p:attrName>
                                        </p:attrNameLst>
                                      </p:cBhvr>
                                      <p:to>
                                        <p:strVal val="visible"/>
                                      </p:to>
                                    </p:set>
                                    <p:animEffect transition="in" filter="fade">
                                      <p:cBhvr>
                                        <p:cTn id="100" dur="80"/>
                                        <p:tgtEl>
                                          <p:spTgt spid="61"/>
                                        </p:tgtEl>
                                      </p:cBhvr>
                                    </p:animEffect>
                                  </p:childTnLst>
                                </p:cTn>
                              </p:par>
                            </p:childTnLst>
                          </p:cTn>
                        </p:par>
                      </p:childTnLst>
                    </p:cTn>
                  </p:par>
                  <p:par>
                    <p:cTn id="101" fill="hold">
                      <p:stCondLst>
                        <p:cond delay="indefinite"/>
                      </p:stCondLst>
                      <p:childTnLst>
                        <p:par>
                          <p:cTn id="102" fill="hold">
                            <p:stCondLst>
                              <p:cond delay="0"/>
                            </p:stCondLst>
                            <p:childTnLst>
                              <p:par>
                                <p:cTn id="103" presetID="23" presetClass="entr" presetSubtype="16" fill="hold" grpId="0" nodeType="clickEffect">
                                  <p:stCondLst>
                                    <p:cond delay="0"/>
                                  </p:stCondLst>
                                  <p:childTnLst>
                                    <p:set>
                                      <p:cBhvr>
                                        <p:cTn id="104" dur="1" fill="hold">
                                          <p:stCondLst>
                                            <p:cond delay="0"/>
                                          </p:stCondLst>
                                        </p:cTn>
                                        <p:tgtEl>
                                          <p:spTgt spid="67"/>
                                        </p:tgtEl>
                                        <p:attrNameLst>
                                          <p:attrName>style.visibility</p:attrName>
                                        </p:attrNameLst>
                                      </p:cBhvr>
                                      <p:to>
                                        <p:strVal val="visible"/>
                                      </p:to>
                                    </p:set>
                                    <p:anim calcmode="lin" valueType="num">
                                      <p:cBhvr>
                                        <p:cTn id="105" dur="400" fill="hold"/>
                                        <p:tgtEl>
                                          <p:spTgt spid="67"/>
                                        </p:tgtEl>
                                        <p:attrNameLst>
                                          <p:attrName>ppt_w</p:attrName>
                                        </p:attrNameLst>
                                      </p:cBhvr>
                                      <p:tavLst>
                                        <p:tav tm="0">
                                          <p:val>
                                            <p:fltVal val="0"/>
                                          </p:val>
                                        </p:tav>
                                        <p:tav tm="100000">
                                          <p:val>
                                            <p:strVal val="#ppt_w"/>
                                          </p:val>
                                        </p:tav>
                                      </p:tavLst>
                                    </p:anim>
                                    <p:anim calcmode="lin" valueType="num">
                                      <p:cBhvr>
                                        <p:cTn id="106" dur="400" fill="hold"/>
                                        <p:tgtEl>
                                          <p:spTgt spid="67"/>
                                        </p:tgtEl>
                                        <p:attrNameLst>
                                          <p:attrName>ppt_h</p:attrName>
                                        </p:attrNameLst>
                                      </p:cBhvr>
                                      <p:tavLst>
                                        <p:tav tm="0">
                                          <p:val>
                                            <p:fltVal val="0"/>
                                          </p:val>
                                        </p:tav>
                                        <p:tav tm="100000">
                                          <p:val>
                                            <p:strVal val="#ppt_h"/>
                                          </p:val>
                                        </p:tav>
                                      </p:tavLst>
                                    </p:anim>
                                  </p:childTnLst>
                                </p:cTn>
                              </p:par>
                            </p:childTnLst>
                          </p:cTn>
                        </p:par>
                        <p:par>
                          <p:cTn id="107" fill="hold">
                            <p:stCondLst>
                              <p:cond delay="400"/>
                            </p:stCondLst>
                            <p:childTnLst>
                              <p:par>
                                <p:cTn id="108" presetID="10" presetClass="entr" presetSubtype="0" fill="hold" grpId="0" nodeType="afterEffect">
                                  <p:stCondLst>
                                    <p:cond delay="0"/>
                                  </p:stCondLst>
                                  <p:childTnLst>
                                    <p:set>
                                      <p:cBhvr>
                                        <p:cTn id="109" dur="1" fill="hold">
                                          <p:stCondLst>
                                            <p:cond delay="0"/>
                                          </p:stCondLst>
                                        </p:cTn>
                                        <p:tgtEl>
                                          <p:spTgt spid="68"/>
                                        </p:tgtEl>
                                        <p:attrNameLst>
                                          <p:attrName>style.visibility</p:attrName>
                                        </p:attrNameLst>
                                      </p:cBhvr>
                                      <p:to>
                                        <p:strVal val="visible"/>
                                      </p:to>
                                    </p:set>
                                    <p:animEffect transition="in" filter="fade">
                                      <p:cBhvr>
                                        <p:cTn id="110" dur="4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67" grpId="0" animBg="1"/>
      <p:bldP spid="6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Result 5">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Gossip: no measurable difference</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Result 5 of 6  ·  AI with gossip on vs off  ·  3 training runs × 300 trips per setting</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Gossip card"/>
          <p:cNvSpPr/>
          <p:nvPr/>
        </p:nvSpPr>
        <p:spPr>
          <a:xfrm>
            <a:off x="758952" y="1691640"/>
            <a:ext cx="3931920" cy="4206240"/>
          </a:xfrm>
          <a:prstGeom prst="roundRect">
            <a:avLst>
              <a:gd name="adj" fmla="val 2093"/>
            </a:avLst>
          </a:prstGeom>
          <a:solidFill>
            <a:srgbClr val="FFFFFF"/>
          </a:solidFill>
          <a:ln w="12700">
            <a:solidFill>
              <a:srgbClr val="D3EAF6"/>
            </a:solidFill>
          </a:ln>
          <a:effectLst>
            <a:outerShdw blurRad="76200" dist="19050" dir="5400000" algn="t" rotWithShape="0">
              <a:srgbClr val="0A2E5C">
                <a:alpha val="13000"/>
              </a:srgbClr>
            </a:outerShdw>
          </a:effectLst>
        </p:spPr>
      </p:sp>
      <p:cxnSp>
        <p:nvCxnSpPr>
          <p:cNvPr id="7" name="Line 7"/>
          <p:cNvCxnSpPr/>
          <p:nvPr/>
        </p:nvCxnSpPr>
        <p:spPr>
          <a:xfrm flipV="1">
            <a:off x="1736190" y="2434743"/>
            <a:ext cx="718749" cy="490056"/>
          </a:xfrm>
          <a:prstGeom prst="line">
            <a:avLst/>
          </a:prstGeom>
          <a:ln w="22225">
            <a:solidFill>
              <a:srgbClr val="00A4C8"/>
            </a:solidFill>
            <a:tailEnd type="triangle" w="med" len="med"/>
          </a:ln>
        </p:spPr>
      </p:cxnSp>
      <p:cxnSp>
        <p:nvCxnSpPr>
          <p:cNvPr id="8" name="Line 8"/>
          <p:cNvCxnSpPr/>
          <p:nvPr/>
        </p:nvCxnSpPr>
        <p:spPr>
          <a:xfrm>
            <a:off x="1764660" y="3024098"/>
            <a:ext cx="795806" cy="31832"/>
          </a:xfrm>
          <a:prstGeom prst="line">
            <a:avLst/>
          </a:prstGeom>
          <a:ln w="22225">
            <a:solidFill>
              <a:srgbClr val="00A4C8"/>
            </a:solidFill>
            <a:tailEnd type="triangle" w="med" len="med"/>
          </a:ln>
        </p:spPr>
      </p:cxnSp>
      <p:cxnSp>
        <p:nvCxnSpPr>
          <p:cNvPr id="9" name="Line 9"/>
          <p:cNvCxnSpPr/>
          <p:nvPr/>
        </p:nvCxnSpPr>
        <p:spPr>
          <a:xfrm>
            <a:off x="1733311" y="3114328"/>
            <a:ext cx="724827" cy="527147"/>
          </a:xfrm>
          <a:prstGeom prst="line">
            <a:avLst/>
          </a:prstGeom>
          <a:ln w="22225">
            <a:solidFill>
              <a:srgbClr val="00A4C8"/>
            </a:solidFill>
            <a:tailEnd type="triangle" w="med" len="med"/>
          </a:ln>
        </p:spPr>
      </p:cxnSp>
      <p:cxnSp>
        <p:nvCxnSpPr>
          <p:cNvPr id="10" name="Line 10"/>
          <p:cNvCxnSpPr/>
          <p:nvPr/>
        </p:nvCxnSpPr>
        <p:spPr>
          <a:xfrm flipV="1">
            <a:off x="2766539" y="2143650"/>
            <a:ext cx="667009" cy="151593"/>
          </a:xfrm>
          <a:prstGeom prst="line">
            <a:avLst/>
          </a:prstGeom>
          <a:ln w="22225">
            <a:solidFill>
              <a:srgbClr val="00A4C8"/>
            </a:solidFill>
            <a:tailEnd type="triangle" w="med" len="med"/>
          </a:ln>
        </p:spPr>
      </p:cxnSp>
      <p:cxnSp>
        <p:nvCxnSpPr>
          <p:cNvPr id="11" name="Line 11"/>
          <p:cNvCxnSpPr/>
          <p:nvPr/>
        </p:nvCxnSpPr>
        <p:spPr>
          <a:xfrm>
            <a:off x="2762801" y="2381884"/>
            <a:ext cx="812059" cy="259859"/>
          </a:xfrm>
          <a:prstGeom prst="line">
            <a:avLst/>
          </a:prstGeom>
          <a:ln w="22225">
            <a:solidFill>
              <a:srgbClr val="00A4C8"/>
            </a:solidFill>
            <a:tailEnd type="triangle" w="med" len="med"/>
          </a:ln>
        </p:spPr>
      </p:cxnSp>
      <p:cxnSp>
        <p:nvCxnSpPr>
          <p:cNvPr id="12" name="Line 12"/>
          <p:cNvCxnSpPr/>
          <p:nvPr/>
        </p:nvCxnSpPr>
        <p:spPr>
          <a:xfrm flipV="1">
            <a:off x="2897882" y="2759978"/>
            <a:ext cx="679288" cy="247014"/>
          </a:xfrm>
          <a:prstGeom prst="line">
            <a:avLst/>
          </a:prstGeom>
          <a:ln w="22225">
            <a:solidFill>
              <a:srgbClr val="00A4C8"/>
            </a:solidFill>
            <a:tailEnd type="triangle" w="med" len="med"/>
          </a:ln>
        </p:spPr>
      </p:cxnSp>
      <p:cxnSp>
        <p:nvCxnSpPr>
          <p:cNvPr id="13" name="Line 13"/>
          <p:cNvCxnSpPr/>
          <p:nvPr/>
        </p:nvCxnSpPr>
        <p:spPr>
          <a:xfrm>
            <a:off x="2897882" y="3119488"/>
            <a:ext cx="679288" cy="247014"/>
          </a:xfrm>
          <a:prstGeom prst="line">
            <a:avLst/>
          </a:prstGeom>
          <a:ln w="22225">
            <a:solidFill>
              <a:srgbClr val="00A4C8"/>
            </a:solidFill>
            <a:tailEnd type="triangle" w="med" len="med"/>
          </a:ln>
        </p:spPr>
      </p:cxnSp>
      <p:cxnSp>
        <p:nvCxnSpPr>
          <p:cNvPr id="14" name="Line 14"/>
          <p:cNvCxnSpPr/>
          <p:nvPr/>
        </p:nvCxnSpPr>
        <p:spPr>
          <a:xfrm flipV="1">
            <a:off x="2764536" y="3478310"/>
            <a:ext cx="808397" cy="226351"/>
          </a:xfrm>
          <a:prstGeom prst="line">
            <a:avLst/>
          </a:prstGeom>
          <a:ln w="22225">
            <a:solidFill>
              <a:srgbClr val="00A4C8"/>
            </a:solidFill>
            <a:tailEnd type="triangle" w="med" len="med"/>
          </a:ln>
        </p:spPr>
      </p:cxnSp>
      <p:cxnSp>
        <p:nvCxnSpPr>
          <p:cNvPr id="15" name="Line 15"/>
          <p:cNvCxnSpPr/>
          <p:nvPr/>
        </p:nvCxnSpPr>
        <p:spPr>
          <a:xfrm>
            <a:off x="2764832" y="3792347"/>
            <a:ext cx="670612" cy="182894"/>
          </a:xfrm>
          <a:prstGeom prst="line">
            <a:avLst/>
          </a:prstGeom>
          <a:ln w="22225">
            <a:solidFill>
              <a:srgbClr val="00A4C8"/>
            </a:solidFill>
            <a:tailEnd type="triangle" w="med" len="med"/>
          </a:ln>
        </p:spPr>
      </p:cxnSp>
      <p:sp>
        <p:nvSpPr>
          <p:cNvPr id="16" name="Shape 16"/>
          <p:cNvSpPr/>
          <p:nvPr/>
        </p:nvSpPr>
        <p:spPr>
          <a:xfrm>
            <a:off x="1463040" y="2880360"/>
            <a:ext cx="274320" cy="274320"/>
          </a:xfrm>
          <a:prstGeom prst="ellipse">
            <a:avLst/>
          </a:prstGeom>
          <a:solidFill>
            <a:srgbClr val="EB6834"/>
          </a:solidFill>
          <a:ln w="25400">
            <a:solidFill>
              <a:srgbClr val="FFFFFF"/>
            </a:solidFill>
          </a:ln>
        </p:spPr>
      </p:sp>
      <p:sp>
        <p:nvSpPr>
          <p:cNvPr id="17" name="Shape 17"/>
          <p:cNvSpPr/>
          <p:nvPr/>
        </p:nvSpPr>
        <p:spPr>
          <a:xfrm>
            <a:off x="2496312" y="2221992"/>
            <a:ext cx="219456" cy="219456"/>
          </a:xfrm>
          <a:prstGeom prst="ellipse">
            <a:avLst/>
          </a:prstGeom>
          <a:solidFill>
            <a:srgbClr val="FFFFFF"/>
          </a:solidFill>
          <a:ln w="25400">
            <a:solidFill>
              <a:srgbClr val="003E82"/>
            </a:solidFill>
          </a:ln>
        </p:spPr>
      </p:sp>
      <p:sp>
        <p:nvSpPr>
          <p:cNvPr id="18" name="Shape 18"/>
          <p:cNvSpPr/>
          <p:nvPr/>
        </p:nvSpPr>
        <p:spPr>
          <a:xfrm>
            <a:off x="2633472" y="2953512"/>
            <a:ext cx="219456" cy="219456"/>
          </a:xfrm>
          <a:prstGeom prst="ellipse">
            <a:avLst/>
          </a:prstGeom>
          <a:solidFill>
            <a:srgbClr val="FFFFFF"/>
          </a:solidFill>
          <a:ln w="25400">
            <a:solidFill>
              <a:srgbClr val="003E82"/>
            </a:solidFill>
          </a:ln>
        </p:spPr>
      </p:sp>
      <p:sp>
        <p:nvSpPr>
          <p:cNvPr id="19" name="Shape 19"/>
          <p:cNvSpPr/>
          <p:nvPr/>
        </p:nvSpPr>
        <p:spPr>
          <a:xfrm>
            <a:off x="2496312" y="3639312"/>
            <a:ext cx="219456" cy="219456"/>
          </a:xfrm>
          <a:prstGeom prst="ellipse">
            <a:avLst/>
          </a:prstGeom>
          <a:solidFill>
            <a:srgbClr val="FFFFFF"/>
          </a:solidFill>
          <a:ln w="25400">
            <a:solidFill>
              <a:srgbClr val="003E82"/>
            </a:solidFill>
          </a:ln>
        </p:spPr>
      </p:sp>
      <p:sp>
        <p:nvSpPr>
          <p:cNvPr id="20" name="Shape 20"/>
          <p:cNvSpPr/>
          <p:nvPr/>
        </p:nvSpPr>
        <p:spPr>
          <a:xfrm>
            <a:off x="3502152" y="1993392"/>
            <a:ext cx="219456" cy="219456"/>
          </a:xfrm>
          <a:prstGeom prst="ellipse">
            <a:avLst/>
          </a:prstGeom>
          <a:solidFill>
            <a:srgbClr val="FFFFFF"/>
          </a:solidFill>
          <a:ln w="25400">
            <a:solidFill>
              <a:srgbClr val="003E82"/>
            </a:solidFill>
          </a:ln>
        </p:spPr>
      </p:sp>
      <p:sp>
        <p:nvSpPr>
          <p:cNvPr id="21" name="Shape 21"/>
          <p:cNvSpPr/>
          <p:nvPr/>
        </p:nvSpPr>
        <p:spPr>
          <a:xfrm>
            <a:off x="3639312" y="2587752"/>
            <a:ext cx="219456" cy="219456"/>
          </a:xfrm>
          <a:prstGeom prst="ellipse">
            <a:avLst/>
          </a:prstGeom>
          <a:solidFill>
            <a:srgbClr val="FFFFFF"/>
          </a:solidFill>
          <a:ln w="25400">
            <a:solidFill>
              <a:srgbClr val="003E82"/>
            </a:solidFill>
          </a:ln>
        </p:spPr>
      </p:sp>
      <p:sp>
        <p:nvSpPr>
          <p:cNvPr id="22" name="Shape 22"/>
          <p:cNvSpPr/>
          <p:nvPr/>
        </p:nvSpPr>
        <p:spPr>
          <a:xfrm>
            <a:off x="3639312" y="3319272"/>
            <a:ext cx="219456" cy="219456"/>
          </a:xfrm>
          <a:prstGeom prst="ellipse">
            <a:avLst/>
          </a:prstGeom>
          <a:solidFill>
            <a:srgbClr val="FFFFFF"/>
          </a:solidFill>
          <a:ln w="25400">
            <a:solidFill>
              <a:srgbClr val="003E82"/>
            </a:solidFill>
          </a:ln>
        </p:spPr>
      </p:sp>
      <p:sp>
        <p:nvSpPr>
          <p:cNvPr id="23" name="Shape 23"/>
          <p:cNvSpPr/>
          <p:nvPr/>
        </p:nvSpPr>
        <p:spPr>
          <a:xfrm>
            <a:off x="3502152" y="3913632"/>
            <a:ext cx="219456" cy="219456"/>
          </a:xfrm>
          <a:prstGeom prst="ellipse">
            <a:avLst/>
          </a:prstGeom>
          <a:solidFill>
            <a:srgbClr val="FFFFFF"/>
          </a:solidFill>
          <a:ln w="25400">
            <a:solidFill>
              <a:srgbClr val="003E82"/>
            </a:solidFill>
          </a:ln>
        </p:spPr>
      </p:sp>
      <p:sp>
        <p:nvSpPr>
          <p:cNvPr id="24" name="Shape 24"/>
          <p:cNvSpPr txBox="1"/>
          <p:nvPr/>
        </p:nvSpPr>
        <p:spPr>
          <a:xfrm>
            <a:off x="1005840" y="4434840"/>
            <a:ext cx="3474720" cy="1325880"/>
          </a:xfrm>
          <a:prstGeom prst="rect">
            <a:avLst/>
          </a:prstGeom>
          <a:noFill/>
          <a:ln>
            <a:noFill/>
          </a:ln>
        </p:spPr>
        <p:txBody>
          <a:bodyPr wrap="square" lIns="0" tIns="0" rIns="0" bIns="0" rtlCol="0" anchor="t">
            <a:noAutofit/>
          </a:bodyPr>
          <a:lstStyle/>
          <a:p>
            <a:pPr marL="0" indent="0" algn="l">
              <a:lnSpc>
                <a:spcPct val="102000"/>
              </a:lnSpc>
              <a:spcAft>
                <a:spcPts val="600"/>
              </a:spcAft>
              <a:buNone/>
            </a:pPr>
            <a:r>
              <a:rPr lang="en-US" sz="1300" b="1" dirty="0">
                <a:solidFill>
                  <a:srgbClr val="08325F"/>
                </a:solidFill>
                <a:latin typeface="Tahoma"/>
                <a:ea typeface="Tahoma"/>
                <a:cs typeface="Tahoma"/>
              </a:rPr>
              <a:t>Gossip: radios pass information to neighbours, who pass it on, like a rumour.</a:t>
            </a:r>
            <a:endParaRPr lang="en-US" sz="1300" dirty="0"/>
          </a:p>
          <a:p>
            <a:pPr marL="0" indent="0" algn="l">
              <a:lnSpc>
                <a:spcPct val="102000"/>
              </a:lnSpc>
              <a:buNone/>
            </a:pPr>
            <a:r>
              <a:rPr lang="en-US" sz="1200" dirty="0">
                <a:solidFill>
                  <a:srgbClr val="44546A"/>
                </a:solidFill>
                <a:latin typeface="Tahoma"/>
                <a:ea typeface="Tahoma"/>
                <a:cs typeface="Tahoma"/>
              </a:rPr>
              <a:t>Here: the AI's value estimate for each position.</a:t>
            </a:r>
            <a:endParaRPr lang="en-US" sz="1200" dirty="0"/>
          </a:p>
        </p:txBody>
      </p:sp>
      <p:sp>
        <p:nvSpPr>
          <p:cNvPr id="25" name="Table header"/>
          <p:cNvSpPr/>
          <p:nvPr/>
        </p:nvSpPr>
        <p:spPr>
          <a:xfrm>
            <a:off x="4983480" y="1691640"/>
            <a:ext cx="6446520" cy="502920"/>
          </a:xfrm>
          <a:prstGeom prst="roundRect">
            <a:avLst>
              <a:gd name="adj" fmla="val 18000"/>
            </a:avLst>
          </a:prstGeom>
          <a:solidFill>
            <a:srgbClr val="003E82"/>
          </a:solidFill>
          <a:ln>
            <a:noFill/>
          </a:ln>
        </p:spPr>
      </p:sp>
      <p:sp>
        <p:nvSpPr>
          <p:cNvPr id="26" name="Shape 26"/>
          <p:cNvSpPr txBox="1"/>
          <p:nvPr/>
        </p:nvSpPr>
        <p:spPr>
          <a:xfrm>
            <a:off x="5166360" y="1691640"/>
            <a:ext cx="2194560" cy="502920"/>
          </a:xfrm>
          <a:prstGeom prst="rect">
            <a:avLst/>
          </a:prstGeom>
          <a:noFill/>
          <a:ln>
            <a:noFill/>
          </a:ln>
        </p:spPr>
        <p:txBody>
          <a:bodyPr wrap="square" lIns="0" tIns="0" rIns="0" bIns="0" rtlCol="0" anchor="ctr">
            <a:noAutofit/>
          </a:bodyPr>
          <a:lstStyle/>
          <a:p>
            <a:pPr marL="0" indent="0" algn="l">
              <a:buNone/>
            </a:pPr>
            <a:r>
              <a:rPr lang="en-US" sz="1300" b="1" dirty="0">
                <a:solidFill>
                  <a:srgbClr val="FFFFFF"/>
                </a:solidFill>
                <a:latin typeface="Tahoma"/>
                <a:ea typeface="Tahoma"/>
                <a:cs typeface="Tahoma"/>
              </a:rPr>
              <a:t>Metric</a:t>
            </a:r>
            <a:endParaRPr lang="en-US" sz="1300" dirty="0"/>
          </a:p>
        </p:txBody>
      </p:sp>
      <p:sp>
        <p:nvSpPr>
          <p:cNvPr id="27" name="Shape 27"/>
          <p:cNvSpPr txBox="1"/>
          <p:nvPr/>
        </p:nvSpPr>
        <p:spPr>
          <a:xfrm>
            <a:off x="7589520" y="1691640"/>
            <a:ext cx="1097280" cy="502920"/>
          </a:xfrm>
          <a:prstGeom prst="rect">
            <a:avLst/>
          </a:prstGeom>
          <a:no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Gossip on</a:t>
            </a:r>
            <a:endParaRPr lang="en-US" sz="1300" dirty="0"/>
          </a:p>
        </p:txBody>
      </p:sp>
      <p:sp>
        <p:nvSpPr>
          <p:cNvPr id="28" name="Shape 28"/>
          <p:cNvSpPr txBox="1"/>
          <p:nvPr/>
        </p:nvSpPr>
        <p:spPr>
          <a:xfrm>
            <a:off x="8915400" y="1691640"/>
            <a:ext cx="1097280" cy="502920"/>
          </a:xfrm>
          <a:prstGeom prst="rect">
            <a:avLst/>
          </a:prstGeom>
          <a:no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Gossip off</a:t>
            </a:r>
            <a:endParaRPr lang="en-US" sz="1300" dirty="0"/>
          </a:p>
        </p:txBody>
      </p:sp>
      <p:sp>
        <p:nvSpPr>
          <p:cNvPr id="29" name="Shape 29"/>
          <p:cNvSpPr txBox="1"/>
          <p:nvPr/>
        </p:nvSpPr>
        <p:spPr>
          <a:xfrm>
            <a:off x="10241280" y="1691640"/>
            <a:ext cx="1143000" cy="502920"/>
          </a:xfrm>
          <a:prstGeom prst="rect">
            <a:avLst/>
          </a:prstGeom>
          <a:noFill/>
          <a:ln>
            <a:no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p-value</a:t>
            </a:r>
            <a:endParaRPr lang="en-US" sz="1300" dirty="0"/>
          </a:p>
        </p:txBody>
      </p:sp>
      <p:grpSp>
        <p:nvGrpSpPr>
          <p:cNvPr id="30" name="Row 1"/>
          <p:cNvGrpSpPr/>
          <p:nvPr/>
        </p:nvGrpSpPr>
        <p:grpSpPr>
          <a:xfrm>
            <a:off x="4983480" y="2286000"/>
            <a:ext cx="6446520" cy="566928"/>
            <a:chOff x="4983480" y="2286000"/>
            <a:chExt cx="6446520" cy="566928"/>
          </a:xfrm>
        </p:grpSpPr>
        <p:sp>
          <p:nvSpPr>
            <p:cNvPr id="31" name="Shape 31"/>
            <p:cNvSpPr/>
            <p:nvPr/>
          </p:nvSpPr>
          <p:spPr>
            <a:xfrm>
              <a:off x="4983480" y="2286000"/>
              <a:ext cx="6446520" cy="566928"/>
            </a:xfrm>
            <a:prstGeom prst="roundRect">
              <a:avLst>
                <a:gd name="adj" fmla="val 14000"/>
              </a:avLst>
            </a:prstGeom>
            <a:solidFill>
              <a:srgbClr val="FFFFFF"/>
            </a:solidFill>
            <a:ln w="12700">
              <a:solidFill>
                <a:srgbClr val="D3EAF6"/>
              </a:solidFill>
            </a:ln>
          </p:spPr>
        </p:sp>
        <p:sp>
          <p:nvSpPr>
            <p:cNvPr id="32" name="Shape 32"/>
            <p:cNvSpPr txBox="1"/>
            <p:nvPr/>
          </p:nvSpPr>
          <p:spPr>
            <a:xfrm>
              <a:off x="5166360" y="2286000"/>
              <a:ext cx="2194560" cy="566928"/>
            </a:xfrm>
            <a:prstGeom prst="rect">
              <a:avLst/>
            </a:prstGeom>
            <a:noFill/>
            <a:ln>
              <a:noFill/>
            </a:ln>
          </p:spPr>
          <p:txBody>
            <a:bodyPr wrap="square" lIns="0" tIns="0" rIns="0" bIns="0" rtlCol="0" anchor="ctr">
              <a:noAutofit/>
            </a:bodyPr>
            <a:lstStyle/>
            <a:p>
              <a:pPr marL="0" indent="0" algn="l">
                <a:buNone/>
              </a:pPr>
              <a:r>
                <a:rPr lang="en-US" sz="1400" b="1" dirty="0">
                  <a:solidFill>
                    <a:srgbClr val="08325F"/>
                  </a:solidFill>
                  <a:latin typeface="Tahoma"/>
                  <a:ea typeface="Tahoma"/>
                  <a:cs typeface="Tahoma"/>
                </a:rPr>
                <a:t>Reached a safe zone</a:t>
              </a:r>
              <a:endParaRPr lang="en-US" sz="1400" dirty="0"/>
            </a:p>
          </p:txBody>
        </p:sp>
        <p:sp>
          <p:nvSpPr>
            <p:cNvPr id="33" name="Shape 33"/>
            <p:cNvSpPr txBox="1"/>
            <p:nvPr/>
          </p:nvSpPr>
          <p:spPr>
            <a:xfrm>
              <a:off x="7589520" y="2286000"/>
              <a:ext cx="1097280" cy="566928"/>
            </a:xfrm>
            <a:prstGeom prst="rect">
              <a:avLst/>
            </a:prstGeom>
            <a:noFill/>
            <a:ln>
              <a:noFill/>
            </a:ln>
          </p:spPr>
          <p:txBody>
            <a:bodyPr wrap="square" lIns="0" tIns="0" rIns="0" bIns="0" rtlCol="0" anchor="ctr">
              <a:noAutofit/>
            </a:bodyPr>
            <a:lstStyle/>
            <a:p>
              <a:pPr marL="0" indent="0" algn="ctr">
                <a:buNone/>
              </a:pPr>
              <a:r>
                <a:rPr lang="en-US" sz="1800" b="1" dirty="0">
                  <a:solidFill>
                    <a:srgbClr val="003E82"/>
                  </a:solidFill>
                  <a:latin typeface="Tahoma"/>
                  <a:ea typeface="Tahoma"/>
                  <a:cs typeface="Tahoma"/>
                </a:rPr>
                <a:t>100%</a:t>
              </a:r>
              <a:endParaRPr lang="en-US" sz="1800" dirty="0"/>
            </a:p>
          </p:txBody>
        </p:sp>
        <p:sp>
          <p:nvSpPr>
            <p:cNvPr id="34" name="Shape 34"/>
            <p:cNvSpPr txBox="1"/>
            <p:nvPr/>
          </p:nvSpPr>
          <p:spPr>
            <a:xfrm>
              <a:off x="8915400" y="2286000"/>
              <a:ext cx="1097280" cy="566928"/>
            </a:xfrm>
            <a:prstGeom prst="rect">
              <a:avLst/>
            </a:prstGeom>
            <a:noFill/>
            <a:ln>
              <a:noFill/>
            </a:ln>
          </p:spPr>
          <p:txBody>
            <a:bodyPr wrap="square" lIns="0" tIns="0" rIns="0" bIns="0" rtlCol="0" anchor="ctr">
              <a:noAutofit/>
            </a:bodyPr>
            <a:lstStyle/>
            <a:p>
              <a:pPr marL="0" indent="0" algn="ctr">
                <a:buNone/>
              </a:pPr>
              <a:r>
                <a:rPr lang="en-US" sz="1800" b="1" dirty="0">
                  <a:solidFill>
                    <a:srgbClr val="003E82"/>
                  </a:solidFill>
                  <a:latin typeface="Tahoma"/>
                  <a:ea typeface="Tahoma"/>
                  <a:cs typeface="Tahoma"/>
                </a:rPr>
                <a:t>100%</a:t>
              </a:r>
              <a:endParaRPr lang="en-US" sz="1800" dirty="0"/>
            </a:p>
          </p:txBody>
        </p:sp>
        <p:sp>
          <p:nvSpPr>
            <p:cNvPr id="35" name="Shape 35"/>
            <p:cNvSpPr txBox="1"/>
            <p:nvPr/>
          </p:nvSpPr>
          <p:spPr>
            <a:xfrm>
              <a:off x="10241280" y="2286000"/>
              <a:ext cx="1143000" cy="566928"/>
            </a:xfrm>
            <a:prstGeom prst="rect">
              <a:avLst/>
            </a:prstGeom>
            <a:noFill/>
            <a:ln>
              <a:noFill/>
            </a:ln>
          </p:spPr>
          <p:txBody>
            <a:bodyPr wrap="square" lIns="0" tIns="0" rIns="0" bIns="0" rtlCol="0" anchor="ctr">
              <a:noAutofit/>
            </a:bodyPr>
            <a:lstStyle/>
            <a:p>
              <a:pPr marL="0" indent="0" algn="ctr">
                <a:buNone/>
              </a:pPr>
              <a:r>
                <a:rPr lang="en-US" sz="1500" dirty="0">
                  <a:solidFill>
                    <a:srgbClr val="44546A"/>
                  </a:solidFill>
                  <a:latin typeface="Tahoma"/>
                  <a:ea typeface="Tahoma"/>
                  <a:cs typeface="Tahoma"/>
                </a:rPr>
                <a:t>–</a:t>
              </a:r>
              <a:endParaRPr lang="en-US" sz="1500" dirty="0"/>
            </a:p>
          </p:txBody>
        </p:sp>
      </p:grpSp>
      <p:grpSp>
        <p:nvGrpSpPr>
          <p:cNvPr id="36" name="Row 2"/>
          <p:cNvGrpSpPr/>
          <p:nvPr/>
        </p:nvGrpSpPr>
        <p:grpSpPr>
          <a:xfrm>
            <a:off x="4983480" y="2926080"/>
            <a:ext cx="6446520" cy="566928"/>
            <a:chOff x="4983480" y="2926080"/>
            <a:chExt cx="6446520" cy="566928"/>
          </a:xfrm>
        </p:grpSpPr>
        <p:sp>
          <p:nvSpPr>
            <p:cNvPr id="37" name="Shape 37"/>
            <p:cNvSpPr/>
            <p:nvPr/>
          </p:nvSpPr>
          <p:spPr>
            <a:xfrm>
              <a:off x="4983480" y="2926080"/>
              <a:ext cx="6446520" cy="566928"/>
            </a:xfrm>
            <a:prstGeom prst="roundRect">
              <a:avLst>
                <a:gd name="adj" fmla="val 14000"/>
              </a:avLst>
            </a:prstGeom>
            <a:solidFill>
              <a:srgbClr val="F2F8FC"/>
            </a:solidFill>
            <a:ln w="12700">
              <a:solidFill>
                <a:srgbClr val="D3EAF6"/>
              </a:solidFill>
            </a:ln>
          </p:spPr>
        </p:sp>
        <p:sp>
          <p:nvSpPr>
            <p:cNvPr id="38" name="Shape 38"/>
            <p:cNvSpPr txBox="1"/>
            <p:nvPr/>
          </p:nvSpPr>
          <p:spPr>
            <a:xfrm>
              <a:off x="5166360" y="2926080"/>
              <a:ext cx="2194560" cy="566928"/>
            </a:xfrm>
            <a:prstGeom prst="rect">
              <a:avLst/>
            </a:prstGeom>
            <a:noFill/>
            <a:ln>
              <a:noFill/>
            </a:ln>
          </p:spPr>
          <p:txBody>
            <a:bodyPr wrap="square" lIns="0" tIns="0" rIns="0" bIns="0" rtlCol="0" anchor="ctr">
              <a:noAutofit/>
            </a:bodyPr>
            <a:lstStyle/>
            <a:p>
              <a:pPr marL="0" indent="0" algn="l">
                <a:buNone/>
              </a:pPr>
              <a:r>
                <a:rPr lang="en-US" sz="1400" b="1" dirty="0">
                  <a:solidFill>
                    <a:srgbClr val="08325F"/>
                  </a:solidFill>
                  <a:latin typeface="Tahoma"/>
                  <a:ea typeface="Tahoma"/>
                  <a:cs typeface="Tahoma"/>
                </a:rPr>
                <a:t>Average hops</a:t>
              </a:r>
              <a:endParaRPr lang="en-US" sz="1400" dirty="0"/>
            </a:p>
          </p:txBody>
        </p:sp>
        <p:sp>
          <p:nvSpPr>
            <p:cNvPr id="39" name="Shape 39"/>
            <p:cNvSpPr txBox="1"/>
            <p:nvPr/>
          </p:nvSpPr>
          <p:spPr>
            <a:xfrm>
              <a:off x="7589520" y="2926080"/>
              <a:ext cx="1097280" cy="566928"/>
            </a:xfrm>
            <a:prstGeom prst="rect">
              <a:avLst/>
            </a:prstGeom>
            <a:noFill/>
            <a:ln>
              <a:noFill/>
            </a:ln>
          </p:spPr>
          <p:txBody>
            <a:bodyPr wrap="square" lIns="0" tIns="0" rIns="0" bIns="0" rtlCol="0" anchor="ctr">
              <a:noAutofit/>
            </a:bodyPr>
            <a:lstStyle/>
            <a:p>
              <a:pPr marL="0" indent="0" algn="ctr">
                <a:buNone/>
              </a:pPr>
              <a:r>
                <a:rPr lang="en-US" sz="1800" b="1" dirty="0">
                  <a:solidFill>
                    <a:srgbClr val="003E82"/>
                  </a:solidFill>
                  <a:latin typeface="Tahoma"/>
                  <a:ea typeface="Tahoma"/>
                  <a:cs typeface="Tahoma"/>
                </a:rPr>
                <a:t>2.487</a:t>
              </a:r>
              <a:endParaRPr lang="en-US" sz="1800" dirty="0"/>
            </a:p>
          </p:txBody>
        </p:sp>
        <p:sp>
          <p:nvSpPr>
            <p:cNvPr id="40" name="Shape 40"/>
            <p:cNvSpPr txBox="1"/>
            <p:nvPr/>
          </p:nvSpPr>
          <p:spPr>
            <a:xfrm>
              <a:off x="8915400" y="2926080"/>
              <a:ext cx="1097280" cy="566928"/>
            </a:xfrm>
            <a:prstGeom prst="rect">
              <a:avLst/>
            </a:prstGeom>
            <a:noFill/>
            <a:ln>
              <a:noFill/>
            </a:ln>
          </p:spPr>
          <p:txBody>
            <a:bodyPr wrap="square" lIns="0" tIns="0" rIns="0" bIns="0" rtlCol="0" anchor="ctr">
              <a:noAutofit/>
            </a:bodyPr>
            <a:lstStyle/>
            <a:p>
              <a:pPr marL="0" indent="0" algn="ctr">
                <a:buNone/>
              </a:pPr>
              <a:r>
                <a:rPr lang="en-US" sz="1800" b="1" dirty="0">
                  <a:solidFill>
                    <a:srgbClr val="003E82"/>
                  </a:solidFill>
                  <a:latin typeface="Tahoma"/>
                  <a:ea typeface="Tahoma"/>
                  <a:cs typeface="Tahoma"/>
                </a:rPr>
                <a:t>2.497</a:t>
              </a:r>
              <a:endParaRPr lang="en-US" sz="1800" dirty="0"/>
            </a:p>
          </p:txBody>
        </p:sp>
        <p:sp>
          <p:nvSpPr>
            <p:cNvPr id="41" name="Shape 41"/>
            <p:cNvSpPr txBox="1"/>
            <p:nvPr/>
          </p:nvSpPr>
          <p:spPr>
            <a:xfrm>
              <a:off x="10241280" y="2926080"/>
              <a:ext cx="1143000" cy="566928"/>
            </a:xfrm>
            <a:prstGeom prst="rect">
              <a:avLst/>
            </a:prstGeom>
            <a:noFill/>
            <a:ln>
              <a:noFill/>
            </a:ln>
          </p:spPr>
          <p:txBody>
            <a:bodyPr wrap="square" lIns="0" tIns="0" rIns="0" bIns="0" rtlCol="0" anchor="ctr">
              <a:noAutofit/>
            </a:bodyPr>
            <a:lstStyle/>
            <a:p>
              <a:pPr marL="0" indent="0" algn="ctr">
                <a:buNone/>
              </a:pPr>
              <a:r>
                <a:rPr lang="en-US" sz="1500" dirty="0">
                  <a:solidFill>
                    <a:srgbClr val="44546A"/>
                  </a:solidFill>
                  <a:latin typeface="Tahoma"/>
                  <a:ea typeface="Tahoma"/>
                  <a:cs typeface="Tahoma"/>
                </a:rPr>
                <a:t>0.842</a:t>
              </a:r>
              <a:endParaRPr lang="en-US" sz="1500" dirty="0"/>
            </a:p>
          </p:txBody>
        </p:sp>
      </p:grpSp>
      <p:grpSp>
        <p:nvGrpSpPr>
          <p:cNvPr id="42" name="Row 3"/>
          <p:cNvGrpSpPr/>
          <p:nvPr/>
        </p:nvGrpSpPr>
        <p:grpSpPr>
          <a:xfrm>
            <a:off x="4983480" y="3566160"/>
            <a:ext cx="6446520" cy="566928"/>
            <a:chOff x="4983480" y="3566160"/>
            <a:chExt cx="6446520" cy="566928"/>
          </a:xfrm>
        </p:grpSpPr>
        <p:sp>
          <p:nvSpPr>
            <p:cNvPr id="43" name="Shape 43"/>
            <p:cNvSpPr/>
            <p:nvPr/>
          </p:nvSpPr>
          <p:spPr>
            <a:xfrm>
              <a:off x="4983480" y="3566160"/>
              <a:ext cx="6446520" cy="566928"/>
            </a:xfrm>
            <a:prstGeom prst="roundRect">
              <a:avLst>
                <a:gd name="adj" fmla="val 14000"/>
              </a:avLst>
            </a:prstGeom>
            <a:solidFill>
              <a:srgbClr val="FFFFFF"/>
            </a:solidFill>
            <a:ln w="12700">
              <a:solidFill>
                <a:srgbClr val="D3EAF6"/>
              </a:solidFill>
            </a:ln>
          </p:spPr>
        </p:sp>
        <p:sp>
          <p:nvSpPr>
            <p:cNvPr id="44" name="Shape 44"/>
            <p:cNvSpPr txBox="1"/>
            <p:nvPr/>
          </p:nvSpPr>
          <p:spPr>
            <a:xfrm>
              <a:off x="5166360" y="3566160"/>
              <a:ext cx="2194560" cy="566928"/>
            </a:xfrm>
            <a:prstGeom prst="rect">
              <a:avLst/>
            </a:prstGeom>
            <a:noFill/>
            <a:ln>
              <a:noFill/>
            </a:ln>
          </p:spPr>
          <p:txBody>
            <a:bodyPr wrap="square" lIns="0" tIns="0" rIns="0" bIns="0" rtlCol="0" anchor="ctr">
              <a:noAutofit/>
            </a:bodyPr>
            <a:lstStyle/>
            <a:p>
              <a:pPr marL="0" indent="0" algn="l">
                <a:buNone/>
              </a:pPr>
              <a:r>
                <a:rPr lang="en-US" sz="1400" b="1" dirty="0">
                  <a:solidFill>
                    <a:srgbClr val="08325F"/>
                  </a:solidFill>
                  <a:latin typeface="Tahoma"/>
                  <a:ea typeface="Tahoma"/>
                  <a:cs typeface="Tahoma"/>
                </a:rPr>
                <a:t>Average reward</a:t>
              </a:r>
              <a:endParaRPr lang="en-US" sz="1400" dirty="0"/>
            </a:p>
          </p:txBody>
        </p:sp>
        <p:sp>
          <p:nvSpPr>
            <p:cNvPr id="45" name="Shape 45"/>
            <p:cNvSpPr txBox="1"/>
            <p:nvPr/>
          </p:nvSpPr>
          <p:spPr>
            <a:xfrm>
              <a:off x="7589520" y="3566160"/>
              <a:ext cx="1097280" cy="566928"/>
            </a:xfrm>
            <a:prstGeom prst="rect">
              <a:avLst/>
            </a:prstGeom>
            <a:noFill/>
            <a:ln>
              <a:noFill/>
            </a:ln>
          </p:spPr>
          <p:txBody>
            <a:bodyPr wrap="square" lIns="0" tIns="0" rIns="0" bIns="0" rtlCol="0" anchor="ctr">
              <a:noAutofit/>
            </a:bodyPr>
            <a:lstStyle/>
            <a:p>
              <a:pPr marL="0" indent="0" algn="ctr">
                <a:buNone/>
              </a:pPr>
              <a:r>
                <a:rPr lang="en-US" sz="1800" b="1" dirty="0">
                  <a:solidFill>
                    <a:srgbClr val="003E82"/>
                  </a:solidFill>
                  <a:latin typeface="Tahoma"/>
                  <a:ea typeface="Tahoma"/>
                  <a:cs typeface="Tahoma"/>
                </a:rPr>
                <a:t>101.42</a:t>
              </a:r>
              <a:endParaRPr lang="en-US" sz="1800" dirty="0"/>
            </a:p>
          </p:txBody>
        </p:sp>
        <p:sp>
          <p:nvSpPr>
            <p:cNvPr id="46" name="Shape 46"/>
            <p:cNvSpPr txBox="1"/>
            <p:nvPr/>
          </p:nvSpPr>
          <p:spPr>
            <a:xfrm>
              <a:off x="8915400" y="3566160"/>
              <a:ext cx="1097280" cy="566928"/>
            </a:xfrm>
            <a:prstGeom prst="rect">
              <a:avLst/>
            </a:prstGeom>
            <a:noFill/>
            <a:ln>
              <a:noFill/>
            </a:ln>
          </p:spPr>
          <p:txBody>
            <a:bodyPr wrap="square" lIns="0" tIns="0" rIns="0" bIns="0" rtlCol="0" anchor="ctr">
              <a:noAutofit/>
            </a:bodyPr>
            <a:lstStyle/>
            <a:p>
              <a:pPr marL="0" indent="0" algn="ctr">
                <a:buNone/>
              </a:pPr>
              <a:r>
                <a:rPr lang="en-US" sz="1800" b="1" dirty="0">
                  <a:solidFill>
                    <a:srgbClr val="003E82"/>
                  </a:solidFill>
                  <a:latin typeface="Tahoma"/>
                  <a:ea typeface="Tahoma"/>
                  <a:cs typeface="Tahoma"/>
                </a:rPr>
                <a:t>101.27</a:t>
              </a:r>
              <a:endParaRPr lang="en-US" sz="1800" dirty="0"/>
            </a:p>
          </p:txBody>
        </p:sp>
        <p:sp>
          <p:nvSpPr>
            <p:cNvPr id="47" name="Shape 47"/>
            <p:cNvSpPr txBox="1"/>
            <p:nvPr/>
          </p:nvSpPr>
          <p:spPr>
            <a:xfrm>
              <a:off x="10241280" y="3566160"/>
              <a:ext cx="1143000" cy="566928"/>
            </a:xfrm>
            <a:prstGeom prst="rect">
              <a:avLst/>
            </a:prstGeom>
            <a:noFill/>
            <a:ln>
              <a:noFill/>
            </a:ln>
          </p:spPr>
          <p:txBody>
            <a:bodyPr wrap="square" lIns="0" tIns="0" rIns="0" bIns="0" rtlCol="0" anchor="ctr">
              <a:noAutofit/>
            </a:bodyPr>
            <a:lstStyle/>
            <a:p>
              <a:pPr marL="0" indent="0" algn="ctr">
                <a:buNone/>
              </a:pPr>
              <a:r>
                <a:rPr lang="en-US" sz="1500" dirty="0">
                  <a:solidFill>
                    <a:srgbClr val="44546A"/>
                  </a:solidFill>
                  <a:latin typeface="Tahoma"/>
                  <a:ea typeface="Tahoma"/>
                  <a:cs typeface="Tahoma"/>
                </a:rPr>
                <a:t>0.826</a:t>
              </a:r>
              <a:endParaRPr lang="en-US" sz="1500" dirty="0"/>
            </a:p>
          </p:txBody>
        </p:sp>
      </p:grpSp>
      <p:sp>
        <p:nvSpPr>
          <p:cNvPr id="48" name="p note"/>
          <p:cNvSpPr txBox="1"/>
          <p:nvPr/>
        </p:nvSpPr>
        <p:spPr>
          <a:xfrm>
            <a:off x="4983480" y="4224528"/>
            <a:ext cx="6446520" cy="320040"/>
          </a:xfrm>
          <a:prstGeom prst="rect">
            <a:avLst/>
          </a:prstGeom>
          <a:noFill/>
          <a:ln>
            <a:noFill/>
          </a:ln>
        </p:spPr>
        <p:txBody>
          <a:bodyPr wrap="square" lIns="0" tIns="0" rIns="0" bIns="0" rtlCol="0" anchor="ctr">
            <a:noAutofit/>
          </a:bodyPr>
          <a:lstStyle/>
          <a:p>
            <a:pPr marL="0" indent="0" algn="l">
              <a:buNone/>
            </a:pPr>
            <a:r>
              <a:rPr lang="en-US" sz="1200" dirty="0">
                <a:solidFill>
                  <a:srgbClr val="66788A"/>
                </a:solidFill>
                <a:latin typeface="Tahoma"/>
                <a:ea typeface="Tahoma"/>
                <a:cs typeface="Tahoma"/>
              </a:rPr>
              <a:t>Both p-values are far above 0.05: no measurable difference</a:t>
            </a:r>
            <a:endParaRPr lang="en-US" sz="1200" dirty="0"/>
          </a:p>
        </p:txBody>
      </p:sp>
      <p:sp>
        <p:nvSpPr>
          <p:cNvPr id="49" name="Why"/>
          <p:cNvSpPr/>
          <p:nvPr/>
        </p:nvSpPr>
        <p:spPr>
          <a:xfrm>
            <a:off x="4983480" y="4681728"/>
            <a:ext cx="6446520" cy="1216152"/>
          </a:xfrm>
          <a:prstGeom prst="roundRect">
            <a:avLst>
              <a:gd name="adj" fmla="val 6766"/>
            </a:avLst>
          </a:prstGeom>
          <a:solidFill>
            <a:srgbClr val="003E82"/>
          </a:solidFill>
          <a:ln w="12700">
            <a:solidFill>
              <a:srgbClr val="003E82"/>
            </a:solidFill>
          </a:ln>
          <a:effectLst>
            <a:outerShdw blurRad="76200" dist="19050" dir="5400000" algn="t" rotWithShape="0">
              <a:srgbClr val="0A2E5C">
                <a:alpha val="13000"/>
              </a:srgbClr>
            </a:outerShdw>
          </a:effectLst>
        </p:spPr>
        <p:txBody>
          <a:bodyPr wrap="square" lIns="228600" tIns="73152" rIns="182880" bIns="73152" rtlCol="0" anchor="ctr">
            <a:noAutofit/>
          </a:bodyPr>
          <a:lstStyle/>
          <a:p>
            <a:pPr marL="0" indent="0" algn="l">
              <a:lnSpc>
                <a:spcPct val="102000"/>
              </a:lnSpc>
              <a:spcAft>
                <a:spcPts val="400"/>
              </a:spcAft>
              <a:buNone/>
            </a:pPr>
            <a:r>
              <a:rPr lang="en-US" sz="1300" dirty="0">
                <a:solidFill>
                  <a:srgbClr val="FFFFFF"/>
                </a:solidFill>
                <a:latin typeface="Tahoma"/>
                <a:ea typeface="Tahoma"/>
                <a:cs typeface="Tahoma"/>
              </a:rPr>
              <a:t>Why: the merge step, where a radio combines received values with its own, isn't connected yet, and both settings already solve the task.</a:t>
            </a:r>
            <a:endParaRPr lang="en-US" sz="1300" dirty="0"/>
          </a:p>
          <a:p>
            <a:pPr marL="0" indent="0" algn="l">
              <a:lnSpc>
                <a:spcPct val="102000"/>
              </a:lnSpc>
              <a:buNone/>
            </a:pPr>
            <a:r>
              <a:rPr lang="en-US" sz="1300" b="1" dirty="0">
                <a:solidFill>
                  <a:srgbClr val="F7B500"/>
                </a:solidFill>
                <a:latin typeface="Tahoma"/>
                <a:ea typeface="Tahoma"/>
                <a:cs typeface="Tahoma"/>
              </a:rPr>
              <a:t>→ The system works without gossip; this doesn't show gossip helps.</a:t>
            </a:r>
            <a:endParaRPr lang="en-US" sz="1300" dirty="0"/>
          </a:p>
        </p:txBody>
      </p:sp>
      <p:cxnSp>
        <p:nvCxnSpPr>
          <p:cNvPr id="50" name="Footer rule"/>
          <p:cNvCxnSpPr/>
          <p:nvPr/>
        </p:nvCxnSpPr>
        <p:spPr>
          <a:xfrm>
            <a:off x="502920" y="6199632"/>
            <a:ext cx="11155680" cy="0"/>
          </a:xfrm>
          <a:prstGeom prst="line">
            <a:avLst/>
          </a:prstGeom>
          <a:ln w="12700">
            <a:solidFill>
              <a:srgbClr val="003E82">
                <a:alpha val="25000"/>
              </a:srgbClr>
            </a:solidFill>
          </a:ln>
        </p:spPr>
      </p:cxnSp>
      <p:pic>
        <p:nvPicPr>
          <p:cNvPr id="51"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52"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53"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20</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nodeType="withEffect">
                                  <p:stCondLst>
                                    <p:cond delay="25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450"/>
                                        <p:tgtEl>
                                          <p:spTgt spid="36"/>
                                        </p:tgtEl>
                                      </p:cBhvr>
                                    </p:animEffect>
                                  </p:childTnLst>
                                </p:cTn>
                              </p:par>
                              <p:par>
                                <p:cTn id="11" presetID="10" presetClass="entr" presetSubtype="0" fill="hold" nodeType="withEffect">
                                  <p:stCondLst>
                                    <p:cond delay="50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450"/>
                                        <p:tgtEl>
                                          <p:spTgt spid="42"/>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450"/>
                                        <p:tgtEl>
                                          <p:spTgt spid="4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fade">
                                      <p:cBhvr>
                                        <p:cTn id="21"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Result 6">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The radio model is internally consistent</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Result 6 of 6  ·  Link delivery (PDR) vs distance from the channel model (paper Fig. 2)</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sp>
        <p:nvSpPr>
          <p:cNvPr id="6" name="Figure card"/>
          <p:cNvSpPr/>
          <p:nvPr/>
        </p:nvSpPr>
        <p:spPr>
          <a:xfrm>
            <a:off x="758952" y="1645920"/>
            <a:ext cx="6812280" cy="4315968"/>
          </a:xfrm>
          <a:prstGeom prst="roundRect">
            <a:avLst>
              <a:gd name="adj" fmla="val 1906"/>
            </a:avLst>
          </a:prstGeom>
          <a:solidFill>
            <a:srgbClr val="FFFFFF"/>
          </a:solidFill>
          <a:ln w="12700">
            <a:solidFill>
              <a:srgbClr val="D3EAF6"/>
            </a:solidFill>
          </a:ln>
          <a:effectLst>
            <a:outerShdw blurRad="76200" dist="19050" dir="5400000" algn="t" rotWithShape="0">
              <a:srgbClr val="0A2E5C">
                <a:alpha val="13000"/>
              </a:srgbClr>
            </a:outerShdw>
          </a:effectLst>
        </p:spPr>
      </p:sp>
      <p:pic>
        <p:nvPicPr>
          <p:cNvPr id="7" name="Paper Fig. 2" descr="Packet delivery ratio versus distance on a log scale for the five damage presets"/>
          <p:cNvPicPr>
            <a:picLocks noChangeAspect="1"/>
          </p:cNvPicPr>
          <p:nvPr/>
        </p:nvPicPr>
        <p:blipFill>
          <a:blip r:embed="rId4"/>
          <a:stretch>
            <a:fillRect/>
          </a:stretch>
        </p:blipFill>
        <p:spPr>
          <a:xfrm>
            <a:off x="896112" y="1737360"/>
            <a:ext cx="6537960" cy="4132067"/>
          </a:xfrm>
          <a:prstGeom prst="rect">
            <a:avLst/>
          </a:prstGeom>
        </p:spPr>
      </p:pic>
      <p:grpSp>
        <p:nvGrpSpPr>
          <p:cNvPr id="8" name="Half-way markers"/>
          <p:cNvGrpSpPr/>
          <p:nvPr/>
        </p:nvGrpSpPr>
        <p:grpSpPr>
          <a:xfrm>
            <a:off x="3021216" y="3344102"/>
            <a:ext cx="1633827" cy="804672"/>
            <a:chOff x="3021216" y="3344102"/>
            <a:chExt cx="1633827" cy="804672"/>
          </a:xfrm>
        </p:grpSpPr>
        <p:sp>
          <p:nvSpPr>
            <p:cNvPr id="9" name="Shape 9"/>
            <p:cNvSpPr/>
            <p:nvPr/>
          </p:nvSpPr>
          <p:spPr>
            <a:xfrm>
              <a:off x="3304680" y="3627566"/>
              <a:ext cx="201168" cy="201168"/>
            </a:xfrm>
            <a:prstGeom prst="ellipse">
              <a:avLst/>
            </a:prstGeom>
            <a:noFill/>
            <a:ln w="31750">
              <a:solidFill>
                <a:srgbClr val="08325F"/>
              </a:solidFill>
            </a:ln>
          </p:spPr>
        </p:sp>
        <p:sp>
          <p:nvSpPr>
            <p:cNvPr id="10" name="Shape 10"/>
            <p:cNvSpPr/>
            <p:nvPr/>
          </p:nvSpPr>
          <p:spPr>
            <a:xfrm>
              <a:off x="3021216" y="3344102"/>
              <a:ext cx="768096" cy="237744"/>
            </a:xfrm>
            <a:prstGeom prst="roundRect">
              <a:avLst>
                <a:gd name="adj" fmla="val 50000"/>
              </a:avLst>
            </a:prstGeom>
            <a:solidFill>
              <a:srgbClr val="08325F"/>
            </a:solidFill>
            <a:ln>
              <a:noFill/>
            </a:ln>
          </p:spPr>
          <p:txBody>
            <a:bodyPr wrap="square" lIns="0" tIns="0" rIns="0" bIns="0" rtlCol="0" anchor="ctr">
              <a:noAutofit/>
            </a:bodyPr>
            <a:lstStyle/>
            <a:p>
              <a:pPr marL="0" indent="0" algn="ctr">
                <a:buNone/>
              </a:pPr>
              <a:r>
                <a:rPr lang="en-US" sz="1000" b="1" dirty="0">
                  <a:solidFill>
                    <a:srgbClr val="FFFFFF"/>
                  </a:solidFill>
                  <a:latin typeface="Tahoma"/>
                  <a:ea typeface="Tahoma"/>
                  <a:cs typeface="Tahoma"/>
                </a:rPr>
                <a:t>≈640 m</a:t>
              </a:r>
              <a:endParaRPr lang="en-US" sz="1000" dirty="0"/>
            </a:p>
          </p:txBody>
        </p:sp>
        <p:sp>
          <p:nvSpPr>
            <p:cNvPr id="11" name="Shape 11"/>
            <p:cNvSpPr/>
            <p:nvPr/>
          </p:nvSpPr>
          <p:spPr>
            <a:xfrm>
              <a:off x="3668293" y="3627566"/>
              <a:ext cx="201168" cy="201168"/>
            </a:xfrm>
            <a:prstGeom prst="ellipse">
              <a:avLst/>
            </a:prstGeom>
            <a:noFill/>
            <a:ln w="31750">
              <a:solidFill>
                <a:srgbClr val="08325F"/>
              </a:solidFill>
            </a:ln>
          </p:spPr>
        </p:sp>
        <p:sp>
          <p:nvSpPr>
            <p:cNvPr id="12" name="Shape 12"/>
            <p:cNvSpPr/>
            <p:nvPr/>
          </p:nvSpPr>
          <p:spPr>
            <a:xfrm>
              <a:off x="3384829" y="3911030"/>
              <a:ext cx="768096" cy="237744"/>
            </a:xfrm>
            <a:prstGeom prst="roundRect">
              <a:avLst>
                <a:gd name="adj" fmla="val 50000"/>
              </a:avLst>
            </a:prstGeom>
            <a:solidFill>
              <a:srgbClr val="08325F"/>
            </a:solidFill>
            <a:ln>
              <a:noFill/>
            </a:ln>
          </p:spPr>
          <p:txBody>
            <a:bodyPr wrap="square" lIns="0" tIns="0" rIns="0" bIns="0" rtlCol="0" anchor="ctr">
              <a:noAutofit/>
            </a:bodyPr>
            <a:lstStyle/>
            <a:p>
              <a:pPr marL="0" indent="0" algn="ctr">
                <a:buNone/>
              </a:pPr>
              <a:r>
                <a:rPr lang="en-US" sz="1000" b="1" dirty="0">
                  <a:solidFill>
                    <a:srgbClr val="FFFFFF"/>
                  </a:solidFill>
                  <a:latin typeface="Tahoma"/>
                  <a:ea typeface="Tahoma"/>
                  <a:cs typeface="Tahoma"/>
                </a:rPr>
                <a:t>≈1 km</a:t>
              </a:r>
              <a:endParaRPr lang="en-US" sz="1000" dirty="0"/>
            </a:p>
          </p:txBody>
        </p:sp>
        <p:sp>
          <p:nvSpPr>
            <p:cNvPr id="13" name="Shape 13"/>
            <p:cNvSpPr/>
            <p:nvPr/>
          </p:nvSpPr>
          <p:spPr>
            <a:xfrm>
              <a:off x="4170410" y="3627566"/>
              <a:ext cx="201168" cy="201168"/>
            </a:xfrm>
            <a:prstGeom prst="ellipse">
              <a:avLst/>
            </a:prstGeom>
            <a:noFill/>
            <a:ln w="31750">
              <a:solidFill>
                <a:srgbClr val="08325F"/>
              </a:solidFill>
            </a:ln>
          </p:spPr>
        </p:sp>
        <p:sp>
          <p:nvSpPr>
            <p:cNvPr id="14" name="Shape 14"/>
            <p:cNvSpPr/>
            <p:nvPr/>
          </p:nvSpPr>
          <p:spPr>
            <a:xfrm>
              <a:off x="3886946" y="3344102"/>
              <a:ext cx="768096" cy="237744"/>
            </a:xfrm>
            <a:prstGeom prst="roundRect">
              <a:avLst>
                <a:gd name="adj" fmla="val 50000"/>
              </a:avLst>
            </a:prstGeom>
            <a:solidFill>
              <a:srgbClr val="08325F"/>
            </a:solidFill>
            <a:ln>
              <a:noFill/>
            </a:ln>
          </p:spPr>
          <p:txBody>
            <a:bodyPr wrap="square" lIns="0" tIns="0" rIns="0" bIns="0" rtlCol="0" anchor="ctr">
              <a:noAutofit/>
            </a:bodyPr>
            <a:lstStyle/>
            <a:p>
              <a:pPr marL="0" indent="0" algn="ctr">
                <a:buNone/>
              </a:pPr>
              <a:r>
                <a:rPr lang="en-US" sz="1000" b="1" dirty="0">
                  <a:solidFill>
                    <a:srgbClr val="FFFFFF"/>
                  </a:solidFill>
                  <a:latin typeface="Tahoma"/>
                  <a:ea typeface="Tahoma"/>
                  <a:cs typeface="Tahoma"/>
                </a:rPr>
                <a:t>≈2 km</a:t>
              </a:r>
              <a:endParaRPr lang="en-US" sz="1000" dirty="0"/>
            </a:p>
          </p:txBody>
        </p:sp>
      </p:grpSp>
      <p:sp>
        <p:nvSpPr>
          <p:cNvPr id="15" name="How to read"/>
          <p:cNvSpPr/>
          <p:nvPr/>
        </p:nvSpPr>
        <p:spPr>
          <a:xfrm>
            <a:off x="7818120" y="1645920"/>
            <a:ext cx="3611880" cy="896112"/>
          </a:xfrm>
          <a:prstGeom prst="roundRect">
            <a:avLst>
              <a:gd name="adj" fmla="val 9183"/>
            </a:avLst>
          </a:prstGeom>
          <a:solidFill>
            <a:srgbClr val="EAF7FF"/>
          </a:solidFill>
          <a:ln w="12700">
            <a:solidFill>
              <a:srgbClr val="C7EAFE"/>
            </a:solidFill>
          </a:ln>
        </p:spPr>
        <p:txBody>
          <a:bodyPr wrap="square" lIns="182880" tIns="45720" rIns="137160" bIns="45720" rtlCol="0" anchor="ctr">
            <a:noAutofit/>
          </a:bodyPr>
          <a:lstStyle/>
          <a:p>
            <a:pPr marL="0" indent="0" algn="l">
              <a:lnSpc>
                <a:spcPct val="102000"/>
              </a:lnSpc>
              <a:buNone/>
            </a:pPr>
            <a:r>
              <a:rPr lang="en-US" sz="1150" dirty="0">
                <a:solidFill>
                  <a:srgbClr val="44546A"/>
                </a:solidFill>
                <a:latin typeface="Tahoma"/>
                <a:ea typeface="Tahoma"/>
                <a:cs typeface="Tahoma"/>
              </a:rPr>
              <a:t>Log scale: each labelled gridline is 10× further. Shaded band: our mesh, 400 m to 1.5 km.</a:t>
            </a:r>
            <a:endParaRPr lang="en-US" sz="1150" dirty="0"/>
          </a:p>
        </p:txBody>
      </p:sp>
      <p:grpSp>
        <p:nvGrpSpPr>
          <p:cNvPr id="16" name="Half-way distances"/>
          <p:cNvGrpSpPr/>
          <p:nvPr/>
        </p:nvGrpSpPr>
        <p:grpSpPr>
          <a:xfrm>
            <a:off x="7818120" y="2679192"/>
            <a:ext cx="3611880" cy="1325880"/>
            <a:chOff x="7818120" y="2679192"/>
            <a:chExt cx="3611880" cy="1325880"/>
          </a:xfrm>
        </p:grpSpPr>
        <p:sp>
          <p:nvSpPr>
            <p:cNvPr id="17" name="Shape 17"/>
            <p:cNvSpPr/>
            <p:nvPr/>
          </p:nvSpPr>
          <p:spPr>
            <a:xfrm>
              <a:off x="7818120" y="2679192"/>
              <a:ext cx="3611880" cy="1325880"/>
            </a:xfrm>
            <a:prstGeom prst="roundRect">
              <a:avLst>
                <a:gd name="adj" fmla="val 6206"/>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8" name="Shape 18"/>
            <p:cNvSpPr txBox="1"/>
            <p:nvPr/>
          </p:nvSpPr>
          <p:spPr>
            <a:xfrm>
              <a:off x="8028432" y="2743200"/>
              <a:ext cx="3291840" cy="292608"/>
            </a:xfrm>
            <a:prstGeom prst="rect">
              <a:avLst/>
            </a:prstGeom>
            <a:noFill/>
            <a:ln>
              <a:noFill/>
            </a:ln>
          </p:spPr>
          <p:txBody>
            <a:bodyPr wrap="square" lIns="0" tIns="0" rIns="0" bIns="0" rtlCol="0" anchor="ctr">
              <a:noAutofit/>
            </a:bodyPr>
            <a:lstStyle/>
            <a:p>
              <a:pPr marL="0" indent="0" algn="l">
                <a:buNone/>
              </a:pPr>
              <a:r>
                <a:rPr lang="en-US" sz="1200" b="1" dirty="0">
                  <a:solidFill>
                    <a:srgbClr val="66788A"/>
                  </a:solidFill>
                  <a:latin typeface="Tahoma"/>
                  <a:ea typeface="Tahoma"/>
                  <a:cs typeface="Tahoma"/>
                </a:rPr>
                <a:t>A link works half the time at</a:t>
              </a:r>
              <a:endParaRPr lang="en-US" sz="1200" dirty="0"/>
            </a:p>
          </p:txBody>
        </p:sp>
        <p:sp>
          <p:nvSpPr>
            <p:cNvPr id="19" name="Shape 19"/>
            <p:cNvSpPr/>
            <p:nvPr/>
          </p:nvSpPr>
          <p:spPr>
            <a:xfrm>
              <a:off x="8069580" y="3131820"/>
              <a:ext cx="137160" cy="137160"/>
            </a:xfrm>
            <a:prstGeom prst="ellipse">
              <a:avLst/>
            </a:prstGeom>
            <a:solidFill>
              <a:srgbClr val="E6B422"/>
            </a:solidFill>
            <a:ln>
              <a:noFill/>
            </a:ln>
          </p:spPr>
        </p:sp>
        <p:sp>
          <p:nvSpPr>
            <p:cNvPr id="20" name="Shape 20"/>
            <p:cNvSpPr txBox="1"/>
            <p:nvPr/>
          </p:nvSpPr>
          <p:spPr>
            <a:xfrm>
              <a:off x="8321040" y="3072384"/>
              <a:ext cx="2926080" cy="256032"/>
            </a:xfrm>
            <a:prstGeom prst="rect">
              <a:avLst/>
            </a:prstGeom>
            <a:noFill/>
            <a:ln>
              <a:noFill/>
            </a:ln>
          </p:spPr>
          <p:txBody>
            <a:bodyPr wrap="square" lIns="0" tIns="0" rIns="0" bIns="0" rtlCol="0" anchor="ctr">
              <a:noAutofit/>
            </a:bodyPr>
            <a:lstStyle/>
            <a:p>
              <a:pPr marL="0" indent="0" algn="l">
                <a:buNone/>
              </a:pPr>
              <a:r>
                <a:rPr lang="en-US" sz="1300" dirty="0">
                  <a:solidFill>
                    <a:srgbClr val="08325F"/>
                  </a:solidFill>
                  <a:latin typeface="Tahoma"/>
                  <a:ea typeface="Tahoma"/>
                  <a:cs typeface="Tahoma"/>
                </a:rPr>
                <a:t>heavy  </a:t>
              </a:r>
              <a:r>
                <a:rPr lang="en-US" sz="1300" b="1" dirty="0">
                  <a:solidFill>
                    <a:srgbClr val="08325F"/>
                  </a:solidFill>
                  <a:latin typeface="Tahoma"/>
                  <a:ea typeface="Tahoma"/>
                  <a:cs typeface="Tahoma"/>
                </a:rPr>
                <a:t>≈2 km</a:t>
              </a:r>
              <a:endParaRPr lang="en-US" sz="1300" dirty="0"/>
            </a:p>
          </p:txBody>
        </p:sp>
        <p:sp>
          <p:nvSpPr>
            <p:cNvPr id="21" name="Shape 21"/>
            <p:cNvSpPr/>
            <p:nvPr/>
          </p:nvSpPr>
          <p:spPr>
            <a:xfrm>
              <a:off x="8069580" y="3396996"/>
              <a:ext cx="137160" cy="137160"/>
            </a:xfrm>
            <a:prstGeom prst="ellipse">
              <a:avLst/>
            </a:prstGeom>
            <a:solidFill>
              <a:srgbClr val="F46D43"/>
            </a:solidFill>
            <a:ln>
              <a:noFill/>
            </a:ln>
          </p:spPr>
        </p:sp>
        <p:sp>
          <p:nvSpPr>
            <p:cNvPr id="22" name="Shape 22"/>
            <p:cNvSpPr txBox="1"/>
            <p:nvPr/>
          </p:nvSpPr>
          <p:spPr>
            <a:xfrm>
              <a:off x="8321040" y="3337560"/>
              <a:ext cx="2926080" cy="256032"/>
            </a:xfrm>
            <a:prstGeom prst="rect">
              <a:avLst/>
            </a:prstGeom>
            <a:noFill/>
            <a:ln>
              <a:noFill/>
            </a:ln>
          </p:spPr>
          <p:txBody>
            <a:bodyPr wrap="square" lIns="0" tIns="0" rIns="0" bIns="0" rtlCol="0" anchor="ctr">
              <a:noAutofit/>
            </a:bodyPr>
            <a:lstStyle/>
            <a:p>
              <a:pPr marL="0" indent="0" algn="l">
                <a:buNone/>
              </a:pPr>
              <a:r>
                <a:rPr lang="en-US" sz="1300" dirty="0">
                  <a:solidFill>
                    <a:srgbClr val="08325F"/>
                  </a:solidFill>
                  <a:latin typeface="Tahoma"/>
                  <a:ea typeface="Tahoma"/>
                  <a:cs typeface="Tahoma"/>
                </a:rPr>
                <a:t>severe  </a:t>
              </a:r>
              <a:r>
                <a:rPr lang="en-US" sz="1300" b="1" dirty="0">
                  <a:solidFill>
                    <a:srgbClr val="08325F"/>
                  </a:solidFill>
                  <a:latin typeface="Tahoma"/>
                  <a:ea typeface="Tahoma"/>
                  <a:cs typeface="Tahoma"/>
                </a:rPr>
                <a:t>≈1 km</a:t>
              </a:r>
              <a:endParaRPr lang="en-US" sz="1300" dirty="0"/>
            </a:p>
          </p:txBody>
        </p:sp>
        <p:sp>
          <p:nvSpPr>
            <p:cNvPr id="23" name="Shape 23"/>
            <p:cNvSpPr/>
            <p:nvPr/>
          </p:nvSpPr>
          <p:spPr>
            <a:xfrm>
              <a:off x="8069580" y="3662172"/>
              <a:ext cx="137160" cy="137160"/>
            </a:xfrm>
            <a:prstGeom prst="ellipse">
              <a:avLst/>
            </a:prstGeom>
            <a:solidFill>
              <a:srgbClr val="D73027"/>
            </a:solidFill>
            <a:ln>
              <a:noFill/>
            </a:ln>
          </p:spPr>
        </p:sp>
        <p:sp>
          <p:nvSpPr>
            <p:cNvPr id="24" name="Shape 24"/>
            <p:cNvSpPr txBox="1"/>
            <p:nvPr/>
          </p:nvSpPr>
          <p:spPr>
            <a:xfrm>
              <a:off x="8321040" y="3602736"/>
              <a:ext cx="2926080" cy="256032"/>
            </a:xfrm>
            <a:prstGeom prst="rect">
              <a:avLst/>
            </a:prstGeom>
            <a:noFill/>
            <a:ln>
              <a:noFill/>
            </a:ln>
          </p:spPr>
          <p:txBody>
            <a:bodyPr wrap="square" lIns="0" tIns="0" rIns="0" bIns="0" rtlCol="0" anchor="ctr">
              <a:noAutofit/>
            </a:bodyPr>
            <a:lstStyle/>
            <a:p>
              <a:pPr marL="0" indent="0" algn="l">
                <a:buNone/>
              </a:pPr>
              <a:r>
                <a:rPr lang="en-US" sz="1300" dirty="0">
                  <a:solidFill>
                    <a:srgbClr val="08325F"/>
                  </a:solidFill>
                  <a:latin typeface="Tahoma"/>
                  <a:ea typeface="Tahoma"/>
                  <a:cs typeface="Tahoma"/>
                </a:rPr>
                <a:t>extreme  </a:t>
              </a:r>
              <a:r>
                <a:rPr lang="en-US" sz="1300" b="1" dirty="0">
                  <a:solidFill>
                    <a:srgbClr val="08325F"/>
                  </a:solidFill>
                  <a:latin typeface="Tahoma"/>
                  <a:ea typeface="Tahoma"/>
                  <a:cs typeface="Tahoma"/>
                </a:rPr>
                <a:t>≈640 m</a:t>
              </a:r>
              <a:endParaRPr lang="en-US" sz="1300" dirty="0"/>
            </a:p>
          </p:txBody>
        </p:sp>
      </p:grpSp>
      <p:sp>
        <p:nvSpPr>
          <p:cNvPr id="25" name="At 1.5 km"/>
          <p:cNvSpPr/>
          <p:nvPr/>
        </p:nvSpPr>
        <p:spPr>
          <a:xfrm>
            <a:off x="7818120" y="4114800"/>
            <a:ext cx="3611880" cy="749808"/>
          </a:xfrm>
          <a:prstGeom prst="roundRect">
            <a:avLst>
              <a:gd name="adj" fmla="val 10975"/>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01168" tIns="45720" rIns="137160" bIns="45720" rtlCol="0" anchor="ctr">
            <a:noAutofit/>
          </a:bodyPr>
          <a:lstStyle/>
          <a:p>
            <a:pPr marL="0" indent="0" algn="l">
              <a:lnSpc>
                <a:spcPct val="100000"/>
              </a:lnSpc>
              <a:buNone/>
            </a:pPr>
            <a:r>
              <a:rPr lang="en-US" sz="1400" b="1" dirty="0">
                <a:solidFill>
                  <a:srgbClr val="08325F"/>
                </a:solidFill>
                <a:latin typeface="Tahoma"/>
                <a:ea typeface="Tahoma"/>
                <a:cs typeface="Tahoma"/>
              </a:rPr>
              <a:t>At 1.5 km: 66% · 29% · 11%</a:t>
            </a:r>
            <a:endParaRPr lang="en-US" sz="1400" dirty="0"/>
          </a:p>
          <a:p>
            <a:pPr marL="0" indent="0" algn="l">
              <a:lnSpc>
                <a:spcPct val="100000"/>
              </a:lnSpc>
              <a:buNone/>
            </a:pPr>
            <a:r>
              <a:rPr lang="en-US" sz="1100" dirty="0">
                <a:solidFill>
                  <a:srgbClr val="66788A"/>
                </a:solidFill>
                <a:latin typeface="Tahoma"/>
                <a:ea typeface="Tahoma"/>
                <a:cs typeface="Tahoma"/>
              </a:rPr>
              <a:t>heavy · severe · extreme</a:t>
            </a:r>
            <a:endParaRPr lang="en-US" sz="1100" dirty="0"/>
          </a:p>
        </p:txBody>
      </p:sp>
      <p:sp>
        <p:nvSpPr>
          <p:cNvPr id="26" name="At 400 m"/>
          <p:cNvSpPr/>
          <p:nvPr/>
        </p:nvSpPr>
        <p:spPr>
          <a:xfrm>
            <a:off x="7818120" y="4965192"/>
            <a:ext cx="3611880" cy="438912"/>
          </a:xfrm>
          <a:prstGeom prst="roundRect">
            <a:avLst>
              <a:gd name="adj" fmla="val 18750"/>
            </a:avLst>
          </a:prstGeom>
          <a:solidFill>
            <a:srgbClr val="FFFFFF"/>
          </a:solidFill>
          <a:ln w="12700">
            <a:solidFill>
              <a:srgbClr val="D3EAF6"/>
            </a:solidFill>
          </a:ln>
          <a:effectLst>
            <a:outerShdw blurRad="76200" dist="19050" dir="5400000" algn="t" rotWithShape="0">
              <a:srgbClr val="0A2E5C">
                <a:alpha val="13000"/>
              </a:srgbClr>
            </a:outerShdw>
          </a:effectLst>
        </p:spPr>
        <p:txBody>
          <a:bodyPr wrap="square" lIns="201168" tIns="0" rIns="137160" bIns="0" rtlCol="0" anchor="ctr">
            <a:noAutofit/>
          </a:bodyPr>
          <a:lstStyle/>
          <a:p>
            <a:pPr marL="0" indent="0" algn="l">
              <a:buNone/>
            </a:pPr>
            <a:r>
              <a:rPr lang="en-US" sz="1300" b="1" dirty="0">
                <a:solidFill>
                  <a:srgbClr val="08325F"/>
                </a:solidFill>
                <a:latin typeface="Tahoma"/>
                <a:ea typeface="Tahoma"/>
                <a:cs typeface="Tahoma"/>
              </a:rPr>
              <a:t>At 400 m: above 73% at every level</a:t>
            </a:r>
            <a:endParaRPr lang="en-US" sz="1300" dirty="0"/>
          </a:p>
        </p:txBody>
      </p:sp>
      <p:sp>
        <p:nvSpPr>
          <p:cNvPr id="27" name="Consistency"/>
          <p:cNvSpPr/>
          <p:nvPr/>
        </p:nvSpPr>
        <p:spPr>
          <a:xfrm>
            <a:off x="7818120" y="5486400"/>
            <a:ext cx="3611880" cy="475488"/>
          </a:xfrm>
          <a:prstGeom prst="roundRect">
            <a:avLst>
              <a:gd name="adj" fmla="val 17307"/>
            </a:avLst>
          </a:prstGeom>
          <a:solidFill>
            <a:srgbClr val="003E82"/>
          </a:solidFill>
          <a:ln w="12700">
            <a:solidFill>
              <a:srgbClr val="003E82"/>
            </a:solidFill>
          </a:ln>
          <a:effectLst>
            <a:outerShdw blurRad="76200" dist="19050" dir="5400000" algn="t" rotWithShape="0">
              <a:srgbClr val="0A2E5C">
                <a:alpha val="13000"/>
              </a:srgbClr>
            </a:outerShdw>
          </a:effectLst>
        </p:spPr>
        <p:txBody>
          <a:bodyPr wrap="square" lIns="182880" tIns="0" rIns="109728" bIns="0" rtlCol="0" anchor="ctr">
            <a:noAutofit/>
          </a:bodyPr>
          <a:lstStyle/>
          <a:p>
            <a:pPr marL="0" indent="0" algn="l">
              <a:lnSpc>
                <a:spcPct val="100000"/>
              </a:lnSpc>
              <a:buNone/>
            </a:pPr>
            <a:r>
              <a:rPr lang="en-US" sz="1150" b="1" dirty="0">
                <a:solidFill>
                  <a:srgbClr val="FFFFFF"/>
                </a:solidFill>
                <a:latin typeface="Tahoma"/>
                <a:ea typeface="Tahoma"/>
                <a:cs typeface="Tahoma"/>
              </a:rPr>
              <a:t>Internal consistency, not agreement with real radios</a:t>
            </a:r>
            <a:endParaRPr lang="en-US" sz="1150" dirty="0"/>
          </a:p>
        </p:txBody>
      </p:sp>
      <p:cxnSp>
        <p:nvCxnSpPr>
          <p:cNvPr id="28" name="Footer rule"/>
          <p:cNvCxnSpPr/>
          <p:nvPr/>
        </p:nvCxnSpPr>
        <p:spPr>
          <a:xfrm>
            <a:off x="502920" y="6199632"/>
            <a:ext cx="11155680" cy="0"/>
          </a:xfrm>
          <a:prstGeom prst="line">
            <a:avLst/>
          </a:prstGeom>
          <a:ln w="12700">
            <a:solidFill>
              <a:srgbClr val="003E82">
                <a:alpha val="25000"/>
              </a:srgbClr>
            </a:solidFill>
          </a:ln>
        </p:spPr>
      </p:cxnSp>
      <p:pic>
        <p:nvPicPr>
          <p:cNvPr id="29" name="HTC 2026 logo" descr="IEEE R10 HTC 2026 logo"/>
          <p:cNvPicPr>
            <a:picLocks noChangeAspect="1"/>
          </p:cNvPicPr>
          <p:nvPr/>
        </p:nvPicPr>
        <p:blipFill>
          <a:blip r:embed="rId5"/>
          <a:stretch>
            <a:fillRect/>
          </a:stretch>
        </p:blipFill>
        <p:spPr>
          <a:xfrm>
            <a:off x="724845" y="6291072"/>
            <a:ext cx="790682" cy="411480"/>
          </a:xfrm>
          <a:prstGeom prst="rect">
            <a:avLst/>
          </a:prstGeom>
        </p:spPr>
      </p:pic>
      <p:sp>
        <p:nvSpPr>
          <p:cNvPr id="30"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1"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21</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5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45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5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Limitations">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Limitations</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What the results do, and don't, show</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grpSp>
        <p:nvGrpSpPr>
          <p:cNvPr id="6" name="Limitation 1"/>
          <p:cNvGrpSpPr/>
          <p:nvPr/>
        </p:nvGrpSpPr>
        <p:grpSpPr>
          <a:xfrm>
            <a:off x="758952" y="1691640"/>
            <a:ext cx="10671048" cy="722376"/>
            <a:chOff x="758952" y="1691640"/>
            <a:chExt cx="10671048" cy="722376"/>
          </a:xfrm>
        </p:grpSpPr>
        <p:sp>
          <p:nvSpPr>
            <p:cNvPr id="7" name="Shape 7"/>
            <p:cNvSpPr/>
            <p:nvPr/>
          </p:nvSpPr>
          <p:spPr>
            <a:xfrm>
              <a:off x="758952" y="1691640"/>
              <a:ext cx="10671048" cy="722376"/>
            </a:xfrm>
            <a:prstGeom prst="roundRect">
              <a:avLst>
                <a:gd name="adj" fmla="val 886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8" name="Badge 1"/>
            <p:cNvSpPr/>
            <p:nvPr/>
          </p:nvSpPr>
          <p:spPr>
            <a:xfrm>
              <a:off x="932688" y="1824228"/>
              <a:ext cx="457200" cy="457200"/>
            </a:xfrm>
            <a:prstGeom prst="ellipse">
              <a:avLst/>
            </a:prstGeom>
            <a:solidFill>
              <a:srgbClr val="FF9100"/>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1</a:t>
              </a:r>
              <a:endParaRPr lang="en-US" sz="1300" dirty="0"/>
            </a:p>
          </p:txBody>
        </p:sp>
        <p:sp>
          <p:nvSpPr>
            <p:cNvPr id="9" name="Shape 9"/>
            <p:cNvSpPr txBox="1"/>
            <p:nvPr/>
          </p:nvSpPr>
          <p:spPr>
            <a:xfrm>
              <a:off x="1600200" y="1691640"/>
              <a:ext cx="2834640" cy="722376"/>
            </a:xfrm>
            <a:prstGeom prst="rect">
              <a:avLst/>
            </a:prstGeom>
            <a:noFill/>
            <a:ln>
              <a:noFill/>
            </a:ln>
          </p:spPr>
          <p:txBody>
            <a:bodyPr wrap="square" lIns="0" tIns="0" rIns="0" bIns="0" rtlCol="0" anchor="ctr">
              <a:noAutofit/>
            </a:bodyPr>
            <a:lstStyle/>
            <a:p>
              <a:pPr marL="0" indent="0" algn="l">
                <a:buNone/>
              </a:pPr>
              <a:r>
                <a:rPr lang="en-US" sz="1550" b="1" dirty="0">
                  <a:solidFill>
                    <a:srgbClr val="08325F"/>
                  </a:solidFill>
                  <a:latin typeface="Tahoma"/>
                  <a:ea typeface="Tahoma"/>
                  <a:cs typeface="Tahoma"/>
                </a:rPr>
                <a:t>Simulation only</a:t>
              </a:r>
              <a:endParaRPr lang="en-US" sz="1550" dirty="0"/>
            </a:p>
          </p:txBody>
        </p:sp>
        <p:sp>
          <p:nvSpPr>
            <p:cNvPr id="10" name="Shape 10"/>
            <p:cNvSpPr txBox="1"/>
            <p:nvPr/>
          </p:nvSpPr>
          <p:spPr>
            <a:xfrm>
              <a:off x="4480560" y="1691640"/>
              <a:ext cx="6766560" cy="722376"/>
            </a:xfrm>
            <a:prstGeom prst="rect">
              <a:avLst/>
            </a:prstGeom>
            <a:noFill/>
            <a:ln>
              <a:noFill/>
            </a:ln>
          </p:spPr>
          <p:txBody>
            <a:bodyPr wrap="square" lIns="0" tIns="0" rIns="0" bIns="0" rtlCol="0" anchor="ctr">
              <a:noAutofit/>
            </a:bodyPr>
            <a:lstStyle/>
            <a:p>
              <a:pPr marL="0" indent="0" algn="l">
                <a:lnSpc>
                  <a:spcPct val="100000"/>
                </a:lnSpc>
                <a:buNone/>
              </a:pPr>
              <a:r>
                <a:rPr lang="en-US" sz="1350" dirty="0">
                  <a:solidFill>
                    <a:srgbClr val="44546A"/>
                  </a:solidFill>
                  <a:latin typeface="Tahoma"/>
                  <a:ea typeface="Tahoma"/>
                  <a:cs typeface="Tahoma"/>
                </a:rPr>
                <a:t>No hardware validation yet: read every result as a simulation finding</a:t>
              </a:r>
              <a:endParaRPr lang="en-US" sz="1350" dirty="0"/>
            </a:p>
          </p:txBody>
        </p:sp>
      </p:grpSp>
      <p:grpSp>
        <p:nvGrpSpPr>
          <p:cNvPr id="11" name="Limitation 2"/>
          <p:cNvGrpSpPr/>
          <p:nvPr/>
        </p:nvGrpSpPr>
        <p:grpSpPr>
          <a:xfrm>
            <a:off x="758952" y="2523744"/>
            <a:ext cx="10671048" cy="722376"/>
            <a:chOff x="758952" y="2523744"/>
            <a:chExt cx="10671048" cy="722376"/>
          </a:xfrm>
        </p:grpSpPr>
        <p:sp>
          <p:nvSpPr>
            <p:cNvPr id="12" name="Shape 12"/>
            <p:cNvSpPr/>
            <p:nvPr/>
          </p:nvSpPr>
          <p:spPr>
            <a:xfrm>
              <a:off x="758952" y="2523744"/>
              <a:ext cx="10671048" cy="722376"/>
            </a:xfrm>
            <a:prstGeom prst="roundRect">
              <a:avLst>
                <a:gd name="adj" fmla="val 886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3" name="Badge 2"/>
            <p:cNvSpPr/>
            <p:nvPr/>
          </p:nvSpPr>
          <p:spPr>
            <a:xfrm>
              <a:off x="932688" y="2656332"/>
              <a:ext cx="457200" cy="457200"/>
            </a:xfrm>
            <a:prstGeom prst="ellipse">
              <a:avLst/>
            </a:prstGeom>
            <a:solidFill>
              <a:srgbClr val="FF9100"/>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2</a:t>
              </a:r>
              <a:endParaRPr lang="en-US" sz="1300" dirty="0"/>
            </a:p>
          </p:txBody>
        </p:sp>
        <p:sp>
          <p:nvSpPr>
            <p:cNvPr id="14" name="Shape 14"/>
            <p:cNvSpPr txBox="1"/>
            <p:nvPr/>
          </p:nvSpPr>
          <p:spPr>
            <a:xfrm>
              <a:off x="1600200" y="2523744"/>
              <a:ext cx="2834640" cy="722376"/>
            </a:xfrm>
            <a:prstGeom prst="rect">
              <a:avLst/>
            </a:prstGeom>
            <a:noFill/>
            <a:ln>
              <a:noFill/>
            </a:ln>
          </p:spPr>
          <p:txBody>
            <a:bodyPr wrap="square" lIns="0" tIns="0" rIns="0" bIns="0" rtlCol="0" anchor="ctr">
              <a:noAutofit/>
            </a:bodyPr>
            <a:lstStyle/>
            <a:p>
              <a:pPr marL="0" indent="0" algn="l">
                <a:buNone/>
              </a:pPr>
              <a:r>
                <a:rPr lang="en-US" sz="1550" b="1" dirty="0">
                  <a:solidFill>
                    <a:srgbClr val="08325F"/>
                  </a:solidFill>
                  <a:latin typeface="Tahoma"/>
                  <a:ea typeface="Tahoma"/>
                  <a:cs typeface="Tahoma"/>
                </a:rPr>
                <a:t>Radio airtime</a:t>
              </a:r>
              <a:endParaRPr lang="en-US" sz="1550" dirty="0"/>
            </a:p>
          </p:txBody>
        </p:sp>
        <p:sp>
          <p:nvSpPr>
            <p:cNvPr id="15" name="Shape 15"/>
            <p:cNvSpPr txBox="1"/>
            <p:nvPr/>
          </p:nvSpPr>
          <p:spPr>
            <a:xfrm>
              <a:off x="4480560" y="2523744"/>
              <a:ext cx="6766560" cy="722376"/>
            </a:xfrm>
            <a:prstGeom prst="rect">
              <a:avLst/>
            </a:prstGeom>
            <a:noFill/>
            <a:ln>
              <a:noFill/>
            </a:ln>
          </p:spPr>
          <p:txBody>
            <a:bodyPr wrap="square" lIns="0" tIns="0" rIns="0" bIns="0" rtlCol="0" anchor="ctr">
              <a:noAutofit/>
            </a:bodyPr>
            <a:lstStyle/>
            <a:p>
              <a:pPr marL="0" indent="0" algn="l">
                <a:lnSpc>
                  <a:spcPct val="100000"/>
                </a:lnSpc>
                <a:buNone/>
              </a:pPr>
              <a:r>
                <a:rPr lang="en-US" sz="1350" dirty="0">
                  <a:solidFill>
                    <a:srgbClr val="44546A"/>
                  </a:solidFill>
                  <a:latin typeface="Tahoma"/>
                  <a:ea typeface="Tahoma"/>
                  <a:cs typeface="Tahoma"/>
                </a:rPr>
                <a:t>30 s beacons at SF12 ≈ 4.4% channel occupancy per node; a compliant schedule could shift beacon-dependent results</a:t>
              </a:r>
              <a:endParaRPr lang="en-US" sz="1350" dirty="0"/>
            </a:p>
          </p:txBody>
        </p:sp>
      </p:grpSp>
      <p:grpSp>
        <p:nvGrpSpPr>
          <p:cNvPr id="16" name="Limitation 3"/>
          <p:cNvGrpSpPr/>
          <p:nvPr/>
        </p:nvGrpSpPr>
        <p:grpSpPr>
          <a:xfrm>
            <a:off x="758952" y="3355848"/>
            <a:ext cx="10671048" cy="722376"/>
            <a:chOff x="758952" y="3355848"/>
            <a:chExt cx="10671048" cy="722376"/>
          </a:xfrm>
        </p:grpSpPr>
        <p:sp>
          <p:nvSpPr>
            <p:cNvPr id="17" name="Shape 17"/>
            <p:cNvSpPr/>
            <p:nvPr/>
          </p:nvSpPr>
          <p:spPr>
            <a:xfrm>
              <a:off x="758952" y="3355848"/>
              <a:ext cx="10671048" cy="722376"/>
            </a:xfrm>
            <a:prstGeom prst="roundRect">
              <a:avLst>
                <a:gd name="adj" fmla="val 886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8" name="Badge 3"/>
            <p:cNvSpPr/>
            <p:nvPr/>
          </p:nvSpPr>
          <p:spPr>
            <a:xfrm>
              <a:off x="932688" y="3488436"/>
              <a:ext cx="457200" cy="457200"/>
            </a:xfrm>
            <a:prstGeom prst="ellipse">
              <a:avLst/>
            </a:prstGeom>
            <a:solidFill>
              <a:srgbClr val="FF9100"/>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3</a:t>
              </a:r>
              <a:endParaRPr lang="en-US" sz="1300" dirty="0"/>
            </a:p>
          </p:txBody>
        </p:sp>
        <p:sp>
          <p:nvSpPr>
            <p:cNvPr id="19" name="Shape 19"/>
            <p:cNvSpPr txBox="1"/>
            <p:nvPr/>
          </p:nvSpPr>
          <p:spPr>
            <a:xfrm>
              <a:off x="1600200" y="3355848"/>
              <a:ext cx="2834640" cy="722376"/>
            </a:xfrm>
            <a:prstGeom prst="rect">
              <a:avLst/>
            </a:prstGeom>
            <a:noFill/>
            <a:ln>
              <a:noFill/>
            </a:ln>
          </p:spPr>
          <p:txBody>
            <a:bodyPr wrap="square" lIns="0" tIns="0" rIns="0" bIns="0" rtlCol="0" anchor="ctr">
              <a:noAutofit/>
            </a:bodyPr>
            <a:lstStyle/>
            <a:p>
              <a:pPr marL="0" indent="0" algn="l">
                <a:buNone/>
              </a:pPr>
              <a:r>
                <a:rPr lang="en-US" sz="1550" b="1" dirty="0">
                  <a:solidFill>
                    <a:srgbClr val="08325F"/>
                  </a:solidFill>
                  <a:latin typeface="Tahoma"/>
                  <a:ea typeface="Tahoma"/>
                  <a:cs typeface="Tahoma"/>
                </a:rPr>
                <a:t>RL is exploratory</a:t>
              </a:r>
              <a:endParaRPr lang="en-US" sz="1550" dirty="0"/>
            </a:p>
          </p:txBody>
        </p:sp>
        <p:sp>
          <p:nvSpPr>
            <p:cNvPr id="20" name="Shape 20"/>
            <p:cNvSpPr txBox="1"/>
            <p:nvPr/>
          </p:nvSpPr>
          <p:spPr>
            <a:xfrm>
              <a:off x="4480560" y="3355848"/>
              <a:ext cx="6766560" cy="722376"/>
            </a:xfrm>
            <a:prstGeom prst="rect">
              <a:avLst/>
            </a:prstGeom>
            <a:noFill/>
            <a:ln>
              <a:noFill/>
            </a:ln>
          </p:spPr>
          <p:txBody>
            <a:bodyPr wrap="square" lIns="0" tIns="0" rIns="0" bIns="0" rtlCol="0" anchor="ctr">
              <a:noAutofit/>
            </a:bodyPr>
            <a:lstStyle/>
            <a:p>
              <a:pPr marL="0" indent="0" algn="l">
                <a:lnSpc>
                  <a:spcPct val="100000"/>
                </a:lnSpc>
                <a:buNone/>
              </a:pPr>
              <a:r>
                <a:rPr lang="en-US" sz="1350" dirty="0">
                  <a:solidFill>
                    <a:srgbClr val="44546A"/>
                  </a:solidFill>
                  <a:latin typeface="Tahoma"/>
                  <a:ea typeface="Tahoma"/>
                  <a:cs typeface="Tahoma"/>
                </a:rPr>
                <a:t>The 8-neighbour action space causes the livelock; value estimates were inconsistent across the 3 training runs</a:t>
              </a:r>
              <a:endParaRPr lang="en-US" sz="1350" dirty="0"/>
            </a:p>
          </p:txBody>
        </p:sp>
      </p:grpSp>
      <p:grpSp>
        <p:nvGrpSpPr>
          <p:cNvPr id="21" name="Limitation 4"/>
          <p:cNvGrpSpPr/>
          <p:nvPr/>
        </p:nvGrpSpPr>
        <p:grpSpPr>
          <a:xfrm>
            <a:off x="758952" y="4187952"/>
            <a:ext cx="10671048" cy="722376"/>
            <a:chOff x="758952" y="4187952"/>
            <a:chExt cx="10671048" cy="722376"/>
          </a:xfrm>
        </p:grpSpPr>
        <p:sp>
          <p:nvSpPr>
            <p:cNvPr id="22" name="Shape 22"/>
            <p:cNvSpPr/>
            <p:nvPr/>
          </p:nvSpPr>
          <p:spPr>
            <a:xfrm>
              <a:off x="758952" y="4187952"/>
              <a:ext cx="10671048" cy="722376"/>
            </a:xfrm>
            <a:prstGeom prst="roundRect">
              <a:avLst>
                <a:gd name="adj" fmla="val 886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3" name="Badge 4"/>
            <p:cNvSpPr/>
            <p:nvPr/>
          </p:nvSpPr>
          <p:spPr>
            <a:xfrm>
              <a:off x="932688" y="4320540"/>
              <a:ext cx="457200" cy="457200"/>
            </a:xfrm>
            <a:prstGeom prst="ellipse">
              <a:avLst/>
            </a:prstGeom>
            <a:solidFill>
              <a:srgbClr val="FF9100"/>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4</a:t>
              </a:r>
              <a:endParaRPr lang="en-US" sz="1300" dirty="0"/>
            </a:p>
          </p:txBody>
        </p:sp>
        <p:sp>
          <p:nvSpPr>
            <p:cNvPr id="24" name="Shape 24"/>
            <p:cNvSpPr txBox="1"/>
            <p:nvPr/>
          </p:nvSpPr>
          <p:spPr>
            <a:xfrm>
              <a:off x="1600200" y="4187952"/>
              <a:ext cx="2834640" cy="722376"/>
            </a:xfrm>
            <a:prstGeom prst="rect">
              <a:avLst/>
            </a:prstGeom>
            <a:noFill/>
            <a:ln>
              <a:noFill/>
            </a:ln>
          </p:spPr>
          <p:txBody>
            <a:bodyPr wrap="square" lIns="0" tIns="0" rIns="0" bIns="0" rtlCol="0" anchor="ctr">
              <a:noAutofit/>
            </a:bodyPr>
            <a:lstStyle/>
            <a:p>
              <a:pPr marL="0" indent="0" algn="l">
                <a:buNone/>
              </a:pPr>
              <a:r>
                <a:rPr lang="en-US" sz="1550" b="1" dirty="0">
                  <a:solidFill>
                    <a:srgbClr val="08325F"/>
                  </a:solidFill>
                  <a:latin typeface="Tahoma"/>
                  <a:ea typeface="Tahoma"/>
                  <a:cs typeface="Tahoma"/>
                </a:rPr>
                <a:t>Score ≠ delivery</a:t>
              </a:r>
              <a:endParaRPr lang="en-US" sz="1550" dirty="0"/>
            </a:p>
          </p:txBody>
        </p:sp>
        <p:sp>
          <p:nvSpPr>
            <p:cNvPr id="25" name="Shape 25"/>
            <p:cNvSpPr txBox="1"/>
            <p:nvPr/>
          </p:nvSpPr>
          <p:spPr>
            <a:xfrm>
              <a:off x="4480560" y="4187952"/>
              <a:ext cx="6766560" cy="722376"/>
            </a:xfrm>
            <a:prstGeom prst="rect">
              <a:avLst/>
            </a:prstGeom>
            <a:noFill/>
            <a:ln>
              <a:noFill/>
            </a:ln>
          </p:spPr>
          <p:txBody>
            <a:bodyPr wrap="square" lIns="0" tIns="0" rIns="0" bIns="0" rtlCol="0" anchor="ctr">
              <a:noAutofit/>
            </a:bodyPr>
            <a:lstStyle/>
            <a:p>
              <a:pPr marL="0" indent="0" algn="l">
                <a:lnSpc>
                  <a:spcPct val="100000"/>
                </a:lnSpc>
                <a:buNone/>
              </a:pPr>
              <a:r>
                <a:rPr lang="en-US" sz="1350" dirty="0">
                  <a:solidFill>
                    <a:srgbClr val="44546A"/>
                  </a:solidFill>
                  <a:latin typeface="Tahoma"/>
                  <a:ea typeface="Tahoma"/>
                  <a:cs typeface="Tahoma"/>
                </a:rPr>
                <a:t>The link-quality score is not end-to-end SOS delivery; measuring that is the next step</a:t>
              </a:r>
              <a:endParaRPr lang="en-US" sz="1350" dirty="0"/>
            </a:p>
          </p:txBody>
        </p:sp>
      </p:grpSp>
      <p:grpSp>
        <p:nvGrpSpPr>
          <p:cNvPr id="26" name="Limitation 5"/>
          <p:cNvGrpSpPr/>
          <p:nvPr/>
        </p:nvGrpSpPr>
        <p:grpSpPr>
          <a:xfrm>
            <a:off x="758952" y="5020056"/>
            <a:ext cx="10671048" cy="722376"/>
            <a:chOff x="758952" y="5020056"/>
            <a:chExt cx="10671048" cy="722376"/>
          </a:xfrm>
        </p:grpSpPr>
        <p:sp>
          <p:nvSpPr>
            <p:cNvPr id="27" name="Shape 27"/>
            <p:cNvSpPr/>
            <p:nvPr/>
          </p:nvSpPr>
          <p:spPr>
            <a:xfrm>
              <a:off x="758952" y="5020056"/>
              <a:ext cx="10671048" cy="722376"/>
            </a:xfrm>
            <a:prstGeom prst="roundRect">
              <a:avLst>
                <a:gd name="adj" fmla="val 886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8" name="Badge 5"/>
            <p:cNvSpPr/>
            <p:nvPr/>
          </p:nvSpPr>
          <p:spPr>
            <a:xfrm>
              <a:off x="932688" y="5152644"/>
              <a:ext cx="457200" cy="457200"/>
            </a:xfrm>
            <a:prstGeom prst="ellipse">
              <a:avLst/>
            </a:prstGeom>
            <a:solidFill>
              <a:srgbClr val="FF9100"/>
            </a:solidFill>
            <a:ln w="19050">
              <a:solidFill>
                <a:srgbClr val="FFFFFF"/>
              </a:solidFill>
            </a:ln>
          </p:spPr>
          <p:txBody>
            <a:bodyPr wrap="square" lIns="0" tIns="0" rIns="0" bIns="0" rtlCol="0" anchor="ctr">
              <a:noAutofit/>
            </a:bodyPr>
            <a:lstStyle/>
            <a:p>
              <a:pPr marL="0" indent="0" algn="ctr">
                <a:buNone/>
              </a:pPr>
              <a:r>
                <a:rPr lang="en-US" sz="1300" b="1" dirty="0">
                  <a:solidFill>
                    <a:srgbClr val="FFFFFF"/>
                  </a:solidFill>
                  <a:latin typeface="Tahoma"/>
                  <a:ea typeface="Tahoma"/>
                  <a:cs typeface="Tahoma"/>
                </a:rPr>
                <a:t>5</a:t>
              </a:r>
              <a:endParaRPr lang="en-US" sz="1300" dirty="0"/>
            </a:p>
          </p:txBody>
        </p:sp>
        <p:sp>
          <p:nvSpPr>
            <p:cNvPr id="29" name="Shape 29"/>
            <p:cNvSpPr txBox="1"/>
            <p:nvPr/>
          </p:nvSpPr>
          <p:spPr>
            <a:xfrm>
              <a:off x="1600200" y="5020056"/>
              <a:ext cx="2834640" cy="722376"/>
            </a:xfrm>
            <a:prstGeom prst="rect">
              <a:avLst/>
            </a:prstGeom>
            <a:noFill/>
            <a:ln>
              <a:noFill/>
            </a:ln>
          </p:spPr>
          <p:txBody>
            <a:bodyPr wrap="square" lIns="0" tIns="0" rIns="0" bIns="0" rtlCol="0" anchor="ctr">
              <a:noAutofit/>
            </a:bodyPr>
            <a:lstStyle/>
            <a:p>
              <a:pPr marL="0" indent="0" algn="l">
                <a:buNone/>
              </a:pPr>
              <a:r>
                <a:rPr lang="en-US" sz="1550" b="1" dirty="0">
                  <a:solidFill>
                    <a:srgbClr val="08325F"/>
                  </a:solidFill>
                  <a:latin typeface="Tahoma"/>
                  <a:ea typeface="Tahoma"/>
                  <a:cs typeface="Tahoma"/>
                </a:rPr>
                <a:t>Adoption</a:t>
              </a:r>
              <a:endParaRPr lang="en-US" sz="1550" dirty="0"/>
            </a:p>
          </p:txBody>
        </p:sp>
        <p:sp>
          <p:nvSpPr>
            <p:cNvPr id="30" name="Shape 30"/>
            <p:cNvSpPr txBox="1"/>
            <p:nvPr/>
          </p:nvSpPr>
          <p:spPr>
            <a:xfrm>
              <a:off x="4480560" y="5020056"/>
              <a:ext cx="6766560" cy="722376"/>
            </a:xfrm>
            <a:prstGeom prst="rect">
              <a:avLst/>
            </a:prstGeom>
            <a:noFill/>
            <a:ln>
              <a:noFill/>
            </a:ln>
          </p:spPr>
          <p:txBody>
            <a:bodyPr wrap="square" lIns="0" tIns="0" rIns="0" bIns="0" rtlCol="0" anchor="ctr">
              <a:noAutofit/>
            </a:bodyPr>
            <a:lstStyle/>
            <a:p>
              <a:pPr marL="0" indent="0" algn="l">
                <a:lnSpc>
                  <a:spcPct val="100000"/>
                </a:lnSpc>
                <a:buNone/>
              </a:pPr>
              <a:r>
                <a:rPr lang="en-US" sz="1350" dirty="0">
                  <a:solidFill>
                    <a:srgbClr val="44546A"/>
                  </a:solidFill>
                  <a:latin typeface="Tahoma"/>
                  <a:ea typeface="Tahoma"/>
                  <a:cs typeface="Tahoma"/>
                </a:rPr>
                <a:t>Needs enough devices and relays; participation can't be assumed</a:t>
              </a:r>
              <a:endParaRPr lang="en-US" sz="1350" dirty="0"/>
            </a:p>
          </p:txBody>
        </p:sp>
      </p:grpSp>
      <p:cxnSp>
        <p:nvCxnSpPr>
          <p:cNvPr id="31" name="Footer rule"/>
          <p:cNvCxnSpPr/>
          <p:nvPr/>
        </p:nvCxnSpPr>
        <p:spPr>
          <a:xfrm>
            <a:off x="502920" y="6199632"/>
            <a:ext cx="11155680" cy="0"/>
          </a:xfrm>
          <a:prstGeom prst="line">
            <a:avLst/>
          </a:prstGeom>
          <a:ln w="12700">
            <a:solidFill>
              <a:srgbClr val="003E82">
                <a:alpha val="25000"/>
              </a:srgbClr>
            </a:solidFill>
          </a:ln>
        </p:spPr>
      </p:cxnSp>
      <p:pic>
        <p:nvPicPr>
          <p:cNvPr id="32"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33"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34"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22</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5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Future work">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658368" y="384048"/>
            <a:ext cx="10881360" cy="566928"/>
          </a:xfrm>
          <a:prstGeom prst="rect">
            <a:avLst/>
          </a:prstGeom>
          <a:noFill/>
          <a:ln>
            <a:noFill/>
          </a:ln>
        </p:spPr>
        <p:txBody>
          <a:bodyPr wrap="square" lIns="0" tIns="0" rIns="0" bIns="0" rtlCol="0" anchor="ctr">
            <a:noAutofit/>
          </a:bodyPr>
          <a:lstStyle/>
          <a:p>
            <a:pPr marL="0" indent="0" algn="l">
              <a:buNone/>
            </a:pPr>
            <a:r>
              <a:rPr lang="en-US" sz="2500" b="1" dirty="0">
                <a:solidFill>
                  <a:srgbClr val="003E82"/>
                </a:solidFill>
                <a:latin typeface="Tahoma"/>
                <a:ea typeface="Tahoma"/>
                <a:cs typeface="Tahoma"/>
              </a:rPr>
              <a:t>Future work</a:t>
            </a:r>
            <a:endParaRPr lang="en-US" sz="2500" dirty="0"/>
          </a:p>
        </p:txBody>
      </p:sp>
      <p:sp>
        <p:nvSpPr>
          <p:cNvPr id="4" name="Subtitle"/>
          <p:cNvSpPr txBox="1"/>
          <p:nvPr/>
        </p:nvSpPr>
        <p:spPr>
          <a:xfrm>
            <a:off x="694944" y="960120"/>
            <a:ext cx="10789920" cy="329184"/>
          </a:xfrm>
          <a:prstGeom prst="rect">
            <a:avLst/>
          </a:prstGeom>
          <a:noFill/>
          <a:ln>
            <a:noFill/>
          </a:ln>
        </p:spPr>
        <p:txBody>
          <a:bodyPr wrap="square" lIns="0" tIns="0" rIns="0" bIns="0" rtlCol="0" anchor="ctr">
            <a:noAutofit/>
          </a:bodyPr>
          <a:lstStyle/>
          <a:p>
            <a:pPr marL="0" indent="0" algn="l">
              <a:buNone/>
            </a:pPr>
            <a:r>
              <a:rPr lang="en-US" sz="1250" b="1" dirty="0">
                <a:solidFill>
                  <a:srgbClr val="00A4C8"/>
                </a:solidFill>
                <a:latin typeface="Tahoma"/>
                <a:ea typeface="Tahoma"/>
                <a:cs typeface="Tahoma"/>
              </a:rPr>
              <a:t>From a simulation framework toward real-world validation</a:t>
            </a:r>
            <a:endParaRPr lang="en-US" sz="1250" dirty="0"/>
          </a:p>
        </p:txBody>
      </p:sp>
      <p:sp>
        <p:nvSpPr>
          <p:cNvPr id="5" name="Template accent"/>
          <p:cNvSpPr/>
          <p:nvPr/>
        </p:nvSpPr>
        <p:spPr>
          <a:xfrm>
            <a:off x="658368" y="1371600"/>
            <a:ext cx="1234440" cy="54864"/>
          </a:xfrm>
          <a:prstGeom prst="rect">
            <a:avLst/>
          </a:prstGeom>
          <a:solidFill>
            <a:srgbClr val="FF9100"/>
          </a:solidFill>
          <a:ln>
            <a:noFill/>
          </a:ln>
        </p:spPr>
      </p:sp>
      <p:cxnSp>
        <p:nvCxnSpPr>
          <p:cNvPr id="6" name="Road 1"/>
          <p:cNvCxnSpPr/>
          <p:nvPr/>
        </p:nvCxnSpPr>
        <p:spPr>
          <a:xfrm>
            <a:off x="2130552" y="2148840"/>
            <a:ext cx="1433322" cy="0"/>
          </a:xfrm>
          <a:prstGeom prst="line">
            <a:avLst/>
          </a:prstGeom>
          <a:ln w="25400">
            <a:solidFill>
              <a:srgbClr val="003E82">
                <a:alpha val="70000"/>
              </a:srgbClr>
            </a:solidFill>
          </a:ln>
        </p:spPr>
      </p:cxnSp>
      <p:cxnSp>
        <p:nvCxnSpPr>
          <p:cNvPr id="7" name="Road 2"/>
          <p:cNvCxnSpPr/>
          <p:nvPr/>
        </p:nvCxnSpPr>
        <p:spPr>
          <a:xfrm>
            <a:off x="4295394" y="2148840"/>
            <a:ext cx="1433322" cy="0"/>
          </a:xfrm>
          <a:prstGeom prst="line">
            <a:avLst/>
          </a:prstGeom>
          <a:ln w="25400">
            <a:solidFill>
              <a:srgbClr val="003E82">
                <a:alpha val="70000"/>
              </a:srgbClr>
            </a:solidFill>
          </a:ln>
        </p:spPr>
      </p:cxnSp>
      <p:cxnSp>
        <p:nvCxnSpPr>
          <p:cNvPr id="8" name="Road 3"/>
          <p:cNvCxnSpPr/>
          <p:nvPr/>
        </p:nvCxnSpPr>
        <p:spPr>
          <a:xfrm>
            <a:off x="6460236" y="2148840"/>
            <a:ext cx="1433322" cy="0"/>
          </a:xfrm>
          <a:prstGeom prst="line">
            <a:avLst/>
          </a:prstGeom>
          <a:ln w="25400">
            <a:solidFill>
              <a:srgbClr val="003E82">
                <a:alpha val="70000"/>
              </a:srgbClr>
            </a:solidFill>
          </a:ln>
        </p:spPr>
      </p:cxnSp>
      <p:cxnSp>
        <p:nvCxnSpPr>
          <p:cNvPr id="9" name="Road 4"/>
          <p:cNvCxnSpPr/>
          <p:nvPr/>
        </p:nvCxnSpPr>
        <p:spPr>
          <a:xfrm>
            <a:off x="8625078" y="2148840"/>
            <a:ext cx="1433322" cy="0"/>
          </a:xfrm>
          <a:prstGeom prst="line">
            <a:avLst/>
          </a:prstGeom>
          <a:ln w="25400">
            <a:solidFill>
              <a:srgbClr val="003E82">
                <a:alpha val="70000"/>
              </a:srgbClr>
            </a:solidFill>
          </a:ln>
        </p:spPr>
      </p:cxnSp>
      <p:grpSp>
        <p:nvGrpSpPr>
          <p:cNvPr id="10" name="Future 1"/>
          <p:cNvGrpSpPr/>
          <p:nvPr/>
        </p:nvGrpSpPr>
        <p:grpSpPr>
          <a:xfrm>
            <a:off x="777240" y="1805940"/>
            <a:ext cx="1975104" cy="3268980"/>
            <a:chOff x="777240" y="1805940"/>
            <a:chExt cx="1975104" cy="3268980"/>
          </a:xfrm>
        </p:grpSpPr>
        <p:sp>
          <p:nvSpPr>
            <p:cNvPr id="11" name="Badge 1"/>
            <p:cNvSpPr/>
            <p:nvPr/>
          </p:nvSpPr>
          <p:spPr>
            <a:xfrm>
              <a:off x="1421892" y="1805940"/>
              <a:ext cx="685800" cy="6858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1</a:t>
              </a:r>
              <a:endParaRPr lang="en-US" sz="1600" dirty="0"/>
            </a:p>
          </p:txBody>
        </p:sp>
        <p:sp>
          <p:nvSpPr>
            <p:cNvPr id="12" name="Shape 12"/>
            <p:cNvSpPr/>
            <p:nvPr/>
          </p:nvSpPr>
          <p:spPr>
            <a:xfrm>
              <a:off x="777240" y="2743200"/>
              <a:ext cx="1975104" cy="2240280"/>
            </a:xfrm>
            <a:prstGeom prst="roundRect">
              <a:avLst>
                <a:gd name="adj" fmla="val 324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3" name="Shape 13"/>
            <p:cNvSpPr txBox="1"/>
            <p:nvPr/>
          </p:nvSpPr>
          <p:spPr>
            <a:xfrm>
              <a:off x="941832" y="2880360"/>
              <a:ext cx="1645920" cy="274320"/>
            </a:xfrm>
            <a:prstGeom prst="rect">
              <a:avLst/>
            </a:prstGeom>
            <a:noFill/>
            <a:ln>
              <a:noFill/>
            </a:ln>
          </p:spPr>
          <p:txBody>
            <a:bodyPr wrap="square" lIns="0" tIns="0" rIns="0" bIns="0" rtlCol="0" anchor="ctr">
              <a:noAutofit/>
            </a:bodyPr>
            <a:lstStyle/>
            <a:p>
              <a:pPr marL="0" indent="0" algn="l">
                <a:buNone/>
              </a:pPr>
              <a:r>
                <a:rPr lang="en-US" sz="1000" b="1" spc="100" dirty="0">
                  <a:solidFill>
                    <a:srgbClr val="B85700"/>
                  </a:solidFill>
                  <a:latin typeface="Tahoma"/>
                  <a:ea typeface="Tahoma"/>
                  <a:cs typeface="Tahoma"/>
                </a:rPr>
                <a:t>STEP 1</a:t>
              </a:r>
              <a:endParaRPr lang="en-US" sz="1000" dirty="0"/>
            </a:p>
          </p:txBody>
        </p:sp>
        <p:sp>
          <p:nvSpPr>
            <p:cNvPr id="14" name="Shape 14"/>
            <p:cNvSpPr txBox="1"/>
            <p:nvPr/>
          </p:nvSpPr>
          <p:spPr>
            <a:xfrm>
              <a:off x="941832" y="3154680"/>
              <a:ext cx="1645920" cy="411480"/>
            </a:xfrm>
            <a:prstGeom prst="rect">
              <a:avLst/>
            </a:prstGeom>
            <a:noFill/>
            <a:ln>
              <a:noFill/>
            </a:ln>
          </p:spPr>
          <p:txBody>
            <a:bodyPr wrap="square" lIns="0" tIns="0" rIns="0" bIns="0" rtlCol="0" anchor="ctr">
              <a:noAutofit/>
            </a:bodyPr>
            <a:lstStyle/>
            <a:p>
              <a:pPr marL="0" indent="0" algn="l">
                <a:buNone/>
              </a:pPr>
              <a:r>
                <a:rPr lang="en-US" sz="1650" b="1" dirty="0">
                  <a:solidFill>
                    <a:srgbClr val="003E82"/>
                  </a:solidFill>
                  <a:latin typeface="Tahoma"/>
                  <a:ea typeface="Tahoma"/>
                  <a:cs typeface="Tahoma"/>
                </a:rPr>
                <a:t>Measure</a:t>
              </a:r>
              <a:endParaRPr lang="en-US" sz="1650" dirty="0"/>
            </a:p>
          </p:txBody>
        </p:sp>
        <p:sp>
          <p:nvSpPr>
            <p:cNvPr id="15" name="Shape 15"/>
            <p:cNvSpPr txBox="1"/>
            <p:nvPr/>
          </p:nvSpPr>
          <p:spPr>
            <a:xfrm>
              <a:off x="941832" y="3657600"/>
              <a:ext cx="1691640" cy="1417320"/>
            </a:xfrm>
            <a:prstGeom prst="rect">
              <a:avLst/>
            </a:prstGeom>
            <a:noFill/>
            <a:ln>
              <a:noFill/>
            </a:ln>
          </p:spPr>
          <p:txBody>
            <a:bodyPr wrap="square" lIns="0" tIns="0" rIns="0" bIns="0" rtlCol="0" anchor="t">
              <a:noAutofit/>
            </a:bodyPr>
            <a:lstStyle/>
            <a:p>
              <a:pPr marL="0" indent="0" algn="l">
                <a:lnSpc>
                  <a:spcPct val="103000"/>
                </a:lnSpc>
                <a:buNone/>
              </a:pPr>
              <a:r>
                <a:rPr lang="en-US" sz="1250" dirty="0">
                  <a:solidFill>
                    <a:srgbClr val="44546A"/>
                  </a:solidFill>
                  <a:latin typeface="Tahoma"/>
                  <a:ea typeface="Tahoma"/>
                  <a:cs typeface="Tahoma"/>
                </a:rPr>
                <a:t>End-to-end SOS delivery, plus adaptive beaconing to cut airtime</a:t>
              </a:r>
              <a:endParaRPr lang="en-US" sz="1250" dirty="0"/>
            </a:p>
          </p:txBody>
        </p:sp>
      </p:grpSp>
      <p:grpSp>
        <p:nvGrpSpPr>
          <p:cNvPr id="16" name="Future 2"/>
          <p:cNvGrpSpPr/>
          <p:nvPr/>
        </p:nvGrpSpPr>
        <p:grpSpPr>
          <a:xfrm>
            <a:off x="2942082" y="1805940"/>
            <a:ext cx="1975104" cy="3268980"/>
            <a:chOff x="2942082" y="1805940"/>
            <a:chExt cx="1975104" cy="3268980"/>
          </a:xfrm>
        </p:grpSpPr>
        <p:sp>
          <p:nvSpPr>
            <p:cNvPr id="17" name="Badge 2"/>
            <p:cNvSpPr/>
            <p:nvPr/>
          </p:nvSpPr>
          <p:spPr>
            <a:xfrm>
              <a:off x="3586734" y="1805940"/>
              <a:ext cx="685800" cy="6858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2</a:t>
              </a:r>
              <a:endParaRPr lang="en-US" sz="1600" dirty="0"/>
            </a:p>
          </p:txBody>
        </p:sp>
        <p:sp>
          <p:nvSpPr>
            <p:cNvPr id="18" name="Shape 18"/>
            <p:cNvSpPr/>
            <p:nvPr/>
          </p:nvSpPr>
          <p:spPr>
            <a:xfrm>
              <a:off x="2942082" y="2743200"/>
              <a:ext cx="1975104" cy="2240280"/>
            </a:xfrm>
            <a:prstGeom prst="roundRect">
              <a:avLst>
                <a:gd name="adj" fmla="val 324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19" name="Shape 19"/>
            <p:cNvSpPr txBox="1"/>
            <p:nvPr/>
          </p:nvSpPr>
          <p:spPr>
            <a:xfrm>
              <a:off x="3106674" y="2880360"/>
              <a:ext cx="1645920" cy="274320"/>
            </a:xfrm>
            <a:prstGeom prst="rect">
              <a:avLst/>
            </a:prstGeom>
            <a:noFill/>
            <a:ln>
              <a:noFill/>
            </a:ln>
          </p:spPr>
          <p:txBody>
            <a:bodyPr wrap="square" lIns="0" tIns="0" rIns="0" bIns="0" rtlCol="0" anchor="ctr">
              <a:noAutofit/>
            </a:bodyPr>
            <a:lstStyle/>
            <a:p>
              <a:pPr marL="0" indent="0" algn="l">
                <a:buNone/>
              </a:pPr>
              <a:r>
                <a:rPr lang="en-US" sz="1000" b="1" spc="100" dirty="0">
                  <a:solidFill>
                    <a:srgbClr val="B85700"/>
                  </a:solidFill>
                  <a:latin typeface="Tahoma"/>
                  <a:ea typeface="Tahoma"/>
                  <a:cs typeface="Tahoma"/>
                </a:rPr>
                <a:t>STEP 2</a:t>
              </a:r>
              <a:endParaRPr lang="en-US" sz="1000" dirty="0"/>
            </a:p>
          </p:txBody>
        </p:sp>
        <p:sp>
          <p:nvSpPr>
            <p:cNvPr id="20" name="Shape 20"/>
            <p:cNvSpPr txBox="1"/>
            <p:nvPr/>
          </p:nvSpPr>
          <p:spPr>
            <a:xfrm>
              <a:off x="3106674" y="3154680"/>
              <a:ext cx="1645920" cy="411480"/>
            </a:xfrm>
            <a:prstGeom prst="rect">
              <a:avLst/>
            </a:prstGeom>
            <a:noFill/>
            <a:ln>
              <a:noFill/>
            </a:ln>
          </p:spPr>
          <p:txBody>
            <a:bodyPr wrap="square" lIns="0" tIns="0" rIns="0" bIns="0" rtlCol="0" anchor="ctr">
              <a:noAutofit/>
            </a:bodyPr>
            <a:lstStyle/>
            <a:p>
              <a:pPr marL="0" indent="0" algn="l">
                <a:buNone/>
              </a:pPr>
              <a:r>
                <a:rPr lang="en-US" sz="1650" b="1" dirty="0">
                  <a:solidFill>
                    <a:srgbClr val="003E82"/>
                  </a:solidFill>
                  <a:latin typeface="Tahoma"/>
                  <a:ea typeface="Tahoma"/>
                  <a:cs typeface="Tahoma"/>
                </a:rPr>
                <a:t>Validate</a:t>
              </a:r>
              <a:endParaRPr lang="en-US" sz="1650" dirty="0"/>
            </a:p>
          </p:txBody>
        </p:sp>
        <p:sp>
          <p:nvSpPr>
            <p:cNvPr id="21" name="Shape 21"/>
            <p:cNvSpPr txBox="1"/>
            <p:nvPr/>
          </p:nvSpPr>
          <p:spPr>
            <a:xfrm>
              <a:off x="3106674" y="3657600"/>
              <a:ext cx="1691640" cy="1417320"/>
            </a:xfrm>
            <a:prstGeom prst="rect">
              <a:avLst/>
            </a:prstGeom>
            <a:noFill/>
            <a:ln>
              <a:noFill/>
            </a:ln>
          </p:spPr>
          <p:txBody>
            <a:bodyPr wrap="square" lIns="0" tIns="0" rIns="0" bIns="0" rtlCol="0" anchor="t">
              <a:noAutofit/>
            </a:bodyPr>
            <a:lstStyle/>
            <a:p>
              <a:pPr marL="0" indent="0" algn="l">
                <a:lnSpc>
                  <a:spcPct val="103000"/>
                </a:lnSpc>
                <a:buNone/>
              </a:pPr>
              <a:r>
                <a:rPr lang="en-US" sz="1250" dirty="0">
                  <a:solidFill>
                    <a:srgbClr val="44546A"/>
                  </a:solidFill>
                  <a:latin typeface="Tahoma"/>
                  <a:ea typeface="Tahoma"/>
                  <a:cs typeface="Tahoma"/>
                </a:rPr>
                <a:t>On physical LoRa hardware: timing, interference, real radio behaviour</a:t>
              </a:r>
              <a:endParaRPr lang="en-US" sz="1250" dirty="0"/>
            </a:p>
          </p:txBody>
        </p:sp>
      </p:grpSp>
      <p:grpSp>
        <p:nvGrpSpPr>
          <p:cNvPr id="22" name="Future 3"/>
          <p:cNvGrpSpPr/>
          <p:nvPr/>
        </p:nvGrpSpPr>
        <p:grpSpPr>
          <a:xfrm>
            <a:off x="5106924" y="1805940"/>
            <a:ext cx="1975104" cy="3268980"/>
            <a:chOff x="5106924" y="1805940"/>
            <a:chExt cx="1975104" cy="3268980"/>
          </a:xfrm>
        </p:grpSpPr>
        <p:sp>
          <p:nvSpPr>
            <p:cNvPr id="23" name="Badge 3"/>
            <p:cNvSpPr/>
            <p:nvPr/>
          </p:nvSpPr>
          <p:spPr>
            <a:xfrm>
              <a:off x="5751576" y="1805940"/>
              <a:ext cx="685800" cy="6858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3</a:t>
              </a:r>
              <a:endParaRPr lang="en-US" sz="1600" dirty="0"/>
            </a:p>
          </p:txBody>
        </p:sp>
        <p:sp>
          <p:nvSpPr>
            <p:cNvPr id="24" name="Shape 24"/>
            <p:cNvSpPr/>
            <p:nvPr/>
          </p:nvSpPr>
          <p:spPr>
            <a:xfrm>
              <a:off x="5106924" y="2743200"/>
              <a:ext cx="1975104" cy="2240280"/>
            </a:xfrm>
            <a:prstGeom prst="roundRect">
              <a:avLst>
                <a:gd name="adj" fmla="val 324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25" name="Shape 25"/>
            <p:cNvSpPr txBox="1"/>
            <p:nvPr/>
          </p:nvSpPr>
          <p:spPr>
            <a:xfrm>
              <a:off x="5271516" y="2880360"/>
              <a:ext cx="1645920" cy="274320"/>
            </a:xfrm>
            <a:prstGeom prst="rect">
              <a:avLst/>
            </a:prstGeom>
            <a:noFill/>
            <a:ln>
              <a:noFill/>
            </a:ln>
          </p:spPr>
          <p:txBody>
            <a:bodyPr wrap="square" lIns="0" tIns="0" rIns="0" bIns="0" rtlCol="0" anchor="ctr">
              <a:noAutofit/>
            </a:bodyPr>
            <a:lstStyle/>
            <a:p>
              <a:pPr marL="0" indent="0" algn="l">
                <a:buNone/>
              </a:pPr>
              <a:r>
                <a:rPr lang="en-US" sz="1000" b="1" spc="100" dirty="0">
                  <a:solidFill>
                    <a:srgbClr val="B85700"/>
                  </a:solidFill>
                  <a:latin typeface="Tahoma"/>
                  <a:ea typeface="Tahoma"/>
                  <a:cs typeface="Tahoma"/>
                </a:rPr>
                <a:t>STEP 3</a:t>
              </a:r>
              <a:endParaRPr lang="en-US" sz="1000" dirty="0"/>
            </a:p>
          </p:txBody>
        </p:sp>
        <p:sp>
          <p:nvSpPr>
            <p:cNvPr id="26" name="Shape 26"/>
            <p:cNvSpPr txBox="1"/>
            <p:nvPr/>
          </p:nvSpPr>
          <p:spPr>
            <a:xfrm>
              <a:off x="5271516" y="3154680"/>
              <a:ext cx="1645920" cy="411480"/>
            </a:xfrm>
            <a:prstGeom prst="rect">
              <a:avLst/>
            </a:prstGeom>
            <a:noFill/>
            <a:ln>
              <a:noFill/>
            </a:ln>
          </p:spPr>
          <p:txBody>
            <a:bodyPr wrap="square" lIns="0" tIns="0" rIns="0" bIns="0" rtlCol="0" anchor="ctr">
              <a:noAutofit/>
            </a:bodyPr>
            <a:lstStyle/>
            <a:p>
              <a:pPr marL="0" indent="0" algn="l">
                <a:buNone/>
              </a:pPr>
              <a:r>
                <a:rPr lang="en-US" sz="1650" b="1" dirty="0">
                  <a:solidFill>
                    <a:srgbClr val="003E82"/>
                  </a:solidFill>
                  <a:latin typeface="Tahoma"/>
                  <a:ea typeface="Tahoma"/>
                  <a:cs typeface="Tahoma"/>
                </a:rPr>
                <a:t>Integrate</a:t>
              </a:r>
              <a:endParaRPr lang="en-US" sz="1650" dirty="0"/>
            </a:p>
          </p:txBody>
        </p:sp>
        <p:sp>
          <p:nvSpPr>
            <p:cNvPr id="27" name="Shape 27"/>
            <p:cNvSpPr txBox="1"/>
            <p:nvPr/>
          </p:nvSpPr>
          <p:spPr>
            <a:xfrm>
              <a:off x="5271516" y="3657600"/>
              <a:ext cx="1691640" cy="1417320"/>
            </a:xfrm>
            <a:prstGeom prst="rect">
              <a:avLst/>
            </a:prstGeom>
            <a:noFill/>
            <a:ln>
              <a:noFill/>
            </a:ln>
          </p:spPr>
          <p:txBody>
            <a:bodyPr wrap="square" lIns="0" tIns="0" rIns="0" bIns="0" rtlCol="0" anchor="t">
              <a:noAutofit/>
            </a:bodyPr>
            <a:lstStyle/>
            <a:p>
              <a:pPr marL="0" indent="0" algn="l">
                <a:lnSpc>
                  <a:spcPct val="103000"/>
                </a:lnSpc>
                <a:buNone/>
              </a:pPr>
              <a:r>
                <a:rPr lang="en-US" sz="1250" dirty="0">
                  <a:solidFill>
                    <a:srgbClr val="44546A"/>
                  </a:solidFill>
                  <a:latin typeface="Tahoma"/>
                  <a:ea typeface="Tahoma"/>
                  <a:cs typeface="Tahoma"/>
                </a:rPr>
                <a:t>With existing LoRa platforms and search-and-rescue systems</a:t>
              </a:r>
              <a:endParaRPr lang="en-US" sz="1250" dirty="0"/>
            </a:p>
          </p:txBody>
        </p:sp>
      </p:grpSp>
      <p:grpSp>
        <p:nvGrpSpPr>
          <p:cNvPr id="28" name="Future 4"/>
          <p:cNvGrpSpPr/>
          <p:nvPr/>
        </p:nvGrpSpPr>
        <p:grpSpPr>
          <a:xfrm>
            <a:off x="7271766" y="1805940"/>
            <a:ext cx="1975104" cy="3268980"/>
            <a:chOff x="7271766" y="1805940"/>
            <a:chExt cx="1975104" cy="3268980"/>
          </a:xfrm>
        </p:grpSpPr>
        <p:sp>
          <p:nvSpPr>
            <p:cNvPr id="29" name="Badge 4"/>
            <p:cNvSpPr/>
            <p:nvPr/>
          </p:nvSpPr>
          <p:spPr>
            <a:xfrm>
              <a:off x="7916418" y="1805940"/>
              <a:ext cx="685800" cy="6858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4</a:t>
              </a:r>
              <a:endParaRPr lang="en-US" sz="1600" dirty="0"/>
            </a:p>
          </p:txBody>
        </p:sp>
        <p:sp>
          <p:nvSpPr>
            <p:cNvPr id="30" name="Shape 30"/>
            <p:cNvSpPr/>
            <p:nvPr/>
          </p:nvSpPr>
          <p:spPr>
            <a:xfrm>
              <a:off x="7271766" y="2743200"/>
              <a:ext cx="1975104" cy="2240280"/>
            </a:xfrm>
            <a:prstGeom prst="roundRect">
              <a:avLst>
                <a:gd name="adj" fmla="val 324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31" name="Shape 31"/>
            <p:cNvSpPr txBox="1"/>
            <p:nvPr/>
          </p:nvSpPr>
          <p:spPr>
            <a:xfrm>
              <a:off x="7436358" y="2880360"/>
              <a:ext cx="1645920" cy="274320"/>
            </a:xfrm>
            <a:prstGeom prst="rect">
              <a:avLst/>
            </a:prstGeom>
            <a:noFill/>
            <a:ln>
              <a:noFill/>
            </a:ln>
          </p:spPr>
          <p:txBody>
            <a:bodyPr wrap="square" lIns="0" tIns="0" rIns="0" bIns="0" rtlCol="0" anchor="ctr">
              <a:noAutofit/>
            </a:bodyPr>
            <a:lstStyle/>
            <a:p>
              <a:pPr marL="0" indent="0" algn="l">
                <a:buNone/>
              </a:pPr>
              <a:r>
                <a:rPr lang="en-US" sz="1000" b="1" spc="100" dirty="0">
                  <a:solidFill>
                    <a:srgbClr val="B85700"/>
                  </a:solidFill>
                  <a:latin typeface="Tahoma"/>
                  <a:ea typeface="Tahoma"/>
                  <a:cs typeface="Tahoma"/>
                </a:rPr>
                <a:t>STEP 4</a:t>
              </a:r>
              <a:endParaRPr lang="en-US" sz="1000" dirty="0"/>
            </a:p>
          </p:txBody>
        </p:sp>
        <p:sp>
          <p:nvSpPr>
            <p:cNvPr id="32" name="Shape 32"/>
            <p:cNvSpPr txBox="1"/>
            <p:nvPr/>
          </p:nvSpPr>
          <p:spPr>
            <a:xfrm>
              <a:off x="7436358" y="3154680"/>
              <a:ext cx="1645920" cy="411480"/>
            </a:xfrm>
            <a:prstGeom prst="rect">
              <a:avLst/>
            </a:prstGeom>
            <a:noFill/>
            <a:ln>
              <a:noFill/>
            </a:ln>
          </p:spPr>
          <p:txBody>
            <a:bodyPr wrap="square" lIns="0" tIns="0" rIns="0" bIns="0" rtlCol="0" anchor="ctr">
              <a:noAutofit/>
            </a:bodyPr>
            <a:lstStyle/>
            <a:p>
              <a:pPr marL="0" indent="0" algn="l">
                <a:buNone/>
              </a:pPr>
              <a:r>
                <a:rPr lang="en-US" sz="1650" b="1" dirty="0">
                  <a:solidFill>
                    <a:srgbClr val="003E82"/>
                  </a:solidFill>
                  <a:latin typeface="Tahoma"/>
                  <a:ea typeface="Tahoma"/>
                  <a:cs typeface="Tahoma"/>
                </a:rPr>
                <a:t>Improve RL</a:t>
              </a:r>
              <a:endParaRPr lang="en-US" sz="1650" dirty="0"/>
            </a:p>
          </p:txBody>
        </p:sp>
        <p:sp>
          <p:nvSpPr>
            <p:cNvPr id="33" name="Shape 33"/>
            <p:cNvSpPr txBox="1"/>
            <p:nvPr/>
          </p:nvSpPr>
          <p:spPr>
            <a:xfrm>
              <a:off x="7436358" y="3657600"/>
              <a:ext cx="1691640" cy="1417320"/>
            </a:xfrm>
            <a:prstGeom prst="rect">
              <a:avLst/>
            </a:prstGeom>
            <a:noFill/>
            <a:ln>
              <a:noFill/>
            </a:ln>
          </p:spPr>
          <p:txBody>
            <a:bodyPr wrap="square" lIns="0" tIns="0" rIns="0" bIns="0" rtlCol="0" anchor="t">
              <a:noAutofit/>
            </a:bodyPr>
            <a:lstStyle/>
            <a:p>
              <a:pPr marL="0" indent="0" algn="l">
                <a:lnSpc>
                  <a:spcPct val="103000"/>
                </a:lnSpc>
                <a:buNone/>
              </a:pPr>
              <a:r>
                <a:rPr lang="en-US" sz="1250" dirty="0">
                  <a:solidFill>
                    <a:srgbClr val="44546A"/>
                  </a:solidFill>
                  <a:latin typeface="Tahoma"/>
                  <a:ea typeface="Tahoma"/>
                  <a:cs typeface="Tahoma"/>
                </a:rPr>
                <a:t>Fix the action space, stabilise training, test larger networks and harsher failures</a:t>
              </a:r>
              <a:endParaRPr lang="en-US" sz="1250" dirty="0"/>
            </a:p>
          </p:txBody>
        </p:sp>
      </p:grpSp>
      <p:grpSp>
        <p:nvGrpSpPr>
          <p:cNvPr id="34" name="Future 5"/>
          <p:cNvGrpSpPr/>
          <p:nvPr/>
        </p:nvGrpSpPr>
        <p:grpSpPr>
          <a:xfrm>
            <a:off x="9436608" y="1805940"/>
            <a:ext cx="1975104" cy="3268980"/>
            <a:chOff x="9436608" y="1805940"/>
            <a:chExt cx="1975104" cy="3268980"/>
          </a:xfrm>
        </p:grpSpPr>
        <p:sp>
          <p:nvSpPr>
            <p:cNvPr id="35" name="Badge 5"/>
            <p:cNvSpPr/>
            <p:nvPr/>
          </p:nvSpPr>
          <p:spPr>
            <a:xfrm>
              <a:off x="10081260" y="1805940"/>
              <a:ext cx="685800" cy="685800"/>
            </a:xfrm>
            <a:prstGeom prst="ellipse">
              <a:avLst/>
            </a:prstGeom>
            <a:solidFill>
              <a:srgbClr val="003E82"/>
            </a:solidFill>
            <a:ln w="19050">
              <a:solidFill>
                <a:srgbClr val="FFFFFF"/>
              </a:solidFill>
            </a:ln>
          </p:spPr>
          <p:txBody>
            <a:bodyPr wrap="square" lIns="0" tIns="0" rIns="0" bIns="0" rtlCol="0" anchor="ctr">
              <a:noAutofit/>
            </a:bodyPr>
            <a:lstStyle/>
            <a:p>
              <a:pPr marL="0" indent="0" algn="ctr">
                <a:buNone/>
              </a:pPr>
              <a:r>
                <a:rPr lang="en-US" sz="1600" b="1" dirty="0">
                  <a:solidFill>
                    <a:srgbClr val="FFFFFF"/>
                  </a:solidFill>
                  <a:latin typeface="Tahoma"/>
                  <a:ea typeface="Tahoma"/>
                  <a:cs typeface="Tahoma"/>
                </a:rPr>
                <a:t>5</a:t>
              </a:r>
              <a:endParaRPr lang="en-US" sz="1600" dirty="0"/>
            </a:p>
          </p:txBody>
        </p:sp>
        <p:sp>
          <p:nvSpPr>
            <p:cNvPr id="36" name="Shape 36"/>
            <p:cNvSpPr/>
            <p:nvPr/>
          </p:nvSpPr>
          <p:spPr>
            <a:xfrm>
              <a:off x="9436608" y="2743200"/>
              <a:ext cx="1975104" cy="2240280"/>
            </a:xfrm>
            <a:prstGeom prst="roundRect">
              <a:avLst>
                <a:gd name="adj" fmla="val 3240"/>
              </a:avLst>
            </a:prstGeom>
            <a:solidFill>
              <a:srgbClr val="FFFFFF"/>
            </a:solidFill>
            <a:ln w="12700">
              <a:solidFill>
                <a:srgbClr val="D3EAF6"/>
              </a:solidFill>
            </a:ln>
            <a:effectLst>
              <a:outerShdw blurRad="76200" dist="19050" dir="5400000" algn="t" rotWithShape="0">
                <a:srgbClr val="0A2E5C">
                  <a:alpha val="13000"/>
                </a:srgbClr>
              </a:outerShdw>
            </a:effectLst>
          </p:spPr>
        </p:sp>
        <p:sp>
          <p:nvSpPr>
            <p:cNvPr id="37" name="Shape 37"/>
            <p:cNvSpPr txBox="1"/>
            <p:nvPr/>
          </p:nvSpPr>
          <p:spPr>
            <a:xfrm>
              <a:off x="9601200" y="2880360"/>
              <a:ext cx="1645920" cy="274320"/>
            </a:xfrm>
            <a:prstGeom prst="rect">
              <a:avLst/>
            </a:prstGeom>
            <a:noFill/>
            <a:ln>
              <a:noFill/>
            </a:ln>
          </p:spPr>
          <p:txBody>
            <a:bodyPr wrap="square" lIns="0" tIns="0" rIns="0" bIns="0" rtlCol="0" anchor="ctr">
              <a:noAutofit/>
            </a:bodyPr>
            <a:lstStyle/>
            <a:p>
              <a:pPr marL="0" indent="0" algn="l">
                <a:buNone/>
              </a:pPr>
              <a:r>
                <a:rPr lang="en-US" sz="1000" b="1" spc="100" dirty="0">
                  <a:solidFill>
                    <a:srgbClr val="B85700"/>
                  </a:solidFill>
                  <a:latin typeface="Tahoma"/>
                  <a:ea typeface="Tahoma"/>
                  <a:cs typeface="Tahoma"/>
                </a:rPr>
                <a:t>STEP 5</a:t>
              </a:r>
              <a:endParaRPr lang="en-US" sz="1000" dirty="0"/>
            </a:p>
          </p:txBody>
        </p:sp>
        <p:sp>
          <p:nvSpPr>
            <p:cNvPr id="38" name="Shape 38"/>
            <p:cNvSpPr txBox="1"/>
            <p:nvPr/>
          </p:nvSpPr>
          <p:spPr>
            <a:xfrm>
              <a:off x="9601200" y="3154680"/>
              <a:ext cx="1645920" cy="411480"/>
            </a:xfrm>
            <a:prstGeom prst="rect">
              <a:avLst/>
            </a:prstGeom>
            <a:noFill/>
            <a:ln>
              <a:noFill/>
            </a:ln>
          </p:spPr>
          <p:txBody>
            <a:bodyPr wrap="square" lIns="0" tIns="0" rIns="0" bIns="0" rtlCol="0" anchor="ctr">
              <a:noAutofit/>
            </a:bodyPr>
            <a:lstStyle/>
            <a:p>
              <a:pPr marL="0" indent="0" algn="l">
                <a:buNone/>
              </a:pPr>
              <a:r>
                <a:rPr lang="en-US" sz="1650" b="1" dirty="0">
                  <a:solidFill>
                    <a:srgbClr val="003E82"/>
                  </a:solidFill>
                  <a:latin typeface="Tahoma"/>
                  <a:ea typeface="Tahoma"/>
                  <a:cs typeface="Tahoma"/>
                </a:rPr>
                <a:t>Adopt</a:t>
              </a:r>
              <a:endParaRPr lang="en-US" sz="1650" dirty="0"/>
            </a:p>
          </p:txBody>
        </p:sp>
        <p:sp>
          <p:nvSpPr>
            <p:cNvPr id="39" name="Shape 39"/>
            <p:cNvSpPr txBox="1"/>
            <p:nvPr/>
          </p:nvSpPr>
          <p:spPr>
            <a:xfrm>
              <a:off x="9601200" y="3657600"/>
              <a:ext cx="1691640" cy="1417320"/>
            </a:xfrm>
            <a:prstGeom prst="rect">
              <a:avLst/>
            </a:prstGeom>
            <a:noFill/>
            <a:ln>
              <a:noFill/>
            </a:ln>
          </p:spPr>
          <p:txBody>
            <a:bodyPr wrap="square" lIns="0" tIns="0" rIns="0" bIns="0" rtlCol="0" anchor="t">
              <a:noAutofit/>
            </a:bodyPr>
            <a:lstStyle/>
            <a:p>
              <a:pPr marL="0" indent="0" algn="l">
                <a:lnSpc>
                  <a:spcPct val="103000"/>
                </a:lnSpc>
                <a:buNone/>
              </a:pPr>
              <a:r>
                <a:rPr lang="en-US" sz="1250" dirty="0">
                  <a:solidFill>
                    <a:srgbClr val="44546A"/>
                  </a:solidFill>
                  <a:latin typeface="Tahoma"/>
                  <a:ea typeface="Tahoma"/>
                  <a:cs typeface="Tahoma"/>
                </a:rPr>
                <a:t>Responders → pre-positioned relays → the public, with disaster-management authorities</a:t>
              </a:r>
              <a:endParaRPr lang="en-US" sz="1250" dirty="0"/>
            </a:p>
          </p:txBody>
        </p:sp>
      </p:grpSp>
      <p:sp>
        <p:nvSpPr>
          <p:cNvPr id="40" name="Goal"/>
          <p:cNvSpPr/>
          <p:nvPr/>
        </p:nvSpPr>
        <p:spPr>
          <a:xfrm>
            <a:off x="758952" y="5376672"/>
            <a:ext cx="10671048" cy="548640"/>
          </a:xfrm>
          <a:prstGeom prst="roundRect">
            <a:avLst>
              <a:gd name="adj" fmla="val 50000"/>
            </a:avLst>
          </a:prstGeom>
          <a:solidFill>
            <a:srgbClr val="003E82"/>
          </a:solidFill>
          <a:ln w="12700">
            <a:solidFill>
              <a:srgbClr val="003E82"/>
            </a:solidFill>
          </a:ln>
          <a:effectLst>
            <a:outerShdw blurRad="76200" dist="19050" dir="5400000" algn="t" rotWithShape="0">
              <a:srgbClr val="0A2E5C">
                <a:alpha val="13000"/>
              </a:srgbClr>
            </a:outerShdw>
          </a:effectLst>
        </p:spPr>
        <p:txBody>
          <a:bodyPr wrap="square" lIns="0" tIns="0" rIns="0" bIns="0" rtlCol="0" anchor="ctr">
            <a:noAutofit/>
          </a:bodyPr>
          <a:lstStyle/>
          <a:p>
            <a:pPr marL="0" indent="0" algn="ctr">
              <a:buNone/>
            </a:pPr>
            <a:r>
              <a:rPr lang="en-US" sz="1400" b="1" dirty="0">
                <a:solidFill>
                  <a:srgbClr val="FFFFFF"/>
                </a:solidFill>
                <a:latin typeface="Tahoma"/>
                <a:ea typeface="Tahoma"/>
                <a:cs typeface="Tahoma"/>
              </a:rPr>
              <a:t>Goal: from simulation to a system validated under real disaster-response conditions</a:t>
            </a:r>
            <a:endParaRPr lang="en-US" sz="1400" dirty="0"/>
          </a:p>
        </p:txBody>
      </p:sp>
      <p:cxnSp>
        <p:nvCxnSpPr>
          <p:cNvPr id="41" name="Footer rule"/>
          <p:cNvCxnSpPr/>
          <p:nvPr/>
        </p:nvCxnSpPr>
        <p:spPr>
          <a:xfrm>
            <a:off x="502920" y="6199632"/>
            <a:ext cx="11155680" cy="0"/>
          </a:xfrm>
          <a:prstGeom prst="line">
            <a:avLst/>
          </a:prstGeom>
          <a:ln w="12700">
            <a:solidFill>
              <a:srgbClr val="003E82">
                <a:alpha val="25000"/>
              </a:srgbClr>
            </a:solidFill>
          </a:ln>
        </p:spPr>
      </p:cxnSp>
      <p:pic>
        <p:nvPicPr>
          <p:cNvPr id="42" name="HTC 2026 logo" descr="IEEE R10 HTC 2026 logo"/>
          <p:cNvPicPr>
            <a:picLocks noChangeAspect="1"/>
          </p:cNvPicPr>
          <p:nvPr/>
        </p:nvPicPr>
        <p:blipFill>
          <a:blip r:embed="rId4"/>
          <a:stretch>
            <a:fillRect/>
          </a:stretch>
        </p:blipFill>
        <p:spPr>
          <a:xfrm>
            <a:off x="724845" y="6291072"/>
            <a:ext cx="790682" cy="411480"/>
          </a:xfrm>
          <a:prstGeom prst="rect">
            <a:avLst/>
          </a:prstGeom>
        </p:spPr>
      </p:pic>
      <p:sp>
        <p:nvSpPr>
          <p:cNvPr id="43"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08325F"/>
                </a:solidFill>
                <a:latin typeface="Tahoma"/>
                <a:ea typeface="Tahoma"/>
                <a:cs typeface="Tahoma"/>
              </a:rPr>
              <a:t>IEEE R10 HTC 2026  |  Bangkok, Thailand  |  26 – 28 October 2026</a:t>
            </a:r>
            <a:endParaRPr lang="en-US" sz="780" dirty="0"/>
          </a:p>
        </p:txBody>
      </p:sp>
      <p:sp>
        <p:nvSpPr>
          <p:cNvPr id="44"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3E82"/>
                </a:solidFill>
                <a:latin typeface="Tahoma"/>
                <a:ea typeface="Tahoma"/>
                <a:cs typeface="Tahoma"/>
              </a:rPr>
              <a:t>23</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350"/>
                                        <p:tgtEl>
                                          <p:spTgt spid="6"/>
                                        </p:tgtEl>
                                      </p:cBhvr>
                                    </p:animEffect>
                                  </p:childTnLst>
                                </p:cTn>
                              </p:par>
                            </p:childTnLst>
                          </p:cTn>
                        </p:par>
                        <p:par>
                          <p:cTn id="13" fill="hold">
                            <p:stCondLst>
                              <p:cond delay="35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5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350"/>
                                        <p:tgtEl>
                                          <p:spTgt spid="7"/>
                                        </p:tgtEl>
                                      </p:cBhvr>
                                    </p:animEffect>
                                  </p:childTnLst>
                                </p:cTn>
                              </p:par>
                            </p:childTnLst>
                          </p:cTn>
                        </p:par>
                        <p:par>
                          <p:cTn id="22" fill="hold">
                            <p:stCondLst>
                              <p:cond delay="350"/>
                            </p:stCondLst>
                            <p:childTnLst>
                              <p:par>
                                <p:cTn id="23" presetID="10" presetClass="entr" presetSubtype="0"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5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350"/>
                                        <p:tgtEl>
                                          <p:spTgt spid="8"/>
                                        </p:tgtEl>
                                      </p:cBhvr>
                                    </p:animEffect>
                                  </p:childTnLst>
                                </p:cTn>
                              </p:par>
                            </p:childTnLst>
                          </p:cTn>
                        </p:par>
                        <p:par>
                          <p:cTn id="31" fill="hold">
                            <p:stCondLst>
                              <p:cond delay="350"/>
                            </p:stCondLst>
                            <p:childTnLst>
                              <p:par>
                                <p:cTn id="32" presetID="10" presetClass="entr" presetSubtype="0" fill="hold"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5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350"/>
                                        <p:tgtEl>
                                          <p:spTgt spid="9"/>
                                        </p:tgtEl>
                                      </p:cBhvr>
                                    </p:animEffect>
                                  </p:childTnLst>
                                </p:cTn>
                              </p:par>
                            </p:childTnLst>
                          </p:cTn>
                        </p:par>
                        <p:par>
                          <p:cTn id="40" fill="hold">
                            <p:stCondLst>
                              <p:cond delay="350"/>
                            </p:stCondLst>
                            <p:childTnLst>
                              <p:par>
                                <p:cTn id="41" presetID="10" presetClass="entr" presetSubtype="0" fill="hold" nodeType="after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450"/>
                                        <p:tgtEl>
                                          <p:spTgt spid="3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fade">
                                      <p:cBhvr>
                                        <p:cTn id="48" dur="4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pic>
        <p:nvPicPr>
          <p:cNvPr id="2" name="Background"/>
          <p:cNvPicPr>
            <a:picLocks noChangeAspect="1"/>
          </p:cNvPicPr>
          <p:nvPr/>
        </p:nvPicPr>
        <p:blipFill>
          <a:blip r:embed="rId3"/>
          <a:stretch>
            <a:fillRect/>
          </a:stretch>
        </p:blipFill>
        <p:spPr>
          <a:xfrm>
            <a:off x="0" y="0"/>
            <a:ext cx="12191695" cy="6858000"/>
          </a:xfrm>
          <a:prstGeom prst="rect">
            <a:avLst/>
          </a:prstGeom>
        </p:spPr>
      </p:pic>
      <p:pic>
        <p:nvPicPr>
          <p:cNvPr id="3" name="HTC 2026 artwork" descr="IEEE R10 HTC 2026 Bangkok conference artwork"/>
          <p:cNvPicPr>
            <a:picLocks noChangeAspect="1"/>
          </p:cNvPicPr>
          <p:nvPr/>
        </p:nvPicPr>
        <p:blipFill>
          <a:blip r:embed="rId4"/>
          <a:stretch>
            <a:fillRect/>
          </a:stretch>
        </p:blipFill>
        <p:spPr>
          <a:xfrm>
            <a:off x="6080760" y="1091794"/>
            <a:ext cx="5349240" cy="3531413"/>
          </a:xfrm>
          <a:prstGeom prst="rect">
            <a:avLst/>
          </a:prstGeom>
        </p:spPr>
      </p:pic>
      <p:sp>
        <p:nvSpPr>
          <p:cNvPr id="4" name="Shape 4"/>
          <p:cNvSpPr txBox="1"/>
          <p:nvPr/>
        </p:nvSpPr>
        <p:spPr>
          <a:xfrm>
            <a:off x="777240" y="1280160"/>
            <a:ext cx="4754880" cy="731520"/>
          </a:xfrm>
          <a:prstGeom prst="rect">
            <a:avLst/>
          </a:prstGeom>
          <a:noFill/>
          <a:ln>
            <a:noFill/>
          </a:ln>
        </p:spPr>
        <p:txBody>
          <a:bodyPr wrap="square" lIns="0" tIns="0" rIns="0" bIns="0" rtlCol="0" anchor="ctr">
            <a:noAutofit/>
          </a:bodyPr>
          <a:lstStyle/>
          <a:p>
            <a:pPr marL="0" indent="0" algn="l">
              <a:buNone/>
            </a:pPr>
            <a:r>
              <a:rPr lang="en-US" sz="3600" b="1" dirty="0">
                <a:solidFill>
                  <a:srgbClr val="FFFFFF"/>
                </a:solidFill>
                <a:latin typeface="Tahoma"/>
                <a:ea typeface="Tahoma"/>
                <a:cs typeface="Tahoma"/>
              </a:rPr>
              <a:t>Thank You</a:t>
            </a:r>
            <a:endParaRPr lang="en-US" sz="3600" dirty="0"/>
          </a:p>
        </p:txBody>
      </p:sp>
      <p:sp>
        <p:nvSpPr>
          <p:cNvPr id="5" name="Shape 5"/>
          <p:cNvSpPr txBox="1"/>
          <p:nvPr/>
        </p:nvSpPr>
        <p:spPr>
          <a:xfrm>
            <a:off x="795528" y="2057400"/>
            <a:ext cx="3474720" cy="658368"/>
          </a:xfrm>
          <a:prstGeom prst="rect">
            <a:avLst/>
          </a:prstGeom>
          <a:noFill/>
          <a:ln>
            <a:noFill/>
          </a:ln>
        </p:spPr>
        <p:txBody>
          <a:bodyPr wrap="square" lIns="0" tIns="0" rIns="0" bIns="0" rtlCol="0" anchor="ctr">
            <a:noAutofit/>
          </a:bodyPr>
          <a:lstStyle/>
          <a:p>
            <a:pPr marL="0" indent="0" algn="l">
              <a:buNone/>
            </a:pPr>
            <a:r>
              <a:rPr lang="en-US" sz="3100" b="1" dirty="0">
                <a:solidFill>
                  <a:srgbClr val="00B7EA"/>
                </a:solidFill>
                <a:latin typeface="Tahoma"/>
                <a:ea typeface="Tahoma"/>
                <a:cs typeface="Tahoma"/>
              </a:rPr>
              <a:t>Q&amp;A</a:t>
            </a:r>
            <a:endParaRPr lang="en-US" sz="3100" dirty="0"/>
          </a:p>
        </p:txBody>
      </p:sp>
      <p:sp>
        <p:nvSpPr>
          <p:cNvPr id="6" name="Shape 6"/>
          <p:cNvSpPr txBox="1"/>
          <p:nvPr/>
        </p:nvSpPr>
        <p:spPr>
          <a:xfrm>
            <a:off x="841248" y="3063240"/>
            <a:ext cx="5120640" cy="1280160"/>
          </a:xfrm>
          <a:prstGeom prst="rect">
            <a:avLst/>
          </a:prstGeom>
          <a:noFill/>
          <a:ln>
            <a:noFill/>
          </a:ln>
        </p:spPr>
        <p:txBody>
          <a:bodyPr wrap="square" lIns="0" tIns="0" rIns="0" bIns="0" rtlCol="0" anchor="t">
            <a:noAutofit/>
          </a:bodyPr>
          <a:lstStyle/>
          <a:p>
            <a:pPr marL="0" indent="0" algn="l">
              <a:lnSpc>
                <a:spcPct val="105000"/>
              </a:lnSpc>
              <a:spcAft>
                <a:spcPts val="400"/>
              </a:spcAft>
              <a:buNone/>
            </a:pPr>
            <a:r>
              <a:rPr lang="en-US" sz="1500" b="1" dirty="0">
                <a:solidFill>
                  <a:srgbClr val="FFFFFF"/>
                </a:solidFill>
                <a:latin typeface="Tahoma"/>
                <a:ea typeface="Tahoma"/>
                <a:cs typeface="Tahoma"/>
              </a:rPr>
              <a:t>Aniraj Singh  ·  Azzah Mallick</a:t>
            </a:r>
            <a:endParaRPr lang="en-US" sz="1500" dirty="0"/>
          </a:p>
          <a:p>
            <a:pPr marL="0" indent="0" algn="l">
              <a:lnSpc>
                <a:spcPct val="105000"/>
              </a:lnSpc>
              <a:spcAft>
                <a:spcPts val="1000"/>
              </a:spcAft>
              <a:buNone/>
            </a:pPr>
            <a:r>
              <a:rPr lang="en-US" sz="1200" dirty="0">
                <a:solidFill>
                  <a:srgbClr val="FFFFFF"/>
                </a:solidFill>
                <a:latin typeface="Tahoma"/>
                <a:ea typeface="Tahoma"/>
                <a:cs typeface="Tahoma"/>
              </a:rPr>
              <a:t>Department of CSE, Amity University, Uttar Pradesh, India</a:t>
            </a:r>
            <a:endParaRPr lang="en-US" sz="1200" dirty="0"/>
          </a:p>
          <a:p>
            <a:pPr marL="0" indent="0" algn="l">
              <a:lnSpc>
                <a:spcPct val="105000"/>
              </a:lnSpc>
              <a:buNone/>
            </a:pPr>
            <a:r>
              <a:rPr lang="en-US" sz="1200" b="1" dirty="0">
                <a:solidFill>
                  <a:srgbClr val="F7B500"/>
                </a:solidFill>
                <a:latin typeface="Tahoma"/>
                <a:ea typeface="Tahoma"/>
                <a:cs typeface="Tahoma"/>
              </a:rPr>
              <a:t>IEEE R10 HTC 2026  ·  Bangkok, Thailand</a:t>
            </a:r>
            <a:endParaRPr lang="en-US" sz="1200" dirty="0"/>
          </a:p>
        </p:txBody>
      </p:sp>
      <p:sp>
        <p:nvSpPr>
          <p:cNvPr id="7" name="Theme pill"/>
          <p:cNvSpPr/>
          <p:nvPr/>
        </p:nvSpPr>
        <p:spPr>
          <a:xfrm>
            <a:off x="804672" y="4572000"/>
            <a:ext cx="4480560" cy="502920"/>
          </a:xfrm>
          <a:prstGeom prst="roundRect">
            <a:avLst>
              <a:gd name="adj" fmla="val 18000"/>
            </a:avLst>
          </a:prstGeom>
          <a:solidFill>
            <a:srgbClr val="003E82"/>
          </a:solidFill>
          <a:ln w="15240">
            <a:solidFill>
              <a:srgbClr val="F7B500"/>
            </a:solidFill>
          </a:ln>
        </p:spPr>
        <p:txBody>
          <a:bodyPr wrap="square" lIns="0" tIns="0" rIns="0" bIns="0" rtlCol="0" anchor="ctr">
            <a:noAutofit/>
          </a:bodyPr>
          <a:lstStyle/>
          <a:p>
            <a:pPr marL="0" indent="0" algn="ctr">
              <a:buNone/>
            </a:pPr>
            <a:r>
              <a:rPr lang="en-US" sz="950" b="1" dirty="0">
                <a:solidFill>
                  <a:srgbClr val="FFFFFF"/>
                </a:solidFill>
                <a:latin typeface="Tahoma"/>
                <a:ea typeface="Tahoma"/>
                <a:cs typeface="Tahoma"/>
              </a:rPr>
              <a:t>Empowering Humanity Through Emerging Technology &amp; Innovation</a:t>
            </a:r>
            <a:endParaRPr lang="en-US" sz="950" dirty="0"/>
          </a:p>
        </p:txBody>
      </p:sp>
      <p:cxnSp>
        <p:nvCxnSpPr>
          <p:cNvPr id="8" name="Footer rule"/>
          <p:cNvCxnSpPr/>
          <p:nvPr/>
        </p:nvCxnSpPr>
        <p:spPr>
          <a:xfrm>
            <a:off x="502920" y="6199632"/>
            <a:ext cx="11155680" cy="0"/>
          </a:xfrm>
          <a:prstGeom prst="line">
            <a:avLst/>
          </a:prstGeom>
          <a:ln w="12700">
            <a:solidFill>
              <a:srgbClr val="FFFFFF">
                <a:alpha val="35000"/>
              </a:srgbClr>
            </a:solidFill>
          </a:ln>
        </p:spPr>
      </p:cxnSp>
      <p:pic>
        <p:nvPicPr>
          <p:cNvPr id="9" name="HTC 2026 logo" descr="IEEE R10 HTC 2026 logo"/>
          <p:cNvPicPr>
            <a:picLocks noChangeAspect="1"/>
          </p:cNvPicPr>
          <p:nvPr/>
        </p:nvPicPr>
        <p:blipFill>
          <a:blip r:embed="rId5"/>
          <a:stretch>
            <a:fillRect/>
          </a:stretch>
        </p:blipFill>
        <p:spPr>
          <a:xfrm>
            <a:off x="724845" y="6291072"/>
            <a:ext cx="790682" cy="411480"/>
          </a:xfrm>
          <a:prstGeom prst="rect">
            <a:avLst/>
          </a:prstGeom>
        </p:spPr>
      </p:pic>
      <p:sp>
        <p:nvSpPr>
          <p:cNvPr id="10" name="Footer"/>
          <p:cNvSpPr txBox="1"/>
          <p:nvPr/>
        </p:nvSpPr>
        <p:spPr>
          <a:xfrm>
            <a:off x="1847088" y="6345936"/>
            <a:ext cx="8046720" cy="292608"/>
          </a:xfrm>
          <a:prstGeom prst="rect">
            <a:avLst/>
          </a:prstGeom>
          <a:noFill/>
          <a:ln>
            <a:noFill/>
          </a:ln>
        </p:spPr>
        <p:txBody>
          <a:bodyPr wrap="square" lIns="0" tIns="0" rIns="0" bIns="0" rtlCol="0" anchor="ctr">
            <a:noAutofit/>
          </a:bodyPr>
          <a:lstStyle/>
          <a:p>
            <a:pPr marL="0" indent="0" algn="l">
              <a:buNone/>
            </a:pPr>
            <a:r>
              <a:rPr lang="en-US" sz="780" b="1" dirty="0">
                <a:solidFill>
                  <a:srgbClr val="FFFFFF">
                    <a:alpha val="93000"/>
                  </a:srgbClr>
                </a:solidFill>
                <a:latin typeface="Tahoma"/>
                <a:ea typeface="Tahoma"/>
                <a:cs typeface="Tahoma"/>
              </a:rPr>
              <a:t>IEEE R10 HTC 2026  |  Bangkok, Thailand  |  26 – 28 October 2026</a:t>
            </a:r>
            <a:endParaRPr lang="en-US" sz="780" dirty="0"/>
          </a:p>
        </p:txBody>
      </p:sp>
      <p:sp>
        <p:nvSpPr>
          <p:cNvPr id="11" name="Slide number"/>
          <p:cNvSpPr txBox="1"/>
          <p:nvPr/>
        </p:nvSpPr>
        <p:spPr>
          <a:xfrm>
            <a:off x="11064240" y="6281928"/>
            <a:ext cx="640080" cy="347472"/>
          </a:xfrm>
          <a:prstGeom prst="rect">
            <a:avLst/>
          </a:prstGeom>
          <a:noFill/>
          <a:ln>
            <a:noFill/>
          </a:ln>
        </p:spPr>
        <p:txBody>
          <a:bodyPr wrap="square" lIns="0" tIns="0" rIns="0" bIns="0" rtlCol="0" anchor="ctr">
            <a:noAutofit/>
          </a:bodyPr>
          <a:lstStyle/>
          <a:p>
            <a:pPr marL="0" indent="0" algn="r">
              <a:buNone/>
            </a:pPr>
            <a:r>
              <a:rPr lang="en-US" sz="950" b="1" dirty="0">
                <a:solidFill>
                  <a:srgbClr val="00B7EA"/>
                </a:solidFill>
                <a:latin typeface="Tahoma"/>
                <a:ea typeface="Tahoma"/>
                <a:cs typeface="Tahoma"/>
              </a:rPr>
              <a:t>24</a:t>
            </a:r>
            <a:endParaRPr lang="en-US" sz="9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7821</Words>
  <Application>Microsoft Office PowerPoint</Application>
  <PresentationFormat>Widescreen</PresentationFormat>
  <Paragraphs>711</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ABOT: IEEE R10 HTC 2026 talk</dc:title>
  <dc:creator>Aniraj Singh, Azzah Mallick</dc:creator>
  <cp:lastModifiedBy>Aniraj Singh</cp:lastModifiedBy>
  <cp:revision>2</cp:revision>
  <dcterms:created xsi:type="dcterms:W3CDTF">2026-10-20T12:57:04Z</dcterms:created>
  <dcterms:modified xsi:type="dcterms:W3CDTF">2026-10-20T13:18:27Z</dcterms:modified>
</cp:coreProperties>
</file>
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Logo and mascot artwork: user-provided and user-approved HTC 2026 artwork generated within this ChatGPT conversation.
- Background waves, skyline silhouettes, and layout motifs: created for this template in this conversation; no external assets used.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457200"/>
            <a:ext cx="11155680" cy="5833872"/>
          </a:xfrm>
          <a:prstGeom prst="roundRect">
            <a:avLst/>
          </a:prstGeom>
          <a:solidFill>
            <a:srgbClr val="000000">
              <a:alpha val="2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4" name="Image 1" descr="/mnt/data/htc2026_template_work/htc2026_logo_mascot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26391"/>
            <a:ext cx="5989320" cy="39536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232" y="105156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PRESENTATION TITLE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749808" y="175564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Subtitle / Session name / Speaker name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49808" y="2468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49808" y="29077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Empowering Humanity Through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Emerging Technology &amp; Innovation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49808" y="3913632"/>
            <a:ext cx="5166360" cy="411480"/>
          </a:xfrm>
          <a:prstGeom prst="roundRect">
            <a:avLst>
              <a:gd name="adj" fmla="val 17778"/>
            </a:avLst>
          </a:prstGeom>
          <a:solidFill>
            <a:srgbClr val="003E82"/>
          </a:solidFill>
          <a:ln w="15240">
            <a:solidFill>
              <a:srgbClr val="F7B50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14400" y="4000500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 – 28 October 2026  |  Bangkok, Thailand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 rot="2700000">
            <a:off x="795528" y="5568696"/>
            <a:ext cx="201168" cy="201168"/>
          </a:xfrm>
          <a:prstGeom prst="diamond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rot="8100000">
            <a:off x="795528" y="5568696"/>
            <a:ext cx="201168" cy="201168"/>
          </a:xfrm>
          <a:prstGeom prst="diamond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13500000">
            <a:off x="795528" y="5568696"/>
            <a:ext cx="201168" cy="201168"/>
          </a:xfrm>
          <a:prstGeom prst="diamond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18900000">
            <a:off x="795528" y="5568696"/>
            <a:ext cx="201168" cy="201168"/>
          </a:xfrm>
          <a:prstGeom prst="diamond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5995" y="5649163"/>
            <a:ext cx="40234" cy="4023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15568" y="55504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>
                    <a:alpha val="85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Template for conference presentation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Agenda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94944" y="9875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4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this layout for session overview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371600"/>
            <a:ext cx="12344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1828800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70432" y="1975104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03E82"/>
          </a:solidFill>
          <a:ln w="12700">
            <a:solidFill>
              <a:srgbClr val="003E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6152" y="2075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029968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029968" y="2249424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Context, objectives, and why the topic matters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960120" y="2770632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70432" y="2916936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16152" y="30175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029968" y="2935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029968" y="3191256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Methods, system concept, or implementation plan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960120" y="3712464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170432" y="3858768"/>
            <a:ext cx="658368" cy="457200"/>
          </a:xfrm>
          <a:prstGeom prst="roundRect">
            <a:avLst>
              <a:gd name="adj" fmla="val 8000"/>
            </a:avLst>
          </a:prstGeom>
          <a:solidFill>
            <a:srgbClr val="003E82"/>
          </a:solidFill>
          <a:ln w="12700">
            <a:solidFill>
              <a:srgbClr val="003E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16152" y="39593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29968" y="3877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Results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029968" y="4133088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Findings, benefits, impact, or lessons learned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960120" y="4654296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170432" y="4800600"/>
            <a:ext cx="658368" cy="457200"/>
          </a:xfrm>
          <a:prstGeom prst="roundRect">
            <a:avLst>
              <a:gd name="adj" fmla="val 8000"/>
            </a:avLst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16152" y="49011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029968" y="4818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029968" y="5074920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Roadmap, collaboration, and expected outcomes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003E82">
                <a:alpha val="25000"/>
              </a:srgbClr>
            </a:solidFill>
            <a:prstDash val="solid"/>
          </a:ln>
        </p:spPr>
      </p:sp>
      <p:pic>
        <p:nvPicPr>
          <p:cNvPr id="27" name="Image 1" descr="/mnt/data/logo-htc2026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832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29" name="Text 25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mnt/data/htc2026_template_work/htc2026_logo_mascot_transparent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6629400" y="1547339"/>
            <a:ext cx="4800600" cy="31689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4672" y="107899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1993392" y="1408176"/>
            <a:ext cx="2194560" cy="54864"/>
          </a:xfrm>
          <a:prstGeom prst="rect">
            <a:avLst/>
          </a:prstGeom>
          <a:solidFill>
            <a:srgbClr val="00B7EA"/>
          </a:solidFill>
          <a:ln w="12700">
            <a:solidFill>
              <a:srgbClr val="00B7E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04672" y="197510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TITLE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841248" y="2688336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Short description for this section or transition message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41248" y="370332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03E82"/>
          </a:solidFill>
          <a:ln w="15240">
            <a:solidFill>
              <a:srgbClr val="F7B50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05840" y="3790188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Empowering Humanity Through Emerging Technology &amp; Innovation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11" name="Image 2" descr="/mnt/data/logo-htc2026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>
                    <a:alpha val="93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13" name="Text 8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Message Slide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94944" y="9875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4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clean layout for main narrative and supporting details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371600"/>
            <a:ext cx="12344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91640"/>
            <a:ext cx="6446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1993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 point or paragraph headline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2560320"/>
            <a:ext cx="562356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Replace this text with concise supporting bullets.
</a:t>
            </a:r>
            <a:endParaRPr lang="en-US" sz="1150" dirty="0"/>
          </a:p>
          <a:p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Keep each bullet to one line where possible.
</a:t>
            </a:r>
            <a:endParaRPr lang="en-US" sz="1150" dirty="0"/>
          </a:p>
          <a:p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Highlight benefits for humanity, society, and innovation.
</a:t>
            </a:r>
            <a:endParaRPr lang="en-US" sz="1150" dirty="0"/>
          </a:p>
          <a:p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Use bold numbers or short phrases to make the slide scannable.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115568" y="4663440"/>
            <a:ext cx="5440680" cy="566928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7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48371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Insight / takeaway statement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772668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003E82"/>
          </a:solidFill>
          <a:ln w="12700">
            <a:solidFill>
              <a:srgbClr val="003E82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9244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 / DIAGRAM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DDF8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visual evidence, architecture diagram, photo, or infographic here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 rot="2700000">
            <a:off x="10794492" y="1915668"/>
            <a:ext cx="228600" cy="228600"/>
          </a:xfrm>
          <a:prstGeom prst="diamond">
            <a:avLst/>
          </a:prstGeom>
          <a:solidFill>
            <a:srgbClr val="F7B500">
              <a:alpha val="85000"/>
            </a:srgbClr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8100000">
            <a:off x="10794492" y="1915668"/>
            <a:ext cx="228600" cy="228600"/>
          </a:xfrm>
          <a:prstGeom prst="diamond">
            <a:avLst/>
          </a:prstGeom>
          <a:solidFill>
            <a:srgbClr val="F7B500">
              <a:alpha val="85000"/>
            </a:srgbClr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rot="13500000">
            <a:off x="10794492" y="1915668"/>
            <a:ext cx="228600" cy="228600"/>
          </a:xfrm>
          <a:prstGeom prst="diamond">
            <a:avLst/>
          </a:prstGeom>
          <a:solidFill>
            <a:srgbClr val="F7B500">
              <a:alpha val="85000"/>
            </a:srgbClr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8900000">
            <a:off x="10794492" y="1915668"/>
            <a:ext cx="228600" cy="228600"/>
          </a:xfrm>
          <a:prstGeom prst="diamond">
            <a:avLst/>
          </a:prstGeom>
          <a:solidFill>
            <a:srgbClr val="F7B500">
              <a:alpha val="85000"/>
            </a:srgbClr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85932" y="2007108"/>
            <a:ext cx="45720" cy="4572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003E82">
                <a:alpha val="25000"/>
              </a:srgbClr>
            </a:solidFill>
            <a:prstDash val="solid"/>
          </a:ln>
        </p:spPr>
      </p:sp>
      <p:pic>
        <p:nvPicPr>
          <p:cNvPr id="20" name="Image 1" descr="/mnt/data/logo-htc2026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832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Two-Column Layout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94944" y="9875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4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for comparison, before/after, problem/solution, or policy/implementation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371600"/>
            <a:ext cx="12344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3736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1737360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97280" y="1993392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213969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/ Challenge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25880" y="278892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Key point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Key point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Key point 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25880" y="4297680"/>
            <a:ext cx="4343400" cy="749808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BE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36192" y="45720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Short summary statement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92240" y="1993392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00B7EA"/>
          </a:solidFill>
          <a:ln w="12700">
            <a:solidFill>
              <a:srgbClr val="00B7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2139696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After / Solution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20840" y="278892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Key point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Key point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Key point 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20840" y="4297680"/>
            <a:ext cx="4343400" cy="749808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BE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45720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Short summary statement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50992" y="3355848"/>
            <a:ext cx="411480" cy="411480"/>
          </a:xfrm>
          <a:prstGeom prst="chevron">
            <a:avLst/>
          </a:prstGeom>
          <a:solidFill>
            <a:srgbClr val="F7B500"/>
          </a:solidFill>
          <a:ln w="12700">
            <a:solidFill>
              <a:srgbClr val="F7B5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003E82">
                <a:alpha val="25000"/>
              </a:srgbClr>
            </a:solidFill>
            <a:prstDash val="solid"/>
          </a:ln>
        </p:spPr>
      </p:sp>
      <p:pic>
        <p:nvPicPr>
          <p:cNvPr id="20" name="Image 1" descr="/mnt/data/logo-htc2026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832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/ Figure Layout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94944" y="9875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4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Place chart, architecture, workflow, or research result in the main canvas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371600"/>
            <a:ext cx="12344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682496"/>
            <a:ext cx="71323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1993392"/>
            <a:ext cx="6583680" cy="3566160"/>
          </a:xfrm>
          <a:prstGeom prst="rect">
            <a:avLst/>
          </a:prstGeom>
          <a:solidFill>
            <a:srgbClr val="F2F8FC"/>
          </a:solidFill>
          <a:ln w="19050">
            <a:solidFill>
              <a:srgbClr val="C9E9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CHART / TABLE / SYSTEM SCREENSHOT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1682496"/>
            <a:ext cx="2926080" cy="4251960"/>
          </a:xfrm>
          <a:prstGeom prst="roundRect">
            <a:avLst>
              <a:gd name="adj" fmla="val 2500"/>
            </a:avLst>
          </a:prstGeom>
          <a:solidFill>
            <a:srgbClr val="003E82"/>
          </a:solidFill>
          <a:ln w="12700">
            <a:solidFill>
              <a:srgbClr val="003E82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22792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006840" y="2450592"/>
            <a:ext cx="1572768" cy="54864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05088" y="2816352"/>
            <a:ext cx="2240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7F9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this panel to summarize the most important finding, number, or decision. Keep it short and readable.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705088" y="45720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Impact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68512" y="489204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People • Technology • Innovation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003E82">
                <a:alpha val="25000"/>
              </a:srgbClr>
            </a:solidFill>
            <a:prstDash val="solid"/>
          </a:ln>
        </p:spPr>
      </p:sp>
      <p:pic>
        <p:nvPicPr>
          <p:cNvPr id="16" name="Image 1" descr="/mnt/data/logo-htc2026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832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 / Timeline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94944" y="9875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4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for project schedule, implementation phases, or future plan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371600"/>
            <a:ext cx="12344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5880" y="3364992"/>
            <a:ext cx="8869680" cy="0"/>
          </a:xfrm>
          <a:prstGeom prst="line">
            <a:avLst/>
          </a:prstGeom>
          <a:noFill/>
          <a:ln w="25400">
            <a:solidFill>
              <a:srgbClr val="003E82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3072384"/>
            <a:ext cx="713232" cy="713232"/>
          </a:xfrm>
          <a:prstGeom prst="ellipse">
            <a:avLst/>
          </a:prstGeom>
          <a:solidFill>
            <a:srgbClr val="003E8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78408" y="32552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" y="4032504"/>
            <a:ext cx="1572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" y="4187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1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704088" y="44256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4088" y="47183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Requirement, stakeholders, and success criteria</a:t>
            </a:r>
            <a:endParaRPr lang="en-US" sz="690" dirty="0"/>
          </a:p>
        </p:txBody>
      </p:sp>
      <p:sp>
        <p:nvSpPr>
          <p:cNvPr id="13" name="Shape 10"/>
          <p:cNvSpPr/>
          <p:nvPr/>
        </p:nvSpPr>
        <p:spPr>
          <a:xfrm>
            <a:off x="3566160" y="3072384"/>
            <a:ext cx="713232" cy="713232"/>
          </a:xfrm>
          <a:prstGeom prst="ellipse">
            <a:avLst/>
          </a:prstGeom>
          <a:solidFill>
            <a:srgbClr val="FF91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84448" y="32552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145536" y="4032504"/>
            <a:ext cx="1572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310128" y="4187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2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3310128" y="44256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10128" y="47183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Design, AI workflow, and data preparation</a:t>
            </a:r>
            <a:endParaRPr lang="en-US" sz="690" dirty="0"/>
          </a:p>
        </p:txBody>
      </p:sp>
      <p:sp>
        <p:nvSpPr>
          <p:cNvPr id="19" name="Shape 16"/>
          <p:cNvSpPr/>
          <p:nvPr/>
        </p:nvSpPr>
        <p:spPr>
          <a:xfrm>
            <a:off x="6172200" y="3072384"/>
            <a:ext cx="713232" cy="713232"/>
          </a:xfrm>
          <a:prstGeom prst="ellipse">
            <a:avLst/>
          </a:prstGeom>
          <a:solidFill>
            <a:srgbClr val="003E8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90488" y="32552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51576" y="4032504"/>
            <a:ext cx="1572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16168" y="4187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3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5916168" y="44256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Pilot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16168" y="47183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with users and collect feedback</a:t>
            </a:r>
            <a:endParaRPr lang="en-US" sz="690" dirty="0"/>
          </a:p>
        </p:txBody>
      </p:sp>
      <p:sp>
        <p:nvSpPr>
          <p:cNvPr id="25" name="Shape 22"/>
          <p:cNvSpPr/>
          <p:nvPr/>
        </p:nvSpPr>
        <p:spPr>
          <a:xfrm>
            <a:off x="8778240" y="3072384"/>
            <a:ext cx="713232" cy="713232"/>
          </a:xfrm>
          <a:prstGeom prst="ellipse">
            <a:avLst/>
          </a:prstGeom>
          <a:solidFill>
            <a:srgbClr val="FF91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796528" y="32552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357616" y="4032504"/>
            <a:ext cx="157276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522208" y="4187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 4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8522208" y="44256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Scale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522208" y="47183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Governance, training, and rollout</a:t>
            </a:r>
            <a:endParaRPr lang="en-US" sz="690" dirty="0"/>
          </a:p>
        </p:txBody>
      </p:sp>
      <p:sp>
        <p:nvSpPr>
          <p:cNvPr id="31" name="Shape 28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003E82">
                <a:alpha val="25000"/>
              </a:srgbClr>
            </a:solidFill>
            <a:prstDash val="solid"/>
          </a:ln>
        </p:spPr>
      </p:sp>
      <p:pic>
        <p:nvPicPr>
          <p:cNvPr id="32" name="Image 1" descr="/mnt/data/logo-htc2026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832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34" name="Text 30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2062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Speaker / Team Layout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94944" y="9875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4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for committee, project team, or presenter profile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371600"/>
            <a:ext cx="12344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719072"/>
            <a:ext cx="3108960" cy="4224528"/>
          </a:xfrm>
          <a:prstGeom prst="roundRect">
            <a:avLst>
              <a:gd name="adj" fmla="val 2353"/>
            </a:avLst>
          </a:prstGeom>
          <a:solidFill>
            <a:srgbClr val="003E82"/>
          </a:solidFill>
          <a:ln w="12700">
            <a:solidFill>
              <a:srgbClr val="003E82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37360" y="21488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7B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745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PHOTO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70432" y="38862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Speaker Name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70432" y="42336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DDF8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Position / Affiliation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170432" y="466344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7B5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email@example.org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4343400" y="1719072"/>
            <a:ext cx="672084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3EAF6"/>
            </a:solidFill>
            <a:prstDash val="solid"/>
          </a:ln>
          <a:effectLst>
            <a:outerShdw sx="100000" sy="100000" kx="0" ky="0" algn="bl" rotWithShape="0" blurRad="25400" dist="12700" dir="2700000">
              <a:srgbClr val="0A2E5C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09160" y="2057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Profile / key contribution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2697480"/>
            <a:ext cx="5669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Area of expertise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Role in the conference/project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Highlights, awards, or responsibilities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Collaboration opportunities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4617720"/>
            <a:ext cx="5806440" cy="640080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BE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6048" y="484632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i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Optional quote or short statement from the speaker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003E82">
                <a:alpha val="25000"/>
              </a:srgbClr>
            </a:solidFill>
            <a:prstDash val="solid"/>
          </a:ln>
        </p:spPr>
      </p:sp>
      <p:pic>
        <p:nvPicPr>
          <p:cNvPr id="18" name="Image 1" descr="/mnt/data/logo-htc2026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832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20" name="Text 16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3E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tc2026_template_work/slide_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mnt/data/htc2026_template_work/htc2026_logo_mascot_transparent.png">    </p:cNvPr>
          <p:cNvPicPr>
            <a:picLocks noChangeAspect="1"/>
          </p:cNvPicPr>
          <p:nvPr/>
        </p:nvPicPr>
        <p:blipFill>
          <a:blip r:embed="rId2">
            <a:alphaModFix amt="98000"/>
          </a:blip>
          <a:stretch>
            <a:fillRect/>
          </a:stretch>
        </p:blipFill>
        <p:spPr>
          <a:xfrm>
            <a:off x="6080760" y="1091936"/>
            <a:ext cx="5349240" cy="35311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144475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795528" y="22402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B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Q&amp;A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841248" y="33101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Bangkok, Thailand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 – 28 October 2026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804672" y="4754880"/>
            <a:ext cx="4480560" cy="530352"/>
          </a:xfrm>
          <a:prstGeom prst="roundRect">
            <a:avLst>
              <a:gd name="adj" fmla="val 10345"/>
            </a:avLst>
          </a:prstGeom>
          <a:solidFill>
            <a:srgbClr val="003E82"/>
          </a:solidFill>
          <a:ln w="15240">
            <a:solidFill>
              <a:srgbClr val="F7B5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87552" y="4928616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Empowering Humanity Through Emerging Technology &amp; Innovation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502920" y="6199632"/>
            <a:ext cx="11155680" cy="0"/>
          </a:xfrm>
          <a:prstGeom prst="line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10" name="Image 2" descr="/mnt/data/logo-htc2026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96" y="6291072"/>
            <a:ext cx="790687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47088" y="6345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>
                    <a:alpha val="93000"/>
                  </a:srgbClr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IEEE R10 HTC 2026  |  Bangkok, Thailand  |  26 – 28 October 2026</a:t>
            </a:r>
            <a:endParaRPr lang="en-US" sz="780" dirty="0"/>
          </a:p>
        </p:txBody>
      </p:sp>
      <p:sp>
        <p:nvSpPr>
          <p:cNvPr id="12" name="Text 7"/>
          <p:cNvSpPr/>
          <p:nvPr/>
        </p:nvSpPr>
        <p:spPr>
          <a:xfrm>
            <a:off x="11109960" y="628192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7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HTC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HTC 2026 Presentation Template</dc:title>
  <dc:subject>IEEE R10 HTC 2026 presentation template</dc:subject>
  <dc:creator>OpenAI</dc:creator>
  <cp:lastModifiedBy>OpenAI</cp:lastModifiedBy>
  <cp:revision>1</cp:revision>
  <dcterms:created xsi:type="dcterms:W3CDTF">2026-10-01T15:41:02Z</dcterms:created>
  <dcterms:modified xsi:type="dcterms:W3CDTF">2026-10-01T15:41:02Z</dcterms:modified>
</cp:coreProperties>
</file>